
<file path=[Content_Types].xml><?xml version="1.0" encoding="utf-8"?>
<Types xmlns="http://schemas.openxmlformats.org/package/2006/content-types">
  <Default Extension="jpg" ContentType="image/jpeg"/>
  <Default Extension="png" ContentType="image/png"/>
  <Default Extension="svg" ContentType="image/svg+xml"/>
  <Default Extension="rels" ContentType="application/vnd.openxmlformats-package.relationships+xml"/>
  <Default Extension="xml" ContentType="application/xml"/>
  <Override PartName="/ppt/notesSlides/notesSlide24.xml" ContentType="application/vnd.openxmlformats-officedocument.presentationml.notesSlide+xml"/>
  <Override PartName="/ppt/notesSlides/notesSlide22.xml" ContentType="application/vnd.openxmlformats-officedocument.presentationml.notesSlide+xml"/>
  <Override PartName="/ppt/notesSlides/notesSlide52.xml" ContentType="application/vnd.openxmlformats-officedocument.presentationml.notesSlide+xml"/>
  <Override PartName="/ppt/notesSlides/notesSlide19.xml" ContentType="application/vnd.openxmlformats-officedocument.presentationml.notesSlide+xml"/>
  <Override PartName="/ppt/notesSlides/notesSlide8.xml" ContentType="application/vnd.openxmlformats-officedocument.presentationml.notesSlide+xml"/>
  <Override PartName="/ppt/notesSlides/notesSlide23.xml" ContentType="application/vnd.openxmlformats-officedocument.presentationml.notesSlide+xml"/>
  <Override PartName="/ppt/notesSlides/notesSlide17.xml" ContentType="application/vnd.openxmlformats-officedocument.presentationml.notesSlide+xml"/>
  <Override PartName="/ppt/notesSlides/notesSlide58.xml" ContentType="application/vnd.openxmlformats-officedocument.presentationml.notesSlide+xml"/>
  <Override PartName="/ppt/notesSlides/notesSlide14.xml" ContentType="application/vnd.openxmlformats-officedocument.presentationml.notesSlide+xml"/>
  <Override PartName="/ppt/notesSlides/notesSlide54.xml" ContentType="application/vnd.openxmlformats-officedocument.presentationml.notesSlide+xml"/>
  <Override PartName="/ppt/notesSlides/notesSlide16.xml" ContentType="application/vnd.openxmlformats-officedocument.presentationml.notesSlide+xml"/>
  <Override PartName="/ppt/notesSlides/notesSlide41.xml" ContentType="application/vnd.openxmlformats-officedocument.presentationml.notesSlide+xml"/>
  <Override PartName="/ppt/slides/slide3.xml" ContentType="application/vnd.openxmlformats-officedocument.presentationml.slide+xml"/>
  <Override PartName="/ppt/slides/slide35.xml" ContentType="application/vnd.openxmlformats-officedocument.presentationml.slide+xml"/>
  <Override PartName="/ppt/slides/slide29.xml" ContentType="application/vnd.openxmlformats-officedocument.presentationml.slide+xml"/>
  <Override PartName="/ppt/slides/slide31.xml" ContentType="application/vnd.openxmlformats-officedocument.presentationml.slide+xml"/>
  <Override PartName="/ppt/slides/slide26.xml" ContentType="application/vnd.openxmlformats-officedocument.presentationml.slide+xml"/>
  <Override PartName="/ppt/slides/slide22.xml" ContentType="application/vnd.openxmlformats-officedocument.presentationml.slide+xml"/>
  <Override PartName="/ppt/slides/slide10.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Slides/notesSlide26.xml" ContentType="application/vnd.openxmlformats-officedocument.presentationml.notesSlide+xml"/>
  <Override PartName="/ppt/slides/slide18.xml" ContentType="application/vnd.openxmlformats-officedocument.presentationml.slide+xml"/>
  <Override PartName="/ppt/slides/slide4.xml" ContentType="application/vnd.openxmlformats-officedocument.presentationml.slide+xml"/>
  <Override PartName="/ppt/notesSlides/notesSlide10.xml" ContentType="application/vnd.openxmlformats-officedocument.presentationml.notesSlide+xml"/>
  <Override PartName="/ppt/slides/slide58.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notesSlides/notesSlide36.xml" ContentType="application/vnd.openxmlformats-officedocument.presentationml.notesSlide+xml"/>
  <Override PartName="/ppt/notesSlides/notesSlide12.xml" ContentType="application/vnd.openxmlformats-officedocument.presentationml.notesSlide+xml"/>
  <Override PartName="/ppt/notesSlides/notesSlide25.xml" ContentType="application/vnd.openxmlformats-officedocument.presentationml.notesSlide+xml"/>
  <Override PartName="/ppt/notesSlides/notesSlide7.xml" ContentType="application/vnd.openxmlformats-officedocument.presentationml.notesSlide+xml"/>
  <Override PartName="/ppt/slides/slide63.xml" ContentType="application/vnd.openxmlformats-officedocument.presentationml.slide+xml"/>
  <Override PartName="/ppt/slides/slide28.xml" ContentType="application/vnd.openxmlformats-officedocument.presentationml.slide+xml"/>
  <Override PartName="/ppt/notesSlides/notesSlide53.xml" ContentType="application/vnd.openxmlformats-officedocument.presentationml.notesSlide+xml"/>
  <Override PartName="/ppt/slides/slide60.xml" ContentType="application/vnd.openxmlformats-officedocument.presentationml.slide+xml"/>
  <Override PartName="/ppt/notesSlides/notesSlide18.xml" ContentType="application/vnd.openxmlformats-officedocument.presentationml.notesSlide+xml"/>
  <Override PartName="/ppt/slides/slide16.xml" ContentType="application/vnd.openxmlformats-officedocument.presentationml.slide+xml"/>
  <Override PartName="/ppt/slides/slide66.xml" ContentType="application/vnd.openxmlformats-officedocument.presentationml.slide+xml"/>
  <Override PartName="/ppt/theme/theme2.xml" ContentType="application/vnd.openxmlformats-officedocument.theme+xml"/>
  <Override PartName="/ppt/slides/slide1.xml" ContentType="application/vnd.openxmlformats-officedocument.presentationml.slide+xml"/>
  <Override PartName="/ppt/slideLayouts/slideLayout3.xml" ContentType="application/vnd.openxmlformats-officedocument.presentationml.slideLayout+xml"/>
  <Override PartName="/ppt/slideLayouts/slideLayout5.xml" ContentType="application/vnd.openxmlformats-officedocument.presentationml.slideLayout+xml"/>
  <Override PartName="/ppt/notesSlides/notesSlide9.xml" ContentType="application/vnd.openxmlformats-officedocument.presentationml.notesSlide+xml"/>
  <Override PartName="/ppt/theme/theme1.xml" ContentType="application/vnd.openxmlformats-officedocument.theme+xml"/>
  <Override PartName="/ppt/slides/slide24.xml" ContentType="application/vnd.openxmlformats-officedocument.presentationml.slide+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4.xml" ContentType="application/vnd.openxmlformats-officedocument.presentationml.slideLayout+xml"/>
  <Override PartName="/ppt/slideLayouts/slideLayout9.xml" ContentType="application/vnd.openxmlformats-officedocument.presentationml.slideLayout+xml"/>
  <Override PartName="/ppt/notesSlides/notesSlide50.xml" ContentType="application/vnd.openxmlformats-officedocument.presentationml.notesSlide+xml"/>
  <Override PartName="/ppt/slides/slide34.xml" ContentType="application/vnd.openxmlformats-officedocument.presentationml.slide+xml"/>
  <Override PartName="/ppt/slides/slide2.xml" ContentType="application/vnd.openxmlformats-officedocument.presentationml.slide+xml"/>
  <Override PartName="/ppt/slides/slide27.xml" ContentType="application/vnd.openxmlformats-officedocument.presentationml.slide+xml"/>
  <Override PartName="/ppt/slides/slide42.xml" ContentType="application/vnd.openxmlformats-officedocument.presentationml.slide+xml"/>
  <Override PartName="/ppt/notesSlides/notesSlide57.xml" ContentType="application/vnd.openxmlformats-officedocument.presentationml.notesSlide+xml"/>
  <Override PartName="/ppt/slides/slide44.xml" ContentType="application/vnd.openxmlformats-officedocument.presentationml.slide+xml"/>
  <Override PartName="/ppt/slideMasters/slideMaster2.xml" ContentType="application/vnd.openxmlformats-officedocument.presentationml.slideMaster+xml"/>
  <Override PartName="/ppt/notesSlides/notesSlide56.xml" ContentType="application/vnd.openxmlformats-officedocument.presentationml.notesSlide+xml"/>
  <Override PartName="/ppt/notesSlides/notesSlide39.xml" ContentType="application/vnd.openxmlformats-officedocument.presentationml.notesSlide+xml"/>
  <Override PartName="/ppt/slides/slide12.xml" ContentType="application/vnd.openxmlformats-officedocument.presentationml.slide+xml"/>
  <Override PartName="/ppt/slides/slide46.xml" ContentType="application/vnd.openxmlformats-officedocument.presentationml.slide+xml"/>
  <Override PartName="/ppt/notesSlides/notesSlide35.xml" ContentType="application/vnd.openxmlformats-officedocument.presentationml.notesSlide+xml"/>
  <Override PartName="/ppt/slides/slide47.xml" ContentType="application/vnd.openxmlformats-officedocument.presentationml.slide+xml"/>
  <Override PartName="/ppt/notesSlides/notesSlide4.xml" ContentType="application/vnd.openxmlformats-officedocument.presentationml.notesSlide+xml"/>
  <Override PartName="/ppt/notesSlides/notesSlide15.xml" ContentType="application/vnd.openxmlformats-officedocument.presentationml.notesSlide+xml"/>
  <Override PartName="/ppt/slideLayouts/slideLayout1.xml" ContentType="application/vnd.openxmlformats-officedocument.presentationml.slideLayout+xml"/>
  <Override PartName="/ppt/slides/slide50.xml" ContentType="application/vnd.openxmlformats-officedocument.presentationml.slide+xml"/>
  <Override PartName="/ppt/notesSlides/notesSlide37.xml" ContentType="application/vnd.openxmlformats-officedocument.presentationml.notesSlide+xml"/>
  <Override PartName="/ppt/slides/slide45.xml" ContentType="application/vnd.openxmlformats-officedocument.presentationml.slide+xml"/>
  <Override PartName="/ppt/notesSlides/notesSlide20.xml" ContentType="application/vnd.openxmlformats-officedocument.presentationml.notesSlide+xml"/>
  <Override PartName="/ppt/notesSlides/notesSlide47.xml" ContentType="application/vnd.openxmlformats-officedocument.presentationml.notesSlide+xml"/>
  <Override PartName="/ppt/slides/slide62.xml" ContentType="application/vnd.openxmlformats-officedocument.presentationml.slide+xml"/>
  <Override PartName="/ppt/slides/slide51.xml" ContentType="application/vnd.openxmlformats-officedocument.presentationml.slide+xml"/>
  <Override PartName="/ppt/slides/slide17.xml" ContentType="application/vnd.openxmlformats-officedocument.presentationml.slide+xml"/>
  <Override PartName="/ppt/notesSlides/notesSlide44.xml" ContentType="application/vnd.openxmlformats-officedocument.presentationml.notesSlide+xml"/>
  <Override PartName="/ppt/slides/slide30.xml" ContentType="application/vnd.openxmlformats-officedocument.presentationml.slide+xml"/>
  <Override PartName="/ppt/slides/slide54.xml" ContentType="application/vnd.openxmlformats-officedocument.presentationml.slide+xml"/>
  <Override PartName="/ppt/notesSlides/notesSlide48.xml" ContentType="application/vnd.openxmlformats-officedocument.presentationml.notesSlide+xml"/>
  <Override PartName="/ppt/slides/slide48.xml" ContentType="application/vnd.openxmlformats-officedocument.presentationml.slide+xml"/>
  <Override PartName="/ppt/notesSlides/notesSlide55.xml" ContentType="application/vnd.openxmlformats-officedocument.presentationml.notesSlide+xml"/>
  <Override PartName="/ppt/notesSlides/notesSlide59.xml" ContentType="application/vnd.openxmlformats-officedocument.presentationml.notesSlide+xml"/>
  <Override PartName="/ppt/slides/slide43.xml" ContentType="application/vnd.openxmlformats-officedocument.presentationml.slide+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s/slide49.xml" ContentType="application/vnd.openxmlformats-officedocument.presentationml.slide+xml"/>
  <Override PartName="/ppt/slides/slide59.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slides/slide65.xml" ContentType="application/vnd.openxmlformats-officedocument.presentationml.slide+xml"/>
  <Override PartName="/ppt/notesSlides/notesSlide38.xml" ContentType="application/vnd.openxmlformats-officedocument.presentationml.notesSlide+xml"/>
  <Override PartName="/ppt/slides/slide32.xml" ContentType="application/vnd.openxmlformats-officedocument.presentationml.slide+xml"/>
  <Override PartName="/ppt/slides/slide8.xml" ContentType="application/vnd.openxmlformats-officedocument.presentationml.slide+xml"/>
  <Override PartName="/ppt/slides/slide57.xml" ContentType="application/vnd.openxmlformats-officedocument.presentationml.slide+xml"/>
  <Override PartName="/ppt/notesSlides/notesSlide46.xml" ContentType="application/vnd.openxmlformats-officedocument.presentationml.notesSlide+xml"/>
  <Override PartName="/ppt/notesSlides/notesSlide60.xml" ContentType="application/vnd.openxmlformats-officedocument.presentationml.notesSlide+xml"/>
  <Override PartName="/ppt/slides/slide64.xml" ContentType="application/vnd.openxmlformats-officedocument.presentationml.slide+xml"/>
  <Override PartName="/ppt/slides/slide61.xml" ContentType="application/vnd.openxmlformats-officedocument.presentationml.slide+xml"/>
  <Override PartName="/ppt/slides/slide23.xml" ContentType="application/vnd.openxmlformats-officedocument.presentationml.slide+xml"/>
  <Override PartName="/ppt/slides/slide36.xml" ContentType="application/vnd.openxmlformats-officedocument.presentationml.slide+xml"/>
  <Override PartName="/ppt/slideLayouts/slideLayout8.xml" ContentType="application/vnd.openxmlformats-officedocument.presentationml.slideLayout+xml"/>
  <Override PartName="/ppt/notesSlides/notesSlide51.xml" ContentType="application/vnd.openxmlformats-officedocument.presentationml.notesSlide+xml"/>
  <Override PartName="/ppt/notesSlides/notesSlide13.xml" ContentType="application/vnd.openxmlformats-officedocument.presentationml.notesSlide+xml"/>
  <Override PartName="/ppt/slides/slide13.xml" ContentType="application/vnd.openxmlformats-officedocument.presentationml.slide+xml"/>
  <Override PartName="/ppt/slides/slide53.xml" ContentType="application/vnd.openxmlformats-officedocument.presentationml.slide+xml"/>
  <Override PartName="/ppt/notesSlides/notesSlide49.xml" ContentType="application/vnd.openxmlformats-officedocument.presentationml.notesSlide+xml"/>
  <Override PartName="/ppt/slideLayouts/slideLayout2.xml" ContentType="application/vnd.openxmlformats-officedocument.presentationml.slideLayout+xml"/>
  <Override PartName="/ppt/slides/slide40.xml" ContentType="application/vnd.openxmlformats-officedocument.presentationml.slide+xml"/>
  <Override PartName="/ppt/notesSlides/notesSlide28.xml" ContentType="application/vnd.openxmlformats-officedocument.presentationml.notesSlide+xml"/>
  <Override PartName="/ppt/notesSlides/notesSlide27.xml" ContentType="application/vnd.openxmlformats-officedocument.presentationml.notesSlide+xml"/>
  <Override PartName="/docProps/app.xml" ContentType="application/vnd.openxmlformats-officedocument.extended-properties+xml"/>
  <Override PartName="/ppt/slides/slide68.xml" ContentType="application/vnd.openxmlformats-officedocument.presentationml.slide+xml"/>
  <Override PartName="/docProps/core.xml" ContentType="application/vnd.openxmlformats-package.core-properties+xml"/>
  <Override PartName="/ppt/slides/slide56.xml" ContentType="application/vnd.openxmlformats-officedocument.presentationml.slide+xml"/>
  <Override PartName="/ppt/notesSlides/notesSlide45.xml" ContentType="application/vnd.openxmlformats-officedocument.presentationml.notesSlide+xml"/>
  <Override PartName="/ppt/slides/slide41.xml" ContentType="application/vnd.openxmlformats-officedocument.presentationml.slide+xml"/>
  <Override PartName="/ppt/slides/slide5.xml" ContentType="application/vnd.openxmlformats-officedocument.presentationml.slide+xml"/>
  <Override PartName="/ppt/slideLayouts/slideLayout13.xml" ContentType="application/vnd.openxmlformats-officedocument.presentationml.slideLayout+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notesSlides/notesSlide32.xml" ContentType="application/vnd.openxmlformats-officedocument.presentationml.notesSlide+xml"/>
  <Override PartName="/ppt/slides/slide69.xml" ContentType="application/vnd.openxmlformats-officedocument.presentationml.slide+xml"/>
  <Override PartName="/ppt/slides/slide39.xml" ContentType="application/vnd.openxmlformats-officedocument.presentationml.slide+xml"/>
  <Override PartName="/ppt/theme/theme3.xml" ContentType="application/vnd.openxmlformats-officedocument.theme+xml"/>
  <Override PartName="/ppt/slides/slide52.xml" ContentType="application/vnd.openxmlformats-officedocument.presentationml.slide+xml"/>
  <Override PartName="/ppt/slides/slide14.xml" ContentType="application/vnd.openxmlformats-officedocument.presentationml.slide+xml"/>
  <Override PartName="/ppt/slides/slide38.xml" ContentType="application/vnd.openxmlformats-officedocument.presentationml.slide+xml"/>
  <Override PartName="/ppt/notesSlides/notesSlide29.xml" ContentType="application/vnd.openxmlformats-officedocument.presentationml.notesSlide+xml"/>
  <Override PartName="/ppt/slides/slide11.xml" ContentType="application/vnd.openxmlformats-officedocument.presentationml.slide+xml"/>
  <Override PartName="/ppt/slides/slide67.xml" ContentType="application/vnd.openxmlformats-officedocument.presentationml.slide+xml"/>
  <Override PartName="/ppt/notesSlides/notesSlide6.xml" ContentType="application/vnd.openxmlformats-officedocument.presentationml.notesSlide+xml"/>
  <Override PartName="/ppt/notesSlides/notesSlide43.xml" ContentType="application/vnd.openxmlformats-officedocument.presentationml.notesSlide+xml"/>
  <Override PartName="/ppt/notesSlides/notesSlide40.xml" ContentType="application/vnd.openxmlformats-officedocument.presentationml.notesSlide+xml"/>
  <Override PartName="/ppt/notesSlides/notesSlide3.xml" ContentType="application/vnd.openxmlformats-officedocument.presentationml.notesSlide+xml"/>
  <Override PartName="/ppt/slides/slide25.xml" ContentType="application/vnd.openxmlformats-officedocument.presentationml.slide+xml"/>
  <Override PartName="/ppt/notesSlides/notesSlide2.xml" ContentType="application/vnd.openxmlformats-officedocument.presentationml.notesSlide+xml"/>
  <Override PartName="/ppt/notesSlides/notesSlide11.xml" ContentType="application/vnd.openxmlformats-officedocument.presentationml.notesSlide+xml"/>
  <Override PartName="/ppt/slides/slide9.xml" ContentType="application/vnd.openxmlformats-officedocument.presentationml.slide+xml"/>
  <Override PartName="/ppt/slides/slide15.xml" ContentType="application/vnd.openxmlformats-officedocument.presentationml.slide+xml"/>
  <Override PartName="/ppt/notesSlides/notesSlide34.xml" ContentType="application/vnd.openxmlformats-officedocument.presentationml.notesSlide+xml"/>
  <Override PartName="/ppt/slideMasters/slideMaster1.xml" ContentType="application/vnd.openxmlformats-officedocument.presentationml.slideMaster+xml"/>
  <Override PartName="/ppt/notesSlides/notesSlide31.xml" ContentType="application/vnd.openxmlformats-officedocument.presentationml.notesSlide+xml"/>
  <Override PartName="/ppt/notesSlides/notesSlide61.xml" ContentType="application/vnd.openxmlformats-officedocument.presentationml.notesSlide+xml"/>
  <Override PartName="/ppt/slides/slide33.xml" ContentType="application/vnd.openxmlformats-officedocument.presentationml.slide+xml"/>
  <Override PartName="/ppt/notesSlides/notesSlide1.xml" ContentType="application/vnd.openxmlformats-officedocument.presentationml.notesSlide+xml"/>
  <Override PartName="/ppt/slides/slide7.xml" ContentType="application/vnd.openxmlformats-officedocument.presentationml.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5.xml" ContentType="application/vnd.openxmlformats-officedocument.presentationml.notesSlide+xml"/>
  <Override PartName="/ppt/slides/slide19.xml" ContentType="application/vnd.openxmlformats-officedocument.presentationml.slide+xml"/>
  <Override PartName="/ppt/slides/slide55.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Relationships xmlns="http://schemas.openxmlformats.org/package/2006/relationships"><Relationship Id="rId2" Type="http://schemas.openxmlformats.org/officeDocument/2006/relationships/extended-properties" Target="docProps/app.xml" /><Relationship Id="rId0" Type="http://schemas.openxmlformats.org/officeDocument/2006/relationships/officeDocument" Target="ppt/presentation.xml" /><Relationship Id="rId1" Type="http://schemas.openxmlformats.org/package/2006/relationships/metadata/core-properties" Target="docProps/core.xml" /></Relationships>
</file>

<file path=ppt/presentation.xml><?xml version="1.0" encoding="utf-8"?>
<p:presentation xmlns:a="http://schemas.openxmlformats.org/drawingml/2006/main" xmlns:p="http://schemas.openxmlformats.org/presentationml/2006/main" xmlns:r="http://schemas.openxmlformats.org/officeDocument/2006/relationships" firstSlideNum="1">
  <p:sldMasterIdLst>
    <p:sldMasterId id="2147483648" r:id="rId0"/>
    <p:sldMasterId id="2147483661" r:id="rId1"/>
  </p:sldMasterIdLst>
  <p:notesMasterIdLst>
    <p:notesMasterId r:id="rId7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Lst>
  <p:sldSz cx="12192000" cy="6858000" type="screen16x9"/>
  <p:notesSz cx="6858000" cy="9144000"/>
  <p:defaultTextStyle>
    <a:lvl1pPr marL="0" lvl="0" algn="l" defTabSz="914400">
      <a:lnSpc>
        <a:spcPct val="130000"/>
      </a:lnSpc>
      <a:defRPr sz="1800" kern="1200">
        <a:solidFill>
          <a:schemeClr val="tx1"/>
        </a:solidFill>
        <a:latin typeface="Arial"/>
        <a:ea typeface="Microsoft YaHei"/>
      </a:defRPr>
    </a:lvl1pPr>
    <a:lvl2pPr marL="457200" lvl="1" algn="l" defTabSz="914400">
      <a:lnSpc>
        <a:spcPct val="130000"/>
      </a:lnSpc>
      <a:defRPr sz="1800" kern="1200">
        <a:solidFill>
          <a:schemeClr val="tx1"/>
        </a:solidFill>
        <a:latin typeface="Arial"/>
        <a:ea typeface="Microsoft YaHei"/>
      </a:defRPr>
    </a:lvl2pPr>
    <a:lvl3pPr marL="914400" lvl="2" algn="l" defTabSz="914400">
      <a:lnSpc>
        <a:spcPct val="130000"/>
      </a:lnSpc>
      <a:defRPr sz="1800" kern="1200">
        <a:solidFill>
          <a:schemeClr val="tx1"/>
        </a:solidFill>
        <a:latin typeface="Arial"/>
        <a:ea typeface="Microsoft YaHei"/>
      </a:defRPr>
    </a:lvl3pPr>
    <a:lvl4pPr marL="1371600" lvl="3" algn="l" defTabSz="914400">
      <a:lnSpc>
        <a:spcPct val="130000"/>
      </a:lnSpc>
      <a:defRPr sz="1800" kern="1200">
        <a:solidFill>
          <a:schemeClr val="tx1"/>
        </a:solidFill>
        <a:latin typeface="Arial"/>
        <a:ea typeface="Microsoft YaHei"/>
      </a:defRPr>
    </a:lvl4pPr>
    <a:lvl5pPr marL="1828800" lvl="4" algn="l" defTabSz="914400">
      <a:lnSpc>
        <a:spcPct val="130000"/>
      </a:lnSpc>
      <a:defRPr sz="1800" kern="1200">
        <a:solidFill>
          <a:schemeClr val="tx1"/>
        </a:solidFill>
        <a:latin typeface="Arial"/>
        <a:ea typeface="Microsoft YaHei"/>
      </a:defRPr>
    </a:lvl5pPr>
    <a:lvl6pPr marL="2286000" lvl="5" algn="l" defTabSz="914400">
      <a:lnSpc>
        <a:spcPct val="130000"/>
      </a:lnSpc>
      <a:defRPr sz="1800" kern="1200">
        <a:solidFill>
          <a:schemeClr val="tx1"/>
        </a:solidFill>
        <a:latin typeface="Arial"/>
        <a:ea typeface="Microsoft YaHei"/>
      </a:defRPr>
    </a:lvl6pPr>
    <a:lvl7pPr marL="2743200" lvl="6" algn="l" defTabSz="914400">
      <a:lnSpc>
        <a:spcPct val="130000"/>
      </a:lnSpc>
      <a:defRPr sz="1800" kern="1200">
        <a:solidFill>
          <a:schemeClr val="tx1"/>
        </a:solidFill>
        <a:latin typeface="Arial"/>
        <a:ea typeface="Microsoft YaHei"/>
      </a:defRPr>
    </a:lvl7pPr>
    <a:lvl8pPr marL="3200400" lvl="7" algn="l" defTabSz="914400">
      <a:lnSpc>
        <a:spcPct val="130000"/>
      </a:lnSpc>
      <a:defRPr sz="1800" kern="1200">
        <a:solidFill>
          <a:schemeClr val="tx1"/>
        </a:solidFill>
        <a:latin typeface="Arial"/>
        <a:ea typeface="Microsoft YaHei"/>
      </a:defRPr>
    </a:lvl8pPr>
    <a:lvl9pPr marL="3657600" lvl="8" algn="l" defTabSz="914400">
      <a:lnSpc>
        <a:spcPct val="130000"/>
      </a:lnSpc>
      <a:defRPr sz="1800" kern="1200">
        <a:solidFill>
          <a:schemeClr val="tx1"/>
        </a:solidFill>
        <a:latin typeface="Arial"/>
        <a:ea typeface="Microsoft YaHei"/>
      </a:defRPr>
    </a:lvl9pPr>
  </p:defaultTextStyle>
</p:presentation>
</file>

<file path=ppt/tableStyles.xml><?xml version="1.0" encoding="utf-8"?>
<a:tblStyleLst xmlns:a="http://schemas.openxmlformats.org/drawingml/2006/main" def="{5C22544A-7EE6-4342-B048-85BDC9FD1C3A}">
  <a:tblStyle styleId="{58542034-FE4F-4ADA-92B8-4CA66D0F0DF3}" styleName="腾讯文档-基本">
    <a:wholeTbl>
      <a:tcTxStyle>
        <a:fontRef idx="minor"/>
        <a:srgbClr val="000000"/>
      </a:tcTxStyle>
      <a:tcStyle>
        <a:tcBdr>
          <a:left>
            <a:ln w="12700" cmpd="sng">
              <a:solidFill>
                <a:srgbClr val="999999"/>
              </a:solidFill>
            </a:ln>
          </a:left>
          <a:right>
            <a:ln w="12700" cmpd="sng">
              <a:solidFill>
                <a:srgbClr val="999999"/>
              </a:solidFill>
            </a:ln>
          </a:right>
          <a:top>
            <a:ln w="12700" cmpd="sng">
              <a:solidFill>
                <a:srgbClr val="999999"/>
              </a:solidFill>
            </a:ln>
          </a:top>
          <a:bottom>
            <a:ln w="12700" cmpd="sng">
              <a:solidFill>
                <a:srgbClr val="999999"/>
              </a:solidFill>
            </a:ln>
          </a:bottom>
          <a:insideH>
            <a:ln w="12700" cmpd="sng">
              <a:solidFill>
                <a:srgbClr val="999999"/>
              </a:solidFill>
            </a:ln>
          </a:insideH>
          <a:insideV>
            <a:ln w="12700" cmpd="sng">
              <a:solidFill>
                <a:srgbClr val="999999"/>
              </a:solidFill>
            </a:ln>
          </a:insideV>
        </a:tcBdr>
        <a:fill>
          <a:solidFill>
            <a:srgbClr val="FFFFFF"/>
          </a:solidFill>
        </a:fill>
      </a:tcStyle>
    </a:wholeTbl>
  </a:tblStyle>
</a:tblStyleLst>
</file>

<file path=ppt/_rels/presentation.xml.rels><?xml version="1.0" encoding="UTF-8" standalone="yes"?><Relationships xmlns="http://schemas.openxmlformats.org/package/2006/relationships"><Relationship Id="rId8" Type="http://schemas.openxmlformats.org/officeDocument/2006/relationships/slide" Target="slides/slide7.xml" /><Relationship Id="rId72" Type="http://schemas.openxmlformats.org/officeDocument/2006/relationships/tableStyles" Target="tableStyles.xml" /><Relationship Id="rId70" Type="http://schemas.openxmlformats.org/officeDocument/2006/relationships/slide" Target="slides/slide69.xml" /><Relationship Id="rId66" Type="http://schemas.openxmlformats.org/officeDocument/2006/relationships/slide" Target="slides/slide65.xml" /><Relationship Id="rId64" Type="http://schemas.openxmlformats.org/officeDocument/2006/relationships/slide" Target="slides/slide63.xml" /><Relationship Id="rId7" Type="http://schemas.openxmlformats.org/officeDocument/2006/relationships/slide" Target="slides/slide6.xml" /><Relationship Id="rId63" Type="http://schemas.openxmlformats.org/officeDocument/2006/relationships/slide" Target="slides/slide62.xml" /><Relationship Id="rId60" Type="http://schemas.openxmlformats.org/officeDocument/2006/relationships/slide" Target="slides/slide59.xml" /><Relationship Id="rId59" Type="http://schemas.openxmlformats.org/officeDocument/2006/relationships/slide" Target="slides/slide58.xml" /><Relationship Id="rId58" Type="http://schemas.openxmlformats.org/officeDocument/2006/relationships/slide" Target="slides/slide57.xml" /><Relationship Id="rId57" Type="http://schemas.openxmlformats.org/officeDocument/2006/relationships/slide" Target="slides/slide56.xml" /><Relationship Id="rId56" Type="http://schemas.openxmlformats.org/officeDocument/2006/relationships/slide" Target="slides/slide55.xml" /><Relationship Id="rId55" Type="http://schemas.openxmlformats.org/officeDocument/2006/relationships/slide" Target="slides/slide54.xml" /><Relationship Id="rId52" Type="http://schemas.openxmlformats.org/officeDocument/2006/relationships/slide" Target="slides/slide51.xml" /><Relationship Id="rId6" Type="http://schemas.openxmlformats.org/officeDocument/2006/relationships/slide" Target="slides/slide5.xml" /><Relationship Id="rId51" Type="http://schemas.openxmlformats.org/officeDocument/2006/relationships/slide" Target="slides/slide50.xml" /><Relationship Id="rId5" Type="http://schemas.openxmlformats.org/officeDocument/2006/relationships/slide" Target="slides/slide4.xml" /><Relationship Id="rId44" Type="http://schemas.openxmlformats.org/officeDocument/2006/relationships/slide" Target="slides/slide43.xml" /><Relationship Id="rId19" Type="http://schemas.openxmlformats.org/officeDocument/2006/relationships/slide" Target="slides/slide18.xml" /><Relationship Id="rId17" Type="http://schemas.openxmlformats.org/officeDocument/2006/relationships/slide" Target="slides/slide16.xml" /><Relationship Id="rId18" Type="http://schemas.openxmlformats.org/officeDocument/2006/relationships/slide" Target="slides/slide17.xml" /><Relationship Id="rId53" Type="http://schemas.openxmlformats.org/officeDocument/2006/relationships/slide" Target="slides/slide52.xml" /><Relationship Id="rId2" Type="http://schemas.openxmlformats.org/officeDocument/2006/relationships/slide" Target="slides/slide1.xml" /><Relationship Id="rId15" Type="http://schemas.openxmlformats.org/officeDocument/2006/relationships/slide" Target="slides/slide14.xml" /><Relationship Id="rId50" Type="http://schemas.openxmlformats.org/officeDocument/2006/relationships/slide" Target="slides/slide49.xml" /><Relationship Id="rId41" Type="http://schemas.openxmlformats.org/officeDocument/2006/relationships/slide" Target="slides/slide40.xml" /><Relationship Id="rId29" Type="http://schemas.openxmlformats.org/officeDocument/2006/relationships/slide" Target="slides/slide28.xml" /><Relationship Id="rId67" Type="http://schemas.openxmlformats.org/officeDocument/2006/relationships/slide" Target="slides/slide66.xml" /><Relationship Id="rId65" Type="http://schemas.openxmlformats.org/officeDocument/2006/relationships/slide" Target="slides/slide64.xml" /><Relationship Id="rId14" Type="http://schemas.openxmlformats.org/officeDocument/2006/relationships/slide" Target="slides/slide13.xml" /><Relationship Id="rId71" Type="http://schemas.openxmlformats.org/officeDocument/2006/relationships/notesMaster" Target="notesMasters/notesMaster1.xml" /><Relationship Id="rId12" Type="http://schemas.openxmlformats.org/officeDocument/2006/relationships/slide" Target="slides/slide11.xml" /><Relationship Id="rId47" Type="http://schemas.openxmlformats.org/officeDocument/2006/relationships/slide" Target="slides/slide46.xml" /><Relationship Id="rId22" Type="http://schemas.openxmlformats.org/officeDocument/2006/relationships/slide" Target="slides/slide21.xml" /><Relationship Id="rId21" Type="http://schemas.openxmlformats.org/officeDocument/2006/relationships/slide" Target="slides/slide20.xml" /><Relationship Id="rId1" Type="http://schemas.openxmlformats.org/officeDocument/2006/relationships/slideMaster" Target="slideMasters/slideMaster2.xml" /><Relationship Id="rId9" Type="http://schemas.openxmlformats.org/officeDocument/2006/relationships/slide" Target="slides/slide8.xml" /><Relationship Id="rId0" Type="http://schemas.openxmlformats.org/officeDocument/2006/relationships/slideMaster" Target="slideMasters/slideMaster1.xml" /><Relationship Id="rId26" Type="http://schemas.openxmlformats.org/officeDocument/2006/relationships/slide" Target="slides/slide25.xml" /><Relationship Id="rId11" Type="http://schemas.openxmlformats.org/officeDocument/2006/relationships/slide" Target="slides/slide10.xml" /><Relationship Id="rId68" Type="http://schemas.openxmlformats.org/officeDocument/2006/relationships/slide" Target="slides/slide67.xml" /><Relationship Id="rId43" Type="http://schemas.openxmlformats.org/officeDocument/2006/relationships/slide" Target="slides/slide42.xml" /><Relationship Id="rId16" Type="http://schemas.openxmlformats.org/officeDocument/2006/relationships/slide" Target="slides/slide15.xml" /><Relationship Id="rId45" Type="http://schemas.openxmlformats.org/officeDocument/2006/relationships/slide" Target="slides/slide44.xml" /><Relationship Id="rId13" Type="http://schemas.openxmlformats.org/officeDocument/2006/relationships/slide" Target="slides/slide12.xml" /><Relationship Id="rId39" Type="http://schemas.openxmlformats.org/officeDocument/2006/relationships/slide" Target="slides/slide38.xml" /><Relationship Id="rId10" Type="http://schemas.openxmlformats.org/officeDocument/2006/relationships/slide" Target="slides/slide9.xml" /><Relationship Id="rId23" Type="http://schemas.openxmlformats.org/officeDocument/2006/relationships/slide" Target="slides/slide22.xml" /><Relationship Id="rId54" Type="http://schemas.openxmlformats.org/officeDocument/2006/relationships/slide" Target="slides/slide53.xml" /><Relationship Id="rId24" Type="http://schemas.openxmlformats.org/officeDocument/2006/relationships/slide" Target="slides/slide23.xml" /><Relationship Id="rId27" Type="http://schemas.openxmlformats.org/officeDocument/2006/relationships/slide" Target="slides/slide26.xml" /><Relationship Id="rId40" Type="http://schemas.openxmlformats.org/officeDocument/2006/relationships/slide" Target="slides/slide39.xml" /><Relationship Id="rId42" Type="http://schemas.openxmlformats.org/officeDocument/2006/relationships/slide" Target="slides/slide41.xml" /><Relationship Id="rId28" Type="http://schemas.openxmlformats.org/officeDocument/2006/relationships/slide" Target="slides/slide27.xml" /><Relationship Id="rId46" Type="http://schemas.openxmlformats.org/officeDocument/2006/relationships/slide" Target="slides/slide45.xml" /><Relationship Id="rId37" Type="http://schemas.openxmlformats.org/officeDocument/2006/relationships/slide" Target="slides/slide36.xml" /><Relationship Id="rId62" Type="http://schemas.openxmlformats.org/officeDocument/2006/relationships/slide" Target="slides/slide61.xml" /><Relationship Id="rId3" Type="http://schemas.openxmlformats.org/officeDocument/2006/relationships/slide" Target="slides/slide2.xml" /><Relationship Id="rId20" Type="http://schemas.openxmlformats.org/officeDocument/2006/relationships/slide" Target="slides/slide19.xml" /><Relationship Id="rId31" Type="http://schemas.openxmlformats.org/officeDocument/2006/relationships/slide" Target="slides/slide30.xml" /><Relationship Id="rId32" Type="http://schemas.openxmlformats.org/officeDocument/2006/relationships/slide" Target="slides/slide31.xml" /><Relationship Id="rId48" Type="http://schemas.openxmlformats.org/officeDocument/2006/relationships/slide" Target="slides/slide47.xml" /><Relationship Id="rId30" Type="http://schemas.openxmlformats.org/officeDocument/2006/relationships/slide" Target="slides/slide29.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69" Type="http://schemas.openxmlformats.org/officeDocument/2006/relationships/slide" Target="slides/slide68.xml" /><Relationship Id="rId61" Type="http://schemas.openxmlformats.org/officeDocument/2006/relationships/slide" Target="slides/slide60.xml" /><Relationship Id="rId36" Type="http://schemas.openxmlformats.org/officeDocument/2006/relationships/slide" Target="slides/slide35.xml" /><Relationship Id="rId49" Type="http://schemas.openxmlformats.org/officeDocument/2006/relationships/slide" Target="slides/slide48.xml" /><Relationship Id="rId38" Type="http://schemas.openxmlformats.org/officeDocument/2006/relationships/slide" Target="slides/slide37.xml" /><Relationship Id="rId25" Type="http://schemas.openxmlformats.org/officeDocument/2006/relationships/slide" Target="slides/slide24.xml" /><Relationship Id="rId4" Type="http://schemas.openxmlformats.org/officeDocument/2006/relationships/slide" Target="slides/slide3.xml" /></Relationships>
</file>

<file path=ppt/notesMasters/_rels/notesMaster1.xml.rels><?xml version="1.0" encoding="UTF-8" standalone="yes"?><Relationships xmlns="http://schemas.openxmlformats.org/package/2006/relationships"><Relationship Id="rId0"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false" eaLnBrk="true" latinLnBrk="false" hangingPunct="true">
      <a:defRPr sz="1200" kern="1200">
        <a:solidFill>
          <a:schemeClr val="tx1"/>
        </a:solidFill>
        <a:latin typeface="+mn-lt"/>
        <a:ea typeface="+mn-ea"/>
        <a:cs typeface="+mn-cs"/>
      </a:defRPr>
    </a:lvl1pPr>
    <a:lvl2pPr marL="457200" algn="l" defTabSz="914400" rtl="false" eaLnBrk="true" latinLnBrk="false" hangingPunct="true">
      <a:defRPr sz="1200" kern="1200">
        <a:solidFill>
          <a:schemeClr val="tx1"/>
        </a:solidFill>
        <a:latin typeface="+mn-lt"/>
        <a:ea typeface="+mn-ea"/>
        <a:cs typeface="+mn-cs"/>
      </a:defRPr>
    </a:lvl2pPr>
    <a:lvl3pPr marL="914400" algn="l" defTabSz="914400" rtl="false" eaLnBrk="true" latinLnBrk="false" hangingPunct="true">
      <a:defRPr sz="1200" kern="1200">
        <a:solidFill>
          <a:schemeClr val="tx1"/>
        </a:solidFill>
        <a:latin typeface="+mn-lt"/>
        <a:ea typeface="+mn-ea"/>
        <a:cs typeface="+mn-cs"/>
      </a:defRPr>
    </a:lvl3pPr>
    <a:lvl4pPr marL="1371600" algn="l" defTabSz="914400" rtl="false" eaLnBrk="true" latinLnBrk="false" hangingPunct="true">
      <a:defRPr sz="1200" kern="1200">
        <a:solidFill>
          <a:schemeClr val="tx1"/>
        </a:solidFill>
        <a:latin typeface="+mn-lt"/>
        <a:ea typeface="+mn-ea"/>
        <a:cs typeface="+mn-cs"/>
      </a:defRPr>
    </a:lvl4pPr>
    <a:lvl5pPr marL="1828800" algn="l" defTabSz="914400" rtl="false" eaLnBrk="true" latinLnBrk="false" hangingPunct="true">
      <a:defRPr sz="1200" kern="1200">
        <a:solidFill>
          <a:schemeClr val="tx1"/>
        </a:solidFill>
        <a:latin typeface="+mn-lt"/>
        <a:ea typeface="+mn-ea"/>
        <a:cs typeface="+mn-cs"/>
      </a:defRPr>
    </a:lvl5pPr>
    <a:lvl6pPr marL="2286000" algn="l" defTabSz="914400" rtl="false" eaLnBrk="true" latinLnBrk="false" hangingPunct="true">
      <a:defRPr sz="1200" kern="1200">
        <a:solidFill>
          <a:schemeClr val="tx1"/>
        </a:solidFill>
        <a:latin typeface="+mn-lt"/>
        <a:ea typeface="+mn-ea"/>
        <a:cs typeface="+mn-cs"/>
      </a:defRPr>
    </a:lvl6pPr>
    <a:lvl7pPr marL="2743200" algn="l" defTabSz="914400" rtl="false" eaLnBrk="true" latinLnBrk="false" hangingPunct="true">
      <a:defRPr sz="1200" kern="1200">
        <a:solidFill>
          <a:schemeClr val="tx1"/>
        </a:solidFill>
        <a:latin typeface="+mn-lt"/>
        <a:ea typeface="+mn-ea"/>
        <a:cs typeface="+mn-cs"/>
      </a:defRPr>
    </a:lvl7pPr>
    <a:lvl8pPr marL="3200400" algn="l" defTabSz="914400" rtl="false" eaLnBrk="true" latinLnBrk="false" hangingPunct="true">
      <a:defRPr sz="1200" kern="1200">
        <a:solidFill>
          <a:schemeClr val="tx1"/>
        </a:solidFill>
        <a:latin typeface="+mn-lt"/>
        <a:ea typeface="+mn-ea"/>
        <a:cs typeface="+mn-cs"/>
      </a:defRPr>
    </a:lvl8pPr>
    <a:lvl9pPr marL="3657600" algn="l" defTabSz="914400" rtl="false" eaLnBrk="true" latinLnBrk="false" hangingPunct="true">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9.xml" /></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1.xml" /></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2.xml" /></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3.xml" /></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4.xml" /></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5.xml" /></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6.xml" /></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7.xml" /></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8.xml" /></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xml" /></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20.xml" /></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21.xml" /></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22.xml" /></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23.xml" /></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24.xml" /></Relationships>
</file>

<file path=ppt/notesSlides/_rels/notesSlide16.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25.xml" /></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26.xml" /></Relationships>
</file>

<file path=ppt/notesSlides/_rels/notesSlide18.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27.xml" /></Relationships>
</file>

<file path=ppt/notesSlides/_rels/notesSlide19.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28.xml" /></Relationships>
</file>

<file path=ppt/notesSlides/_rels/notesSlide20.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29.xml" /></Relationships>
</file>

<file path=ppt/notesSlides/_rels/notesSlide21.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30.xml" /></Relationships>
</file>

<file path=ppt/notesSlides/_rels/notesSlide22.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31.xml" /></Relationships>
</file>

<file path=ppt/notesSlides/_rels/notesSlide23.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32.xml" /></Relationships>
</file>

<file path=ppt/notesSlides/_rels/notesSlide24.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33.xml" /></Relationships>
</file>

<file path=ppt/notesSlides/_rels/notesSlide25.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34.xml" /></Relationships>
</file>

<file path=ppt/notesSlides/_rels/notesSlide26.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35.xml" /></Relationships>
</file>

<file path=ppt/notesSlides/_rels/notesSlide27.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36.xml" /></Relationships>
</file>

<file path=ppt/notesSlides/_rels/notesSlide28.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37.xml" /></Relationships>
</file>

<file path=ppt/notesSlides/_rels/notesSlide29.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38.xml" /></Relationships>
</file>

<file path=ppt/notesSlides/_rels/notesSlide30.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39.xml" /></Relationships>
</file>

<file path=ppt/notesSlides/_rels/notesSlide31.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40.xml" /></Relationships>
</file>

<file path=ppt/notesSlides/_rels/notesSlide32.xml.rels><?xml version="1.0" encoding="UTF-8" standalone="yes"?><Relationships xmlns="http://schemas.openxmlformats.org/package/2006/relationships"><Relationship Id="rId2" Type="http://schemas.openxmlformats.org/officeDocument/2006/relationships/hyperlink" Target="https://valkey.io/commands/role/" TargetMode="External"/><Relationship Id="rId0" Type="http://schemas.openxmlformats.org/officeDocument/2006/relationships/slide" Target="../slides/slide41.xml" /><Relationship Id="rId1" Type="http://schemas.openxmlformats.org/officeDocument/2006/relationships/notesMaster" Target="../notesMasters/notesMaster1.xml" /></Relationships>
</file>

<file path=ppt/notesSlides/_rels/notesSlide33.xml.rels><?xml version="1.0" encoding="UTF-8" standalone="yes"?><Relationships xmlns="http://schemas.openxmlformats.org/package/2006/relationships"><Relationship Id="rId2" Type="http://schemas.openxmlformats.org/officeDocument/2006/relationships/hyperlink" Target="https://valkey.io/commands/info/" TargetMode="External"/><Relationship Id="rId0" Type="http://schemas.openxmlformats.org/officeDocument/2006/relationships/slide" Target="../slides/slide42.xml" /><Relationship Id="rId1" Type="http://schemas.openxmlformats.org/officeDocument/2006/relationships/notesMaster" Target="../notesMasters/notesMaster1.xml" /></Relationships>
</file>

<file path=ppt/notesSlides/_rels/notesSlide34.xml.rels><?xml version="1.0" encoding="UTF-8" standalone="yes"?><Relationships xmlns="http://schemas.openxmlformats.org/package/2006/relationships"><Relationship Id="rId2" Type="http://schemas.openxmlformats.org/officeDocument/2006/relationships/hyperlink" Target="https://valkey.io/commands/info/" TargetMode="External"/><Relationship Id="rId0" Type="http://schemas.openxmlformats.org/officeDocument/2006/relationships/slide" Target="../slides/slide43.xml" /><Relationship Id="rId1" Type="http://schemas.openxmlformats.org/officeDocument/2006/relationships/notesMaster" Target="../notesMasters/notesMaster1.xml" /></Relationships>
</file>

<file path=ppt/notesSlides/_rels/notesSlide35.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44.xml" /></Relationships>
</file>

<file path=ppt/notesSlides/_rels/notesSlide36.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45.xml" /></Relationships>
</file>

<file path=ppt/notesSlides/_rels/notesSlide37.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46.xml" /></Relationships>
</file>

<file path=ppt/notesSlides/_rels/notesSlide38.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47.xml" /></Relationships>
</file>

<file path=ppt/notesSlides/_rels/notesSlide39.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48.xml" /></Relationships>
</file>

<file path=ppt/notesSlides/_rels/notesSlide40.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49.xml" /></Relationships>
</file>

<file path=ppt/notesSlides/_rels/notesSlide41.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50.xml" /></Relationships>
</file>

<file path=ppt/notesSlides/_rels/notesSlide42.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51.xml" /></Relationships>
</file>

<file path=ppt/notesSlides/_rels/notesSlide43.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52.xml" /></Relationships>
</file>

<file path=ppt/notesSlides/_rels/notesSlide44.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53.xml" /></Relationships>
</file>

<file path=ppt/notesSlides/_rels/notesSlide45.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54.xml" /></Relationships>
</file>

<file path=ppt/notesSlides/_rels/notesSlide46.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55.xml" /></Relationships>
</file>

<file path=ppt/notesSlides/_rels/notesSlide47.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56.xml" /></Relationships>
</file>

<file path=ppt/notesSlides/_rels/notesSlide48.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57.xml" /></Relationships>
</file>

<file path=ppt/notesSlides/_rels/notesSlide49.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58.xml" /></Relationships>
</file>

<file path=ppt/notesSlides/_rels/notesSlide50.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59.xml" /></Relationships>
</file>

<file path=ppt/notesSlides/_rels/notesSlide51.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60.xml" /></Relationships>
</file>

<file path=ppt/notesSlides/_rels/notesSlide52.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61.xml" /></Relationships>
</file>

<file path=ppt/notesSlides/_rels/notesSlide53.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62.xml" /></Relationships>
</file>

<file path=ppt/notesSlides/_rels/notesSlide54.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63.xml" /></Relationships>
</file>

<file path=ppt/notesSlides/_rels/notesSlide55.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64.xml" /></Relationships>
</file>

<file path=ppt/notesSlides/_rels/notesSlide56.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65.xml" /></Relationships>
</file>

<file path=ppt/notesSlides/_rels/notesSlide57.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66.xml" /></Relationships>
</file>

<file path=ppt/notesSlides/_rels/notesSlide58.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67.xml" /></Relationships>
</file>

<file path=ppt/notesSlides/_rels/notesSlide59.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68.xml" /></Relationships>
</file>

<file path=ppt/notesSlides/_rels/notesSlide60.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69.xml" /></Relationships>
</file>

<file path=ppt/notesSlides/_rels/notesSlide61.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8.xml"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
          <p:cNvSpPr/>
          <p:nvPr>
            <p:ph type="body"/>
          </p:nvPr>
        </p:nvSpPr>
        <p:spPr>
          <a:xfrm>
            <a:off x="0" y="0"/>
            <a:ext cx="177800" cy="444500"/>
          </a:xfrm>
          <a:prstGeom prst="rect">
            <a:avLst/>
          </a:prstGeom>
        </p:spPr>
        <p:txBody>
          <a:bodyPr/>
          <a:p>
            <a:pPr/>
            <a:r>
              <a:rPr lang="zh-CN"/>
              <a:t>第一点当然是高可用，</a:t>
            </a:r>
            <a:r>
              <a:rPr lang="en-US"/>
              <a:t>Valkey </a:t>
            </a:r>
            <a:r>
              <a:rPr lang="zh-CN"/>
              <a:t>是个内存数据库，如果</a:t>
            </a:r>
            <a:r>
              <a:rPr lang="en-US"/>
              <a:t> Valkey </a:t>
            </a:r>
            <a:r>
              <a:rPr lang="zh-CN"/>
              <a:t>宕机了，你希望有个副本能够马上顶上恢复数据或者恢复服务。</a:t>
            </a:r>
            <a:r>
              <a:rPr lang="en-US"/>
              <a:t>
</a:t>
            </a:r>
            <a:r>
              <a:rPr lang="zh-CN"/>
              <a:t>提升节点的读性能，你需要主从复制来扩展读性能，例如在一些缓存场景，你发现单个节点没办法满足性能需求的时候，可以通过主从复制增加副本，将业务读请求发送到副本上来扩展读性能</a:t>
            </a:r>
            <a:r>
              <a:rPr lang="en-US"/>
              <a:t>
</a:t>
            </a:r>
            <a:r>
              <a:rPr lang="zh-CN"/>
              <a:t>另一种方式的持久化</a:t>
            </a:r>
            <a:r>
              <a:rPr lang="en-US"/>
              <a:t>
Valkey </a:t>
            </a:r>
            <a:r>
              <a:rPr lang="zh-CN"/>
              <a:t>当然自身是有持久化机制，例如有</a:t>
            </a:r>
            <a:r>
              <a:rPr lang="en-US"/>
              <a:t> RDB </a:t>
            </a:r>
            <a:r>
              <a:rPr lang="zh-CN"/>
              <a:t>跟</a:t>
            </a:r>
            <a:r>
              <a:rPr lang="en-US"/>
              <a:t> AOF</a:t>
            </a:r>
            <a:r>
              <a:rPr lang="zh-CN"/>
              <a:t>，这些持久化都会耗费主节点性能，并且依赖硬盘而硬盘也可能故障等。</a:t>
            </a:r>
            <a:endParaRPr/>
          </a:p>
          <a:p>
            <a:pPr/>
            <a:r>
              <a:rPr lang="zh-CN"/>
              <a:t>利用主从复制，你可以在主节点上配置完全不持久化，然后在副本节点上配置持久化策略</a:t>
            </a:r>
            <a:endParaRPr/>
          </a:p>
        </p:txBody>
      </p:sp>
    </p:spTree>
  </p:cSld>
</p:notes>
</file>

<file path=ppt/notesSlides/notesSlide2.xml><?xml version="1.0" encoding="utf-8"?>
<p:notes xmlns:a="http://schemas.openxmlformats.org/drawingml/2006/main" xmlns:p="http://schemas.openxmlformats.org/presentationml/2006/main">
  <p:cSld>
    <p:spTree>
      <p:nvGrpSpPr>
        <p:cNvPr id="3" name=""/>
        <p:cNvGrpSpPr/>
        <p:nvPr/>
      </p:nvGrpSpPr>
      <p:grpSpPr>
        <a:xfrm>
          <a:off x="0" y="0"/>
          <a:ext cx="0" cy="0"/>
          <a:chOff x="0" y="0"/>
          <a:chExt cx="0" cy="0"/>
        </a:xfrm>
      </p:grpSpPr>
      <p:sp>
        <p:nvSpPr>
          <p:cNvPr id="4" name=""/>
          <p:cNvSpPr/>
          <p:nvPr>
            <p:ph type="body"/>
          </p:nvPr>
        </p:nvSpPr>
        <p:spPr>
          <a:xfrm>
            <a:off x="0" y="0"/>
            <a:ext cx="177800" cy="444500"/>
          </a:xfrm>
          <a:prstGeom prst="rect">
            <a:avLst/>
          </a:prstGeom>
        </p:spPr>
        <p:txBody>
          <a:bodyPr/>
          <a:p>
            <a:pPr/>
            <a:r>
              <a:rPr lang="en-US"/>
              <a:t>full sync (full synchronization) </a:t>
            </a:r>
            <a:r>
              <a:rPr lang="zh-CN"/>
              <a:t>全量同步</a:t>
            </a:r>
            <a:r>
              <a:rPr lang="en-US"/>
              <a:t>
full sync </a:t>
            </a:r>
            <a:r>
              <a:rPr lang="zh-CN"/>
              <a:t>顾名思义就是，将主节点上的全量数据传输给副本</a:t>
            </a:r>
            <a:r>
              <a:rPr lang="en-US"/>
              <a:t>
</a:t>
            </a:r>
            <a:r>
              <a:rPr lang="zh-CN"/>
              <a:t>那么</a:t>
            </a:r>
            <a:r>
              <a:rPr lang="en-US"/>
              <a:t> Valkey </a:t>
            </a:r>
            <a:r>
              <a:rPr lang="zh-CN"/>
              <a:t>是如何做这个全量同步的？怎么在不影响客户端访问下做的？</a:t>
            </a:r>
            <a:r>
              <a:rPr lang="en-US"/>
              <a:t>
Valkey </a:t>
            </a:r>
            <a:r>
              <a:rPr lang="zh-CN"/>
              <a:t>会</a:t>
            </a:r>
            <a:r>
              <a:rPr lang="en-US"/>
              <a:t> fork </a:t>
            </a:r>
            <a:r>
              <a:rPr lang="zh-CN"/>
              <a:t>一个子进程，这个子进程负责生成</a:t>
            </a:r>
            <a:r>
              <a:rPr lang="en-US"/>
              <a:t> RDB </a:t>
            </a:r>
            <a:r>
              <a:rPr lang="zh-CN"/>
              <a:t>快照，同时主节点会开始将所有的新写入命令缓存到副本客户端输出缓冲区中。</a:t>
            </a:r>
            <a:br>
              <a:rPr/>
            </a:br>
            <a:r>
              <a:rPr lang="zh-CN"/>
              <a:t>当子进程完成</a:t>
            </a:r>
            <a:r>
              <a:rPr lang="en-US"/>
              <a:t> RDB </a:t>
            </a:r>
            <a:r>
              <a:rPr lang="zh-CN"/>
              <a:t>快照的生成后，主节点会将</a:t>
            </a:r>
            <a:r>
              <a:rPr lang="en-US"/>
              <a:t> RDB </a:t>
            </a:r>
            <a:r>
              <a:rPr lang="zh-CN"/>
              <a:t>快照发送给副本节点，副本节点加载</a:t>
            </a:r>
            <a:r>
              <a:rPr lang="en-US"/>
              <a:t> RDB </a:t>
            </a:r>
            <a:r>
              <a:rPr lang="zh-CN"/>
              <a:t>快照，之后主节点将之前缓存的所有命令发送给副本节点。</a:t>
            </a:r>
            <a:r>
              <a:rPr lang="en-US"/>
              <a:t>
</a:t>
            </a:r>
            <a:r>
              <a:rPr lang="zh-CN"/>
              <a:t>然后主节点将这个</a:t>
            </a:r>
            <a:r>
              <a:rPr lang="en-US"/>
              <a:t> RDB </a:t>
            </a:r>
            <a:r>
              <a:rPr lang="zh-CN"/>
              <a:t>发送给副本节点，这个发送是父进程发还是子进程发，取决于</a:t>
            </a:r>
            <a:r>
              <a:rPr lang="en-US"/>
              <a:t> Valkey </a:t>
            </a:r>
            <a:r>
              <a:rPr lang="zh-CN"/>
              <a:t>的版本，和取决于复制是有盘的还是无盘的</a:t>
            </a:r>
            <a:br>
              <a:rPr/>
            </a:br>
            <a:r>
              <a:rPr lang="zh-CN"/>
              <a:t>有盘复制：子进程生成</a:t>
            </a:r>
            <a:r>
              <a:rPr lang="en-US"/>
              <a:t> RDB </a:t>
            </a:r>
            <a:r>
              <a:rPr lang="zh-CN"/>
              <a:t>文件，结束后告知主进程，主进程负责将</a:t>
            </a:r>
            <a:r>
              <a:rPr lang="en-US"/>
              <a:t> RDB </a:t>
            </a:r>
            <a:r>
              <a:rPr lang="zh-CN"/>
              <a:t>文件发送给副本节点。</a:t>
            </a:r>
            <a:br>
              <a:rPr/>
            </a:br>
            <a:r>
              <a:rPr lang="zh-CN"/>
              <a:t>无盘复制（</a:t>
            </a:r>
            <a:r>
              <a:rPr lang="en-US"/>
              <a:t>&lt; 6.0 </a:t>
            </a:r>
            <a:r>
              <a:rPr lang="zh-CN"/>
              <a:t>版本）：子进程边生成</a:t>
            </a:r>
            <a:r>
              <a:rPr lang="en-US"/>
              <a:t> RDB </a:t>
            </a:r>
            <a:r>
              <a:rPr lang="zh-CN"/>
              <a:t>快照，边将</a:t>
            </a:r>
            <a:r>
              <a:rPr lang="en-US"/>
              <a:t> RDB </a:t>
            </a:r>
            <a:r>
              <a:rPr lang="zh-CN"/>
              <a:t>快照通过网络</a:t>
            </a:r>
            <a:r>
              <a:rPr lang="en-US"/>
              <a:t> socket </a:t>
            </a:r>
            <a:r>
              <a:rPr lang="zh-CN"/>
              <a:t>发送给副本节点。</a:t>
            </a:r>
            <a:br>
              <a:rPr/>
            </a:br>
            <a:r>
              <a:rPr lang="zh-CN"/>
              <a:t>无盘复制（</a:t>
            </a:r>
            <a:r>
              <a:rPr lang="en-US"/>
              <a:t>&gt;= 6.0 </a:t>
            </a:r>
            <a:r>
              <a:rPr lang="zh-CN"/>
              <a:t>版本）：因为</a:t>
            </a:r>
            <a:r>
              <a:rPr lang="en-US"/>
              <a:t> TLS </a:t>
            </a:r>
            <a:r>
              <a:rPr lang="zh-CN"/>
              <a:t>连接的限制，子进程边生成</a:t>
            </a:r>
            <a:r>
              <a:rPr lang="en-US"/>
              <a:t> RDB </a:t>
            </a:r>
            <a:r>
              <a:rPr lang="zh-CN"/>
              <a:t>快照，边将</a:t>
            </a:r>
            <a:r>
              <a:rPr lang="en-US"/>
              <a:t> RDB </a:t>
            </a:r>
            <a:r>
              <a:rPr lang="zh-CN"/>
              <a:t>快照内容通过匿名管道发送给父进程，父进程将</a:t>
            </a:r>
            <a:r>
              <a:rPr lang="en-US"/>
              <a:t> RDB </a:t>
            </a:r>
            <a:r>
              <a:rPr lang="zh-CN"/>
              <a:t>快照内容发送给副本节点。</a:t>
            </a:r>
            <a:r>
              <a:rPr lang="en-US"/>
              <a:t>
full sync </a:t>
            </a:r>
            <a:r>
              <a:rPr lang="zh-CN"/>
              <a:t>使用在哪些场景？</a:t>
            </a:r>
            <a:br>
              <a:rPr/>
            </a:br>
            <a:r>
              <a:rPr lang="zh-CN"/>
              <a:t>给主节点添加新副本，显然在这个阶段，副本对数据是一无所知的，副本直接请求</a:t>
            </a:r>
            <a:r>
              <a:rPr lang="en-US"/>
              <a:t> full sync</a:t>
            </a:r>
            <a:r>
              <a:rPr lang="zh-CN"/>
              <a:t>，主节点进行全量同步</a:t>
            </a:r>
            <a:br>
              <a:rPr/>
            </a:br>
            <a:r>
              <a:rPr lang="zh-CN"/>
              <a:t>或者</a:t>
            </a:r>
            <a:r>
              <a:rPr lang="en-US"/>
              <a:t> psync </a:t>
            </a:r>
            <a:r>
              <a:rPr lang="zh-CN"/>
              <a:t>失败时，例如当前副本断连太久落后太多，无法进行</a:t>
            </a:r>
            <a:r>
              <a:rPr lang="en-US"/>
              <a:t> psync </a:t>
            </a:r>
            <a:r>
              <a:rPr lang="zh-CN"/>
              <a:t>时。或者副本转向向别的主节点请求主从同步。</a:t>
            </a:r>
            <a:endParaRPr/>
          </a:p>
        </p:txBody>
      </p:sp>
    </p:spTree>
  </p:cSld>
</p:notes>
</file>

<file path=ppt/notesSlides/notesSlide3.xml><?xml version="1.0" encoding="utf-8"?>
<p:notes xmlns:a="http://schemas.openxmlformats.org/drawingml/2006/main" xmlns:p="http://schemas.openxmlformats.org/presentationml/2006/main">
  <p:cSld>
    <p:spTree>
      <p:nvGrpSpPr>
        <p:cNvPr id="5" name=""/>
        <p:cNvGrpSpPr/>
        <p:nvPr/>
      </p:nvGrpSpPr>
      <p:grpSpPr>
        <a:xfrm>
          <a:off x="0" y="0"/>
          <a:ext cx="0" cy="0"/>
          <a:chOff x="0" y="0"/>
          <a:chExt cx="0" cy="0"/>
        </a:xfrm>
      </p:grpSpPr>
      <p:sp>
        <p:nvSpPr>
          <p:cNvPr id="6" name=""/>
          <p:cNvSpPr/>
          <p:nvPr>
            <p:ph type="body"/>
          </p:nvPr>
        </p:nvSpPr>
        <p:spPr>
          <a:xfrm>
            <a:off x="0" y="0"/>
            <a:ext cx="177800" cy="444500"/>
          </a:xfrm>
          <a:prstGeom prst="rect">
            <a:avLst/>
          </a:prstGeom>
        </p:spPr>
        <p:txBody>
          <a:bodyPr/>
          <a:p>
            <a:pPr/>
            <a:r>
              <a:rPr lang="en-US"/>
              <a:t>pysnc (partial resynchronizations)
</a:t>
            </a:r>
            <a:r>
              <a:rPr lang="zh-CN"/>
              <a:t>副本在主从断连后会尝试进行部分全同步</a:t>
            </a:r>
            <a:r>
              <a:rPr lang="en-US"/>
              <a:t>
</a:t>
            </a:r>
            <a:r>
              <a:rPr lang="zh-CN"/>
              <a:t>要理解</a:t>
            </a:r>
            <a:r>
              <a:rPr lang="en-US"/>
              <a:t> psync </a:t>
            </a:r>
            <a:r>
              <a:rPr lang="zh-CN"/>
              <a:t>的关键是，需要先理解一个叫做复制积压缓冲区的东西，也就是</a:t>
            </a:r>
            <a:r>
              <a:rPr lang="en-US"/>
              <a:t> replication backlog</a:t>
            </a:r>
            <a:r>
              <a:rPr lang="zh-CN"/>
              <a:t>。</a:t>
            </a:r>
            <a:br>
              <a:rPr/>
            </a:br>
            <a:r>
              <a:rPr lang="zh-CN"/>
              <a:t>在主节点侧，主节点会根据配置项开辟一块内存用来做缓冲区，当主节点执行了写命令，这些写命令的每个字节也会同时被保存到这个</a:t>
            </a:r>
            <a:r>
              <a:rPr lang="en-US"/>
              <a:t> backlog </a:t>
            </a:r>
            <a:r>
              <a:rPr lang="zh-CN"/>
              <a:t>中，每个字节都能对应到一个复制偏移量上去。</a:t>
            </a:r>
            <a:br>
              <a:rPr/>
            </a:br>
            <a:r>
              <a:rPr lang="zh-CN"/>
              <a:t>很容易能想到，我们没有无限的内存，所以这个</a:t>
            </a:r>
            <a:r>
              <a:rPr lang="en-US"/>
              <a:t> backlog buffer </a:t>
            </a:r>
            <a:r>
              <a:rPr lang="zh-CN"/>
              <a:t>容量也是有限的，它是环形循环缓冲区，你可以先简单理解，它有一个</a:t>
            </a:r>
            <a:r>
              <a:rPr lang="en-US"/>
              <a:t> first bytes offset</a:t>
            </a:r>
            <a:r>
              <a:rPr lang="zh-CN"/>
              <a:t>，然后有一个有效数据长度，在这一段范围里的数据就是有效数据，在这一段范围里的复制偏移量就是能做</a:t>
            </a:r>
            <a:r>
              <a:rPr lang="en-US"/>
              <a:t> psync </a:t>
            </a:r>
            <a:r>
              <a:rPr lang="zh-CN"/>
              <a:t>的复制偏移量。</a:t>
            </a:r>
            <a:r>
              <a:rPr lang="en-US"/>
              <a:t>
replication offset </a:t>
            </a:r>
            <a:r>
              <a:rPr lang="zh-CN"/>
              <a:t>就是一个复制偏移量的概念，在前面我们有了</a:t>
            </a:r>
            <a:r>
              <a:rPr lang="en-US"/>
              <a:t> backlog </a:t>
            </a:r>
            <a:r>
              <a:rPr lang="zh-CN"/>
              <a:t>数据后，复制偏移量就是类似一个逻辑下标的概念，让我们可以在</a:t>
            </a:r>
            <a:r>
              <a:rPr lang="en-US"/>
              <a:t> backlog </a:t>
            </a:r>
            <a:r>
              <a:rPr lang="zh-CN"/>
              <a:t>里找到对应偏移量的数据。不过复制偏移量不能单独使用，它需要和</a:t>
            </a:r>
            <a:r>
              <a:rPr lang="en-US"/>
              <a:t> replication id </a:t>
            </a:r>
            <a:r>
              <a:rPr lang="zh-CN"/>
              <a:t>复制</a:t>
            </a:r>
            <a:r>
              <a:rPr lang="en-US"/>
              <a:t> ID </a:t>
            </a:r>
            <a:r>
              <a:rPr lang="zh-CN"/>
              <a:t>一起使用。</a:t>
            </a:r>
            <a:r>
              <a:rPr lang="en-US"/>
              <a:t>
replication id
</a:t>
            </a:r>
            <a:r>
              <a:rPr lang="zh-CN"/>
              <a:t>当主节点启动的时候，它会随机生成一个唯一的复制</a:t>
            </a:r>
            <a:r>
              <a:rPr lang="en-US"/>
              <a:t> ID</a:t>
            </a:r>
            <a:r>
              <a:rPr lang="zh-CN"/>
              <a:t>，如果主节点重启，它会获得一个新的复制</a:t>
            </a:r>
            <a:r>
              <a:rPr lang="en-US"/>
              <a:t> ID</a:t>
            </a:r>
            <a:r>
              <a:rPr lang="zh-CN"/>
              <a:t>。复制偏移量和复制</a:t>
            </a:r>
            <a:r>
              <a:rPr lang="en-US"/>
              <a:t> ID </a:t>
            </a:r>
            <a:r>
              <a:rPr lang="zh-CN"/>
              <a:t>是密切相关的，副本不能拿着一个</a:t>
            </a:r>
            <a:r>
              <a:rPr lang="en-US"/>
              <a:t> offset </a:t>
            </a:r>
            <a:r>
              <a:rPr lang="zh-CN"/>
              <a:t>说我要这个</a:t>
            </a:r>
            <a:r>
              <a:rPr lang="en-US"/>
              <a:t> offset </a:t>
            </a:r>
            <a:r>
              <a:rPr lang="zh-CN"/>
              <a:t>开始后的数据。副本需要始终指定一个对应复制</a:t>
            </a:r>
            <a:r>
              <a:rPr lang="en-US"/>
              <a:t> ID</a:t>
            </a:r>
            <a:r>
              <a:rPr lang="zh-CN"/>
              <a:t>，和使用对应的复制偏移量，这样才能在正确的复制历史上做</a:t>
            </a:r>
            <a:r>
              <a:rPr lang="en-US"/>
              <a:t> psync</a:t>
            </a:r>
            <a:r>
              <a:rPr lang="zh-CN"/>
              <a:t>。</a:t>
            </a:r>
            <a:r>
              <a:rPr lang="en-US"/>
              <a:t>
replica client outpuf buffer
</a:t>
            </a:r>
            <a:r>
              <a:rPr lang="zh-CN"/>
              <a:t>最后，这里还有一个副本客户端输出缓冲区的概念，主节点发送给副本的数据都会先写到对应的副本客户端输出缓冲区里。</a:t>
            </a:r>
            <a:br>
              <a:rPr/>
            </a:br>
            <a:r>
              <a:rPr lang="zh-CN"/>
              <a:t>当然这个客户端输出缓冲区其实是贯穿始终的，我们在前面</a:t>
            </a:r>
            <a:r>
              <a:rPr lang="en-US"/>
              <a:t> full sync </a:t>
            </a:r>
            <a:r>
              <a:rPr lang="zh-CN"/>
              <a:t>那一页其实也有列出它，这边同样也列出了它，在后面我会再提及为什么会有它</a:t>
            </a:r>
            <a:endParaRPr/>
          </a:p>
        </p:txBody>
      </p:sp>
    </p:spTree>
  </p:cSld>
</p:notes>
</file>

<file path=ppt/notesSlides/notesSlide4.xml><?xml version="1.0" encoding="utf-8"?>
<p:notes xmlns:a="http://schemas.openxmlformats.org/drawingml/2006/main" xmlns:p="http://schemas.openxmlformats.org/presentationml/2006/main">
  <p:cSld>
    <p:spTree>
      <p:nvGrpSpPr>
        <p:cNvPr id="7" name=""/>
        <p:cNvGrpSpPr/>
        <p:nvPr/>
      </p:nvGrpSpPr>
      <p:grpSpPr>
        <a:xfrm>
          <a:off x="0" y="0"/>
          <a:ext cx="0" cy="0"/>
          <a:chOff x="0" y="0"/>
          <a:chExt cx="0" cy="0"/>
        </a:xfrm>
      </p:grpSpPr>
      <p:sp>
        <p:nvSpPr>
          <p:cNvPr id="8" name=""/>
          <p:cNvSpPr/>
          <p:nvPr>
            <p:ph type="body"/>
          </p:nvPr>
        </p:nvSpPr>
        <p:spPr>
          <a:xfrm>
            <a:off x="0" y="0"/>
            <a:ext cx="177800" cy="444500"/>
          </a:xfrm>
          <a:prstGeom prst="rect">
            <a:avLst/>
          </a:prstGeom>
        </p:spPr>
        <p:txBody>
          <a:bodyPr/>
          <a:p>
            <a:pPr/>
            <a:r>
              <a:rPr/>
              <a:t>现在让我们将这些内容整合起来，首先我们有客户端，有主节点，有副本节点。</a:t>
            </a:r>
            <a:endParaRPr/>
          </a:p>
        </p:txBody>
      </p:sp>
    </p:spTree>
  </p:cSld>
</p:notes>
</file>

<file path=ppt/notesSlides/notesSlide5.xml><?xml version="1.0" encoding="utf-8"?>
<p:notes xmlns:a="http://schemas.openxmlformats.org/drawingml/2006/main" xmlns:p="http://schemas.openxmlformats.org/presentationml/2006/main">
  <p:cSld>
    <p:spTree>
      <p:nvGrpSpPr>
        <p:cNvPr id="9" name=""/>
        <p:cNvGrpSpPr/>
        <p:nvPr/>
      </p:nvGrpSpPr>
      <p:grpSpPr>
        <a:xfrm>
          <a:off x="0" y="0"/>
          <a:ext cx="0" cy="0"/>
          <a:chOff x="0" y="0"/>
          <a:chExt cx="0" cy="0"/>
        </a:xfrm>
      </p:grpSpPr>
      <p:sp>
        <p:nvSpPr>
          <p:cNvPr id="10" name=""/>
          <p:cNvSpPr/>
          <p:nvPr>
            <p:ph type="body"/>
          </p:nvPr>
        </p:nvSpPr>
        <p:spPr>
          <a:xfrm>
            <a:off x="0" y="0"/>
            <a:ext cx="177800" cy="444500"/>
          </a:xfrm>
          <a:prstGeom prst="rect">
            <a:avLst/>
          </a:prstGeom>
        </p:spPr>
        <p:txBody>
          <a:bodyPr/>
          <a:p>
            <a:pPr/>
            <a:r>
              <a:rPr/>
              <a:t>主节点里当然有 keyspace，这和我们活动名称重名了，不过这在 Valkey 代码库里也是一个很好的概念，我们叫它键空间，那以前我们可能会叫它为键空间字典、数据字典等，因为现在 Valkey 其实引入了新的哈希表替换了字典，所以我这边就直接叫键空间。这是我们数据存储的地方。</a:t>
            </a:r>
            <a:endParaRPr/>
          </a:p>
          <a:p>
            <a:pPr/>
            <a:endParaRPr lang="en-US"/>
          </a:p>
          <a:p>
            <a:pPr/>
            <a:r>
              <a:rPr lang="zh-CN"/>
              <a:t>同时主节点里还有</a:t>
            </a:r>
            <a:r>
              <a:rPr lang="en-US"/>
              <a:t> replication backlog </a:t>
            </a:r>
            <a:r>
              <a:rPr lang="zh-CN"/>
              <a:t>复制积压缓冲区，以及</a:t>
            </a:r>
            <a:r>
              <a:rPr lang="en-US"/>
              <a:t> replica client output buffer </a:t>
            </a:r>
            <a:r>
              <a:rPr lang="zh-CN"/>
              <a:t>副本客户端输出缓冲区。这些都是我们前面有提及到的概念</a:t>
            </a:r>
            <a:endParaRPr/>
          </a:p>
        </p:txBody>
      </p:sp>
    </p:spTree>
  </p:cSld>
</p:notes>
</file>

<file path=ppt/notesSlides/notesSlide6.xml><?xml version="1.0" encoding="utf-8"?>
<p:notes xmlns:a="http://schemas.openxmlformats.org/drawingml/2006/main" xmlns:p="http://schemas.openxmlformats.org/presentationml/2006/main">
  <p:cSld>
    <p:spTree>
      <p:nvGrpSpPr>
        <p:cNvPr id="11" name=""/>
        <p:cNvGrpSpPr/>
        <p:nvPr/>
      </p:nvGrpSpPr>
      <p:grpSpPr>
        <a:xfrm>
          <a:off x="0" y="0"/>
          <a:ext cx="0" cy="0"/>
          <a:chOff x="0" y="0"/>
          <a:chExt cx="0" cy="0"/>
        </a:xfrm>
      </p:grpSpPr>
      <p:sp>
        <p:nvSpPr>
          <p:cNvPr id="12" name=""/>
          <p:cNvSpPr/>
          <p:nvPr>
            <p:ph type="body"/>
          </p:nvPr>
        </p:nvSpPr>
        <p:spPr>
          <a:xfrm>
            <a:off x="0" y="0"/>
            <a:ext cx="177800" cy="444500"/>
          </a:xfrm>
          <a:prstGeom prst="rect">
            <a:avLst/>
          </a:prstGeom>
        </p:spPr>
        <p:txBody>
          <a:bodyPr/>
          <a:p>
            <a:pPr/>
            <a:r>
              <a:rPr lang="zh-CN"/>
              <a:t>现在当客户端写入数据时，当然，这个数据首先肯定会存到</a:t>
            </a:r>
            <a:r>
              <a:rPr lang="en-US"/>
              <a:t> keyspace </a:t>
            </a:r>
            <a:r>
              <a:rPr lang="zh-CN"/>
              <a:t>键空间中，之后这个数据也会复制一份写到复制积压缓冲区和副本客户端输出缓冲区中。</a:t>
            </a:r>
            <a:endParaRPr/>
          </a:p>
        </p:txBody>
      </p:sp>
    </p:spTree>
  </p:cSld>
</p:notes>
</file>

<file path=ppt/notesSlides/notesSlide7.xml><?xml version="1.0" encoding="utf-8"?>
<p:notes xmlns:a="http://schemas.openxmlformats.org/drawingml/2006/main" xmlns:p="http://schemas.openxmlformats.org/presentationml/2006/main">
  <p:cSld>
    <p:spTree>
      <p:nvGrpSpPr>
        <p:cNvPr id="13" name=""/>
        <p:cNvGrpSpPr/>
        <p:nvPr/>
      </p:nvGrpSpPr>
      <p:grpSpPr>
        <a:xfrm>
          <a:off x="0" y="0"/>
          <a:ext cx="0" cy="0"/>
          <a:chOff x="0" y="0"/>
          <a:chExt cx="0" cy="0"/>
        </a:xfrm>
      </p:grpSpPr>
      <p:sp>
        <p:nvSpPr>
          <p:cNvPr id="14" name=""/>
          <p:cNvSpPr/>
          <p:nvPr>
            <p:ph type="body"/>
          </p:nvPr>
        </p:nvSpPr>
        <p:spPr>
          <a:xfrm>
            <a:off x="0" y="0"/>
            <a:ext cx="177800" cy="444500"/>
          </a:xfrm>
          <a:prstGeom prst="rect">
            <a:avLst/>
          </a:prstGeom>
        </p:spPr>
        <p:txBody>
          <a:bodyPr/>
          <a:p>
            <a:pPr/>
            <a:r>
              <a:rPr/>
              <a:t>之后副本输出缓冲区里的数据，被主节点</a:t>
            </a:r>
            <a:r>
              <a:rPr lang="zh-CN"/>
              <a:t>异步</a:t>
            </a:r>
            <a:r>
              <a:rPr/>
              <a:t>发送给副本节点。</a:t>
            </a:r>
            <a:endParaRPr/>
          </a:p>
          <a:p>
            <a:pPr/>
            <a:endParaRPr lang="en-US"/>
          </a:p>
          <a:p>
            <a:pPr/>
            <a:r>
              <a:rPr/>
              <a:t>在这个过程中，副本输出缓冲区的数据在发送完后会被删除，然后复制积压缓冲区里的数据会被保留，以供后面副本</a:t>
            </a:r>
            <a:r>
              <a:rPr/>
              <a:t> psync </a:t>
            </a:r>
            <a:r>
              <a:rPr/>
              <a:t>使用。</a:t>
            </a:r>
            <a:endParaRPr/>
          </a:p>
        </p:txBody>
      </p:sp>
    </p:spTree>
  </p:cSld>
</p:notes>
</file>

<file path=ppt/notesSlides/notesSlide8.xml><?xml version="1.0" encoding="utf-8"?>
<p:notes xmlns:a="http://schemas.openxmlformats.org/drawingml/2006/main" xmlns:p="http://schemas.openxmlformats.org/presentationml/2006/main">
  <p:cSld>
    <p:spTree>
      <p:nvGrpSpPr>
        <p:cNvPr id="15" name=""/>
        <p:cNvGrpSpPr/>
        <p:nvPr/>
      </p:nvGrpSpPr>
      <p:grpSpPr>
        <a:xfrm>
          <a:off x="0" y="0"/>
          <a:ext cx="0" cy="0"/>
          <a:chOff x="0" y="0"/>
          <a:chExt cx="0" cy="0"/>
        </a:xfrm>
      </p:grpSpPr>
      <p:sp>
        <p:nvSpPr>
          <p:cNvPr id="16" name=""/>
          <p:cNvSpPr/>
          <p:nvPr>
            <p:ph type="body"/>
          </p:nvPr>
        </p:nvSpPr>
        <p:spPr>
          <a:xfrm>
            <a:off x="0" y="0"/>
            <a:ext cx="177800" cy="444500"/>
          </a:xfrm>
          <a:prstGeom prst="rect">
            <a:avLst/>
          </a:prstGeom>
        </p:spPr>
        <p:txBody>
          <a:bodyPr/>
          <a:p>
            <a:pPr/>
            <a:r>
              <a:rPr lang="zh-CN"/>
              <a:t>当然，我这边其实只画了一个副本，如果有多个副本的话，这边会有多个副本输出缓冲区，它们都存着一样的数据，其实是有点浪费的。</a:t>
            </a:r>
            <a:endParaRPr/>
          </a:p>
          <a:p>
            <a:pPr/>
            <a:r>
              <a:rPr lang="en-US"/>
              <a:t>Redis 7.0 </a:t>
            </a:r>
            <a:r>
              <a:rPr lang="zh-CN"/>
              <a:t>引入了</a:t>
            </a:r>
            <a:r>
              <a:rPr lang="en-US"/>
              <a:t> global shared replication buffer </a:t>
            </a:r>
            <a:r>
              <a:rPr lang="zh-CN"/>
              <a:t>全局共享复制缓冲区，所以在现在新版本里，复制积压缓冲区和副本客户端输出缓冲区都是使用着这个</a:t>
            </a:r>
            <a:r>
              <a:rPr lang="en-US"/>
              <a:t> </a:t>
            </a:r>
            <a:r>
              <a:rPr lang="zh-CN"/>
              <a:t>全局共享复制缓冲区。</a:t>
            </a:r>
            <a:endParaRPr/>
          </a:p>
          <a:p>
            <a:pPr/>
            <a:r>
              <a:rPr lang="zh-CN"/>
              <a:t>可以看到，这能为主节点节省很多资源，不过这个不是这次分享的重点，所以里面的细节我就不展开。</a:t>
            </a:r>
            <a:endParaRPr/>
          </a:p>
          <a:p>
            <a:pPr/>
            <a:endParaRPr lang="en-US"/>
          </a:p>
          <a:p>
            <a:pPr/>
            <a:r>
              <a:rPr lang="en-US"/>
              <a:t>Replication backlog and replicas use one global shared replication buffer #9166 - https://github.com/redis/redis/pull/9166</a:t>
            </a:r>
            <a:endParaRPr/>
          </a:p>
        </p:txBody>
      </p:sp>
    </p:spTree>
  </p:cSld>
</p:notes>
</file>

<file path=ppt/notesSlides/notesSlide9.xml><?xml version="1.0" encoding="utf-8"?>
<p:notes xmlns:a="http://schemas.openxmlformats.org/drawingml/2006/main" xmlns:p="http://schemas.openxmlformats.org/presentationml/2006/main">
  <p:cSld>
    <p:spTree>
      <p:nvGrpSpPr>
        <p:cNvPr id="17" name=""/>
        <p:cNvGrpSpPr/>
        <p:nvPr/>
      </p:nvGrpSpPr>
      <p:grpSpPr>
        <a:xfrm>
          <a:off x="0" y="0"/>
          <a:ext cx="0" cy="0"/>
          <a:chOff x="0" y="0"/>
          <a:chExt cx="0" cy="0"/>
        </a:xfrm>
      </p:grpSpPr>
      <p:sp>
        <p:nvSpPr>
          <p:cNvPr id="18" name=""/>
          <p:cNvSpPr/>
          <p:nvPr>
            <p:ph type="body"/>
          </p:nvPr>
        </p:nvSpPr>
        <p:spPr>
          <a:xfrm>
            <a:off x="0" y="0"/>
            <a:ext cx="177800" cy="444500"/>
          </a:xfrm>
          <a:prstGeom prst="rect">
            <a:avLst/>
          </a:prstGeom>
        </p:spPr>
        <p:txBody>
          <a:bodyPr/>
          <a:p>
            <a:pPr/>
            <a:r>
              <a:rPr lang="zh-CN"/>
              <a:t>我们都知道</a:t>
            </a:r>
            <a:r>
              <a:rPr lang="en-US"/>
              <a:t> Valkey </a:t>
            </a:r>
            <a:r>
              <a:rPr lang="zh-CN"/>
              <a:t>是一个内存数据库，从内存里读取数据代价是很低的，但是将数据写入网络代价则会昂贵很多，所以这边速度是不匹配的。
而且</a:t>
            </a:r>
            <a:r>
              <a:rPr lang="en-US"/>
              <a:t> Valkey </a:t>
            </a:r>
            <a:r>
              <a:rPr lang="zh-CN"/>
              <a:t>是个单线程处理的，我们希望尽快将数据写给客户端，然后去处理下一个客户端请求。然而，你没办法在网络达到那么快的写入速度。所以每次处理完命令，同步等待将命令响应写给客户端是不现实的。
此外每个客户端执行的命令是不一样的，例如一些简单命令只用返回</a:t>
            </a:r>
            <a:r>
              <a:rPr lang="en-US"/>
              <a:t> +OK</a:t>
            </a:r>
            <a:r>
              <a:rPr lang="zh-CN"/>
              <a:t>，一些复杂读命令则可能会返回非常大量的元素，因此</a:t>
            </a:r>
            <a:r>
              <a:rPr lang="en-US"/>
              <a:t> Redis </a:t>
            </a:r>
            <a:r>
              <a:rPr lang="zh-CN"/>
              <a:t>本身就需要能够处理这种响应长度是可变的情况。</a:t>
            </a:r>
            <a:r>
              <a:rPr lang="en-US"/>
              <a:t>
</a:t>
            </a:r>
            <a:r>
              <a:rPr lang="zh-CN"/>
              <a:t>为了处理这种</a:t>
            </a:r>
            <a:r>
              <a:rPr lang="en-US"/>
              <a:t> gap</a:t>
            </a:r>
            <a:r>
              <a:rPr lang="zh-CN"/>
              <a:t>，</a:t>
            </a:r>
            <a:r>
              <a:rPr lang="en-US"/>
              <a:t>Valkey </a:t>
            </a:r>
            <a:r>
              <a:rPr lang="zh-CN"/>
              <a:t>里有一个客户端输出缓冲区的概念，也就是</a:t>
            </a:r>
            <a:r>
              <a:rPr lang="en-US"/>
              <a:t> client output buffer</a:t>
            </a:r>
            <a:r>
              <a:rPr lang="zh-CN"/>
              <a:t>，我们简称它为</a:t>
            </a:r>
            <a:r>
              <a:rPr lang="en-US"/>
              <a:t> COB</a:t>
            </a:r>
            <a:r>
              <a:rPr lang="zh-CN"/>
              <a:t>。要发送给客户端的数据都会先写入客户端对应的输出缓冲区中暂存起来，之后主线程就会去处理别的事情。之后主线程会在进入事件循环之前，将客户端输出缓冲区里的内容尽可能写给客户端，如果</a:t>
            </a:r>
            <a:r>
              <a:rPr lang="en-US"/>
              <a:t> Valkey </a:t>
            </a:r>
            <a:r>
              <a:rPr lang="zh-CN"/>
              <a:t>没办法足够快的发送这些数据，或者客户端没办法足够快的接受这些数据，这些数据会在客户端缓冲区里一直暂存。</a:t>
            </a:r>
            <a:r>
              <a:rPr lang="en-US"/>
              <a:t>
</a:t>
            </a:r>
            <a:r>
              <a:rPr lang="zh-CN"/>
              <a:t>为了避免客户端输出缓冲区不断增长，消耗无限多的内存，例如因为网络或者阻塞啥等，</a:t>
            </a:r>
            <a:r>
              <a:rPr lang="en-US"/>
              <a:t>Valkey </a:t>
            </a:r>
            <a:r>
              <a:rPr lang="zh-CN"/>
              <a:t>产生的命令响应的速度远远超过了客户端读取响应的速度，</a:t>
            </a:r>
            <a:r>
              <a:rPr lang="en-US"/>
              <a:t>Valkey </a:t>
            </a:r>
            <a:r>
              <a:rPr lang="zh-CN"/>
              <a:t>有一个</a:t>
            </a:r>
            <a:r>
              <a:rPr lang="en-US"/>
              <a:t> Client Output Buffer Limits </a:t>
            </a:r>
            <a:r>
              <a:rPr lang="zh-CN"/>
              <a:t>用来限制每个客户端输出缓冲区可用的内存，如果达到限制，</a:t>
            </a:r>
            <a:r>
              <a:rPr lang="en-US"/>
              <a:t>Valkey </a:t>
            </a:r>
            <a:r>
              <a:rPr lang="zh-CN"/>
              <a:t>会将客户端连接断开。即是断连那些慢速客户端避免内存不断增大。</a:t>
            </a:r>
            <a:r>
              <a:rPr lang="en-US"/>
              <a:t>
</a:t>
            </a:r>
            <a:r>
              <a:rPr lang="zh-CN"/>
              <a:t>而副本，从主节点的角度上看，实际上也是一个客户端，主节点通过网络将数据写给副本节点，所以副本实际上也会有一个客户端输出缓冲区</a:t>
            </a:r>
            <a:endParaRPr/>
          </a:p>
        </p:txBody>
      </p:sp>
    </p:spTree>
  </p:cSld>
</p:notes>
</file>

<file path=ppt/notesSlides/notesSlide10.xml><?xml version="1.0" encoding="utf-8"?>
<p:notes xmlns:a="http://schemas.openxmlformats.org/drawingml/2006/main" xmlns:p="http://schemas.openxmlformats.org/presentationml/2006/main">
  <p:cSld>
    <p:spTree>
      <p:nvGrpSpPr>
        <p:cNvPr id="19" name=""/>
        <p:cNvGrpSpPr/>
        <p:nvPr/>
      </p:nvGrpSpPr>
      <p:grpSpPr>
        <a:xfrm>
          <a:off x="0" y="0"/>
          <a:ext cx="0" cy="0"/>
          <a:chOff x="0" y="0"/>
          <a:chExt cx="0" cy="0"/>
        </a:xfrm>
      </p:grpSpPr>
      <p:sp>
        <p:nvSpPr>
          <p:cNvPr id="20" name="Slide Image Placeholder 1"/>
          <p:cNvSpPr>
            <a:spLocks noGrp="true" noRot="true" noChangeAspect="true"/>
          </p:cNvSpPr>
          <p:nvPr>
            <p:ph type="sldImg"/>
          </p:nvPr>
        </p:nvSpPr>
        <p:spPr/>
        <p:txBody>
          <a:bodyPr/>
          <a:p>
            <a:pPr/>
            <a:endParaRPr/>
          </a:p>
        </p:txBody>
      </p:sp>
      <p:sp>
        <p:nvSpPr>
          <p:cNvPr id="21" name="Notes Placeholder 2"/>
          <p:cNvSpPr>
            <a:spLocks noGrp="true"/>
          </p:cNvSpPr>
          <p:nvPr>
            <p:ph type="body" idx="1"/>
          </p:nvPr>
        </p:nvSpPr>
        <p:spPr/>
        <p:txBody>
          <a:bodyPr/>
          <a:lstStyle/>
          <a:p>
            <a:pPr/>
            <a:endParaRPr lang="en-US" dirty="false"/>
          </a:p>
        </p:txBody>
      </p:sp>
      <p:sp>
        <p:nvSpPr>
          <p:cNvPr id="22" name="Slide Number Placeholder 3"/>
          <p:cNvSpPr>
            <a:spLocks noGrp="true"/>
          </p:cNvSpPr>
          <p:nvPr>
            <p:ph type="sldNum" sz="quarter" idx="5"/>
          </p:nvPr>
        </p:nvSpPr>
        <p:spPr/>
        <p:txBody>
          <a:bodyPr/>
          <a:lstStyle/>
          <a:p>
            <a:pPr/>
            <a:fld id="{4694034A-E2CD-8146-9B75-BFAEA5C3DF15}" type="slidenum">
              <a:rPr lang="en-US" smtClean="false"/>
              <a:t>1</a:t>
            </a:fld>
            <a:endParaRPr lang="en-US"/>
          </a:p>
        </p:txBody>
      </p:sp>
    </p:spTree>
  </p:cSld>
</p:notes>
</file>

<file path=ppt/notesSlides/notesSlide11.xml><?xml version="1.0" encoding="utf-8"?>
<p:notes xmlns:a="http://schemas.openxmlformats.org/drawingml/2006/main" xmlns:p="http://schemas.openxmlformats.org/presentationml/2006/main">
  <p:cSld>
    <p:spTree>
      <p:nvGrpSpPr>
        <p:cNvPr id="23" name=""/>
        <p:cNvGrpSpPr/>
        <p:nvPr/>
      </p:nvGrpSpPr>
      <p:grpSpPr>
        <a:xfrm>
          <a:off x="0" y="0"/>
          <a:ext cx="0" cy="0"/>
          <a:chOff x="0" y="0"/>
          <a:chExt cx="0" cy="0"/>
        </a:xfrm>
      </p:grpSpPr>
      <p:sp>
        <p:nvSpPr>
          <p:cNvPr id="24" name=""/>
          <p:cNvSpPr/>
          <p:nvPr>
            <p:ph type="body"/>
          </p:nvPr>
        </p:nvSpPr>
        <p:spPr>
          <a:xfrm>
            <a:off x="0" y="0"/>
            <a:ext cx="177800" cy="444500"/>
          </a:xfrm>
          <a:prstGeom prst="rect">
            <a:avLst/>
          </a:prstGeom>
        </p:spPr>
        <p:txBody>
          <a:bodyPr/>
          <a:p>
            <a:pPr/>
            <a:r>
              <a:rPr lang="en-US"/>
              <a:t>repl-backlog-size 10
</a:t>
            </a:r>
            <a:r>
              <a:rPr lang="zh-CN"/>
              <a:t>空的样子</a:t>
            </a:r>
            <a:endParaRPr/>
          </a:p>
        </p:txBody>
      </p:sp>
    </p:spTree>
  </p:cSld>
</p:notes>
</file>

<file path=ppt/notesSlides/notesSlide12.xml><?xml version="1.0" encoding="utf-8"?>
<p:notes xmlns:a="http://schemas.openxmlformats.org/drawingml/2006/main" xmlns:p="http://schemas.openxmlformats.org/presentationml/2006/main">
  <p:cSld>
    <p:spTree>
      <p:nvGrpSpPr>
        <p:cNvPr id="25" name=""/>
        <p:cNvGrpSpPr/>
        <p:nvPr/>
      </p:nvGrpSpPr>
      <p:grpSpPr>
        <a:xfrm>
          <a:off x="0" y="0"/>
          <a:ext cx="0" cy="0"/>
          <a:chOff x="0" y="0"/>
          <a:chExt cx="0" cy="0"/>
        </a:xfrm>
      </p:grpSpPr>
      <p:sp>
        <p:nvSpPr>
          <p:cNvPr id="26" name=""/>
          <p:cNvSpPr/>
          <p:nvPr>
            <p:ph type="body"/>
          </p:nvPr>
        </p:nvSpPr>
        <p:spPr>
          <a:xfrm>
            <a:off x="0" y="0"/>
            <a:ext cx="177800" cy="444500"/>
          </a:xfrm>
          <a:prstGeom prst="rect">
            <a:avLst/>
          </a:prstGeom>
        </p:spPr>
        <p:txBody>
          <a:bodyPr/>
          <a:p>
            <a:pPr/>
            <a:r>
              <a:rPr lang="zh-CN"/>
              <a:t>当写入一个</a:t>
            </a:r>
            <a:r>
              <a:rPr lang="en-US"/>
              <a:t> set k1 v1 </a:t>
            </a:r>
            <a:r>
              <a:rPr lang="zh-CN"/>
              <a:t>命令后</a:t>
            </a:r>
            <a:endParaRPr/>
          </a:p>
          <a:p>
            <a:pPr/>
            <a:r>
              <a:rPr lang="zh-CN"/>
              <a:t>这里为了简单没有将</a:t>
            </a:r>
            <a:r>
              <a:rPr lang="en-US"/>
              <a:t> RESP </a:t>
            </a:r>
            <a:r>
              <a:rPr lang="zh-CN"/>
              <a:t>的那些</a:t>
            </a:r>
            <a:r>
              <a:rPr lang="en-US"/>
              <a:t> $\r\n </a:t>
            </a:r>
            <a:r>
              <a:rPr lang="zh-CN"/>
              <a:t>给画出来</a:t>
            </a:r>
            <a:endParaRPr/>
          </a:p>
        </p:txBody>
      </p:sp>
    </p:spTree>
  </p:cSld>
</p:notes>
</file>

<file path=ppt/notesSlides/notesSlide13.xml><?xml version="1.0" encoding="utf-8"?>
<p:notes xmlns:a="http://schemas.openxmlformats.org/drawingml/2006/main" xmlns:p="http://schemas.openxmlformats.org/presentationml/2006/main">
  <p:cSld>
    <p:spTree>
      <p:nvGrpSpPr>
        <p:cNvPr id="27" name=""/>
        <p:cNvGrpSpPr/>
        <p:nvPr/>
      </p:nvGrpSpPr>
      <p:grpSpPr>
        <a:xfrm>
          <a:off x="0" y="0"/>
          <a:ext cx="0" cy="0"/>
          <a:chOff x="0" y="0"/>
          <a:chExt cx="0" cy="0"/>
        </a:xfrm>
      </p:grpSpPr>
      <p:sp>
        <p:nvSpPr>
          <p:cNvPr id="28" name=""/>
          <p:cNvSpPr/>
          <p:nvPr>
            <p:ph type="body"/>
          </p:nvPr>
        </p:nvSpPr>
        <p:spPr>
          <a:xfrm>
            <a:off x="0" y="0"/>
            <a:ext cx="177800" cy="444500"/>
          </a:xfrm>
          <a:prstGeom prst="rect">
            <a:avLst/>
          </a:prstGeom>
        </p:spPr>
        <p:txBody>
          <a:bodyPr/>
          <a:p>
            <a:pPr/>
            <a:r>
              <a:rPr lang="zh-CN"/>
              <a:t>写入</a:t>
            </a:r>
            <a:r>
              <a:rPr lang="en-US"/>
              <a:t> set k1 v1 </a:t>
            </a:r>
            <a:r>
              <a:rPr lang="zh-CN"/>
              <a:t>后的有效数据范围</a:t>
            </a:r>
            <a:endParaRPr/>
          </a:p>
        </p:txBody>
      </p:sp>
    </p:spTree>
  </p:cSld>
</p:notes>
</file>

<file path=ppt/notesSlides/notesSlide14.xml><?xml version="1.0" encoding="utf-8"?>
<p:notes xmlns:a="http://schemas.openxmlformats.org/drawingml/2006/main" xmlns:p="http://schemas.openxmlformats.org/presentationml/2006/main">
  <p:cSld>
    <p:spTree>
      <p:nvGrpSpPr>
        <p:cNvPr id="29" name=""/>
        <p:cNvGrpSpPr/>
        <p:nvPr/>
      </p:nvGrpSpPr>
      <p:grpSpPr>
        <a:xfrm>
          <a:off x="0" y="0"/>
          <a:ext cx="0" cy="0"/>
          <a:chOff x="0" y="0"/>
          <a:chExt cx="0" cy="0"/>
        </a:xfrm>
      </p:grpSpPr>
      <p:sp>
        <p:nvSpPr>
          <p:cNvPr id="30" name=""/>
          <p:cNvSpPr/>
          <p:nvPr>
            <p:ph type="body"/>
          </p:nvPr>
        </p:nvSpPr>
        <p:spPr>
          <a:xfrm>
            <a:off x="0" y="0"/>
            <a:ext cx="177800" cy="444500"/>
          </a:xfrm>
          <a:prstGeom prst="rect">
            <a:avLst/>
          </a:prstGeom>
        </p:spPr>
        <p:txBody>
          <a:bodyPr/>
          <a:p>
            <a:pPr/>
            <a:r>
              <a:rPr lang="zh-CN"/>
              <a:t>继续写入一个</a:t>
            </a:r>
            <a:r>
              <a:rPr lang="en-US"/>
              <a:t> set k2 v2</a:t>
            </a:r>
            <a:r>
              <a:rPr lang="zh-CN"/>
              <a:t>，可以看到因为</a:t>
            </a:r>
            <a:r>
              <a:rPr lang="en-US"/>
              <a:t> backlog </a:t>
            </a:r>
            <a:r>
              <a:rPr lang="zh-CN"/>
              <a:t>满了后，前面</a:t>
            </a:r>
            <a:r>
              <a:rPr lang="en-US"/>
              <a:t> set k1 v1 </a:t>
            </a:r>
            <a:r>
              <a:rPr lang="zh-CN"/>
              <a:t>命令的前四个字节被覆盖了</a:t>
            </a:r>
            <a:endParaRPr/>
          </a:p>
        </p:txBody>
      </p:sp>
    </p:spTree>
  </p:cSld>
</p:notes>
</file>

<file path=ppt/notesSlides/notesSlide15.xml><?xml version="1.0" encoding="utf-8"?>
<p:notes xmlns:a="http://schemas.openxmlformats.org/drawingml/2006/main" xmlns:p="http://schemas.openxmlformats.org/presentationml/2006/main">
  <p:cSld>
    <p:spTree>
      <p:nvGrpSpPr>
        <p:cNvPr id="31" name=""/>
        <p:cNvGrpSpPr/>
        <p:nvPr/>
      </p:nvGrpSpPr>
      <p:grpSpPr>
        <a:xfrm>
          <a:off x="0" y="0"/>
          <a:ext cx="0" cy="0"/>
          <a:chOff x="0" y="0"/>
          <a:chExt cx="0" cy="0"/>
        </a:xfrm>
      </p:grpSpPr>
      <p:sp>
        <p:nvSpPr>
          <p:cNvPr id="32" name=""/>
          <p:cNvSpPr/>
          <p:nvPr>
            <p:ph type="body"/>
          </p:nvPr>
        </p:nvSpPr>
        <p:spPr>
          <a:xfrm>
            <a:off x="0" y="0"/>
            <a:ext cx="177800" cy="444500"/>
          </a:xfrm>
          <a:prstGeom prst="rect">
            <a:avLst/>
          </a:prstGeom>
        </p:spPr>
        <p:txBody>
          <a:bodyPr/>
          <a:p>
            <a:pPr/>
            <a:r>
              <a:rPr lang="zh-CN"/>
              <a:t>那么有效数据范围就变成现在这样</a:t>
            </a:r>
            <a:endParaRPr/>
          </a:p>
        </p:txBody>
      </p:sp>
    </p:spTree>
  </p:cSld>
</p:notes>
</file>

<file path=ppt/notesSlides/notesSlide16.xml><?xml version="1.0" encoding="utf-8"?>
<p:notes xmlns:a="http://schemas.openxmlformats.org/drawingml/2006/main" xmlns:p="http://schemas.openxmlformats.org/presentationml/2006/main">
  <p:cSld>
    <p:spTree>
      <p:nvGrpSpPr>
        <p:cNvPr id="33" name=""/>
        <p:cNvGrpSpPr/>
        <p:nvPr/>
      </p:nvGrpSpPr>
      <p:grpSpPr>
        <a:xfrm>
          <a:off x="0" y="0"/>
          <a:ext cx="0" cy="0"/>
          <a:chOff x="0" y="0"/>
          <a:chExt cx="0" cy="0"/>
        </a:xfrm>
      </p:grpSpPr>
      <p:sp>
        <p:nvSpPr>
          <p:cNvPr id="34" name=""/>
          <p:cNvSpPr/>
          <p:nvPr>
            <p:ph type="body"/>
          </p:nvPr>
        </p:nvSpPr>
        <p:spPr>
          <a:xfrm>
            <a:off x="0" y="0"/>
            <a:ext cx="177800" cy="444500"/>
          </a:xfrm>
          <a:prstGeom prst="rect">
            <a:avLst/>
          </a:prstGeom>
        </p:spPr>
        <p:txBody>
          <a:bodyPr/>
          <a:p>
            <a:pPr/>
            <a:r>
              <a:rPr lang="zh-CN"/>
              <a:t>那我们把前面提到的一些相关变量和概念，往例子里套一下</a:t>
            </a:r>
            <a:endParaRPr/>
          </a:p>
        </p:txBody>
      </p:sp>
    </p:spTree>
  </p:cSld>
</p:notes>
</file>

<file path=ppt/notesSlides/notesSlide17.xml><?xml version="1.0" encoding="utf-8"?>
<p:notes xmlns:a="http://schemas.openxmlformats.org/drawingml/2006/main" xmlns:p="http://schemas.openxmlformats.org/presentationml/2006/main">
  <p:cSld>
    <p:spTree>
      <p:nvGrpSpPr>
        <p:cNvPr id="35" name=""/>
        <p:cNvGrpSpPr/>
        <p:nvPr/>
      </p:nvGrpSpPr>
      <p:grpSpPr>
        <a:xfrm>
          <a:off x="0" y="0"/>
          <a:ext cx="0" cy="0"/>
          <a:chOff x="0" y="0"/>
          <a:chExt cx="0" cy="0"/>
        </a:xfrm>
      </p:grpSpPr>
      <p:sp>
        <p:nvSpPr>
          <p:cNvPr id="36" name=""/>
          <p:cNvSpPr/>
          <p:nvPr>
            <p:ph type="body"/>
          </p:nvPr>
        </p:nvSpPr>
        <p:spPr>
          <a:xfrm>
            <a:off x="0" y="0"/>
            <a:ext cx="177800" cy="444500"/>
          </a:xfrm>
          <a:prstGeom prst="rect">
            <a:avLst/>
          </a:prstGeom>
        </p:spPr>
        <p:txBody>
          <a:bodyPr/>
          <a:p>
            <a:pPr/>
            <a:r>
              <a:rPr lang="zh-CN"/>
              <a:t>有一个复制偏移量，它刚开始为</a:t>
            </a:r>
            <a:r>
              <a:rPr lang="en-US"/>
              <a:t> 0</a:t>
            </a:r>
            <a:endParaRPr/>
          </a:p>
          <a:p>
            <a:pPr/>
            <a:r>
              <a:rPr lang="zh-CN"/>
              <a:t>有一个</a:t>
            </a:r>
            <a:r>
              <a:rPr lang="en-US"/>
              <a:t> first byte offset </a:t>
            </a:r>
            <a:r>
              <a:rPr lang="zh-CN"/>
              <a:t>的概念，它刚开始的值为</a:t>
            </a:r>
            <a:r>
              <a:rPr lang="en-US"/>
              <a:t> offset + 1</a:t>
            </a:r>
            <a:r>
              <a:rPr lang="zh-CN"/>
              <a:t>，它其实表示</a:t>
            </a:r>
            <a:r>
              <a:rPr lang="en-US"/>
              <a:t> backlog </a:t>
            </a:r>
            <a:r>
              <a:rPr lang="zh-CN"/>
              <a:t>里第一个字节对应的偏移量，因为</a:t>
            </a:r>
            <a:r>
              <a:rPr lang="en-US"/>
              <a:t> backlog </a:t>
            </a:r>
            <a:r>
              <a:rPr lang="zh-CN"/>
              <a:t>为空，</a:t>
            </a:r>
            <a:r>
              <a:rPr lang="en-US"/>
              <a:t>backlog </a:t>
            </a:r>
            <a:r>
              <a:rPr lang="zh-CN"/>
              <a:t>里下一个要写入的有效字节实际上就是</a:t>
            </a:r>
            <a:r>
              <a:rPr lang="en-US"/>
              <a:t> offset + 1</a:t>
            </a:r>
            <a:endParaRPr/>
          </a:p>
          <a:p>
            <a:pPr/>
            <a:r>
              <a:rPr lang="zh-CN"/>
              <a:t>还有个</a:t>
            </a:r>
            <a:r>
              <a:rPr lang="en-US"/>
              <a:t> histlen</a:t>
            </a:r>
            <a:r>
              <a:rPr lang="zh-CN"/>
              <a:t>，它表示</a:t>
            </a:r>
            <a:r>
              <a:rPr lang="en-US"/>
              <a:t> backlog </a:t>
            </a:r>
            <a:r>
              <a:rPr lang="zh-CN"/>
              <a:t>里的有效数据长度，</a:t>
            </a:r>
            <a:r>
              <a:rPr lang="en-US"/>
              <a:t>backlog </a:t>
            </a:r>
            <a:r>
              <a:rPr lang="zh-CN"/>
              <a:t>为空它的值自然为</a:t>
            </a:r>
            <a:r>
              <a:rPr lang="en-US"/>
              <a:t> 0</a:t>
            </a:r>
            <a:endParaRPr/>
          </a:p>
        </p:txBody>
      </p:sp>
    </p:spTree>
  </p:cSld>
</p:notes>
</file>

<file path=ppt/notesSlides/notesSlide18.xml><?xml version="1.0" encoding="utf-8"?>
<p:notes xmlns:a="http://schemas.openxmlformats.org/drawingml/2006/main" xmlns:p="http://schemas.openxmlformats.org/presentationml/2006/main">
  <p:cSld>
    <p:spTree>
      <p:nvGrpSpPr>
        <p:cNvPr id="37" name=""/>
        <p:cNvGrpSpPr/>
        <p:nvPr/>
      </p:nvGrpSpPr>
      <p:grpSpPr>
        <a:xfrm>
          <a:off x="0" y="0"/>
          <a:ext cx="0" cy="0"/>
          <a:chOff x="0" y="0"/>
          <a:chExt cx="0" cy="0"/>
        </a:xfrm>
      </p:grpSpPr>
      <p:sp>
        <p:nvSpPr>
          <p:cNvPr id="38" name=""/>
          <p:cNvSpPr/>
          <p:nvPr>
            <p:ph type="body"/>
          </p:nvPr>
        </p:nvSpPr>
        <p:spPr>
          <a:xfrm>
            <a:off x="0" y="0"/>
            <a:ext cx="177800" cy="444500"/>
          </a:xfrm>
          <a:prstGeom prst="rect">
            <a:avLst/>
          </a:prstGeom>
        </p:spPr>
        <p:txBody>
          <a:bodyPr/>
          <a:p>
            <a:pPr/>
            <a:r>
              <a:rPr lang="zh-CN"/>
              <a:t>我们把</a:t>
            </a:r>
            <a:r>
              <a:rPr lang="en-US"/>
              <a:t> set k1 v1 </a:t>
            </a:r>
            <a:r>
              <a:rPr lang="zh-CN"/>
              <a:t>给写进来，为方便这里去掉</a:t>
            </a:r>
            <a:r>
              <a:rPr lang="en-US"/>
              <a:t> RESP </a:t>
            </a:r>
            <a:r>
              <a:rPr lang="zh-CN"/>
              <a:t>相关的，这里它的长度是</a:t>
            </a:r>
            <a:r>
              <a:rPr lang="en-US"/>
              <a:t> 7 </a:t>
            </a:r>
            <a:r>
              <a:rPr lang="zh-CN"/>
              <a:t>个字节</a:t>
            </a:r>
            <a:endParaRPr/>
          </a:p>
          <a:p>
            <a:pPr/>
            <a:r>
              <a:rPr lang="zh-CN"/>
              <a:t>写入后，复制偏移量变成了</a:t>
            </a:r>
            <a:r>
              <a:rPr lang="en-US"/>
              <a:t> 7</a:t>
            </a:r>
            <a:r>
              <a:rPr lang="zh-CN"/>
              <a:t>，</a:t>
            </a:r>
            <a:r>
              <a:rPr lang="en-US"/>
              <a:t>backlog </a:t>
            </a:r>
            <a:r>
              <a:rPr lang="zh-CN"/>
              <a:t>写入后，</a:t>
            </a:r>
            <a:r>
              <a:rPr lang="en-US"/>
              <a:t>histlen </a:t>
            </a:r>
            <a:r>
              <a:rPr lang="zh-CN"/>
              <a:t>的值变成了</a:t>
            </a:r>
            <a:r>
              <a:rPr lang="en-US"/>
              <a:t> 7</a:t>
            </a:r>
            <a:endParaRPr/>
          </a:p>
          <a:p>
            <a:pPr/>
            <a:r>
              <a:rPr lang="en-US"/>
              <a:t>first byte offset </a:t>
            </a:r>
            <a:r>
              <a:rPr lang="zh-CN"/>
              <a:t>表示</a:t>
            </a:r>
            <a:r>
              <a:rPr lang="en-US"/>
              <a:t> backlog </a:t>
            </a:r>
            <a:r>
              <a:rPr lang="zh-CN"/>
              <a:t>里第一个有效数据字节对应的复制偏移量，这边第一个字节对应的偏移量是</a:t>
            </a:r>
            <a:r>
              <a:rPr lang="en-US"/>
              <a:t> 1</a:t>
            </a:r>
            <a:endParaRPr/>
          </a:p>
          <a:p>
            <a:pPr/>
            <a:r>
              <a:rPr lang="zh-CN"/>
              <a:t>有效数据范围是</a:t>
            </a:r>
            <a:r>
              <a:rPr lang="en-US"/>
              <a:t> [1, 8]</a:t>
            </a:r>
            <a:r>
              <a:rPr lang="zh-CN"/>
              <a:t>，即这是</a:t>
            </a:r>
            <a:r>
              <a:rPr lang="en-US"/>
              <a:t> psync </a:t>
            </a:r>
            <a:r>
              <a:rPr lang="zh-CN"/>
              <a:t>能够成功的</a:t>
            </a:r>
            <a:r>
              <a:rPr lang="en-US"/>
              <a:t> offset </a:t>
            </a:r>
            <a:r>
              <a:rPr lang="zh-CN"/>
              <a:t>范围</a:t>
            </a:r>
            <a:endParaRPr/>
          </a:p>
        </p:txBody>
      </p:sp>
    </p:spTree>
  </p:cSld>
</p:notes>
</file>

<file path=ppt/notesSlides/notesSlide19.xml><?xml version="1.0" encoding="utf-8"?>
<p:notes xmlns:a="http://schemas.openxmlformats.org/drawingml/2006/main" xmlns:p="http://schemas.openxmlformats.org/presentationml/2006/main">
  <p:cSld>
    <p:spTree>
      <p:nvGrpSpPr>
        <p:cNvPr id="39" name=""/>
        <p:cNvGrpSpPr/>
        <p:nvPr/>
      </p:nvGrpSpPr>
      <p:grpSpPr>
        <a:xfrm>
          <a:off x="0" y="0"/>
          <a:ext cx="0" cy="0"/>
          <a:chOff x="0" y="0"/>
          <a:chExt cx="0" cy="0"/>
        </a:xfrm>
      </p:grpSpPr>
      <p:sp>
        <p:nvSpPr>
          <p:cNvPr id="40" name=""/>
          <p:cNvSpPr/>
          <p:nvPr>
            <p:ph type="body"/>
          </p:nvPr>
        </p:nvSpPr>
        <p:spPr>
          <a:xfrm>
            <a:off x="0" y="0"/>
            <a:ext cx="177800" cy="444500"/>
          </a:xfrm>
          <a:prstGeom prst="rect">
            <a:avLst/>
          </a:prstGeom>
        </p:spPr>
        <p:txBody>
          <a:bodyPr/>
          <a:p>
            <a:pPr/>
            <a:r>
              <a:rPr lang="zh-CN"/>
              <a:t>接着把</a:t>
            </a:r>
            <a:r>
              <a:rPr lang="en-US"/>
              <a:t> set k2 v2 </a:t>
            </a:r>
            <a:r>
              <a:rPr lang="zh-CN"/>
              <a:t>写进来，覆盖的部分前面提及过了，我们这边就只看几个相关变量值的变更。</a:t>
            </a:r>
            <a:endParaRPr/>
          </a:p>
          <a:p>
            <a:pPr/>
            <a:r>
              <a:rPr lang="zh-CN"/>
              <a:t>当</a:t>
            </a:r>
            <a:r>
              <a:rPr lang="en-US"/>
              <a:t> backlog </a:t>
            </a:r>
            <a:r>
              <a:rPr lang="zh-CN"/>
              <a:t>满了之后，</a:t>
            </a:r>
            <a:r>
              <a:rPr lang="en-US"/>
              <a:t>histlen </a:t>
            </a:r>
            <a:r>
              <a:rPr lang="zh-CN"/>
              <a:t>的值当然就是</a:t>
            </a:r>
            <a:r>
              <a:rPr lang="en-US"/>
              <a:t> 10</a:t>
            </a:r>
            <a:r>
              <a:rPr lang="zh-CN"/>
              <a:t>，实际的数据长度为</a:t>
            </a:r>
            <a:r>
              <a:rPr lang="en-US"/>
              <a:t> 10</a:t>
            </a:r>
            <a:endParaRPr/>
          </a:p>
          <a:p>
            <a:pPr/>
            <a:r>
              <a:rPr lang="zh-CN"/>
              <a:t>因为</a:t>
            </a:r>
            <a:r>
              <a:rPr lang="en-US"/>
              <a:t> backlog </a:t>
            </a:r>
            <a:r>
              <a:rPr lang="zh-CN"/>
              <a:t>满了产生了覆盖，那么自然</a:t>
            </a:r>
            <a:r>
              <a:rPr lang="en-US"/>
              <a:t> backlog </a:t>
            </a:r>
            <a:r>
              <a:rPr lang="zh-CN"/>
              <a:t>里第一个有效字节对应的偏移量需要往后移动，</a:t>
            </a:r>
            <a:r>
              <a:rPr lang="en-US"/>
              <a:t>first byte offset </a:t>
            </a:r>
            <a:r>
              <a:rPr lang="zh-CN"/>
              <a:t>现在是</a:t>
            </a:r>
            <a:r>
              <a:rPr lang="en-US"/>
              <a:t> 5</a:t>
            </a:r>
            <a:endParaRPr/>
          </a:p>
          <a:p>
            <a:pPr/>
            <a:r>
              <a:rPr lang="zh-CN"/>
              <a:t>有效的</a:t>
            </a:r>
            <a:r>
              <a:rPr lang="en-US"/>
              <a:t> pysnc </a:t>
            </a:r>
            <a:r>
              <a:rPr lang="zh-CN"/>
              <a:t>范围是</a:t>
            </a:r>
            <a:r>
              <a:rPr lang="en-US"/>
              <a:t> [5, 15]</a:t>
            </a:r>
            <a:r>
              <a:rPr lang="zh-CN"/>
              <a:t>，即</a:t>
            </a:r>
            <a:r>
              <a:rPr lang="en-US"/>
              <a:t> first byte offset </a:t>
            </a:r>
            <a:r>
              <a:rPr lang="zh-CN"/>
              <a:t>到</a:t>
            </a:r>
            <a:r>
              <a:rPr lang="en-US"/>
              <a:t> repl offset + 1</a:t>
            </a:r>
            <a:endParaRPr/>
          </a:p>
        </p:txBody>
      </p:sp>
    </p:spTree>
  </p:cSld>
</p:notes>
</file>

<file path=ppt/notesSlides/notesSlide20.xml><?xml version="1.0" encoding="utf-8"?>
<p:notes xmlns:a="http://schemas.openxmlformats.org/drawingml/2006/main" xmlns:p="http://schemas.openxmlformats.org/presentationml/2006/main">
  <p:cSld>
    <p:spTree>
      <p:nvGrpSpPr>
        <p:cNvPr id="41" name=""/>
        <p:cNvGrpSpPr/>
        <p:nvPr/>
      </p:nvGrpSpPr>
      <p:grpSpPr>
        <a:xfrm>
          <a:off x="0" y="0"/>
          <a:ext cx="0" cy="0"/>
          <a:chOff x="0" y="0"/>
          <a:chExt cx="0" cy="0"/>
        </a:xfrm>
      </p:grpSpPr>
      <p:sp>
        <p:nvSpPr>
          <p:cNvPr id="42" name=""/>
          <p:cNvSpPr/>
          <p:nvPr>
            <p:ph type="body"/>
          </p:nvPr>
        </p:nvSpPr>
        <p:spPr>
          <a:xfrm>
            <a:off x="0" y="0"/>
            <a:ext cx="177800" cy="444500"/>
          </a:xfrm>
          <a:prstGeom prst="rect">
            <a:avLst/>
          </a:prstGeom>
        </p:spPr>
        <p:txBody>
          <a:bodyPr/>
          <a:p>
            <a:pPr/>
            <a:r>
              <a:rPr lang="zh-CN"/>
              <a:t>走一遍例子，这是我们刚开始挂一个新副本的样子，副本会请求</a:t>
            </a:r>
            <a:r>
              <a:rPr lang="en-US"/>
              <a:t> psync ? -1 </a:t>
            </a:r>
            <a:r>
              <a:rPr lang="zh-CN"/>
              <a:t>来进行全量同步</a:t>
            </a:r>
            <a:endParaRPr/>
          </a:p>
          <a:p>
            <a:pPr/>
            <a:r>
              <a:rPr lang="zh-CN"/>
              <a:t>主节点会返回</a:t>
            </a:r>
            <a:r>
              <a:rPr lang="en-US"/>
              <a:t> +fullsync </a:t>
            </a:r>
            <a:r>
              <a:rPr lang="zh-CN"/>
              <a:t>告知对应全量同步的</a:t>
            </a:r>
            <a:r>
              <a:rPr lang="en-US"/>
              <a:t>\</a:t>
            </a:r>
            <a:r>
              <a:rPr lang="zh-CN"/>
              <a:t>的</a:t>
            </a:r>
            <a:r>
              <a:rPr lang="en-US"/>
              <a:t> repl id </a:t>
            </a:r>
            <a:r>
              <a:rPr lang="zh-CN"/>
              <a:t>和</a:t>
            </a:r>
            <a:r>
              <a:rPr lang="en-US"/>
              <a:t> repl offset </a:t>
            </a:r>
            <a:endParaRPr/>
          </a:p>
        </p:txBody>
      </p:sp>
    </p:spTree>
  </p:cSld>
</p:notes>
</file>

<file path=ppt/notesSlides/notesSlide21.xml><?xml version="1.0" encoding="utf-8"?>
<p:notes xmlns:a="http://schemas.openxmlformats.org/drawingml/2006/main" xmlns:p="http://schemas.openxmlformats.org/presentationml/2006/main">
  <p:cSld>
    <p:spTree>
      <p:nvGrpSpPr>
        <p:cNvPr id="43" name=""/>
        <p:cNvGrpSpPr/>
        <p:nvPr/>
      </p:nvGrpSpPr>
      <p:grpSpPr>
        <a:xfrm>
          <a:off x="0" y="0"/>
          <a:ext cx="0" cy="0"/>
          <a:chOff x="0" y="0"/>
          <a:chExt cx="0" cy="0"/>
        </a:xfrm>
      </p:grpSpPr>
      <p:sp>
        <p:nvSpPr>
          <p:cNvPr id="44" name=""/>
          <p:cNvSpPr/>
          <p:nvPr>
            <p:ph type="body"/>
          </p:nvPr>
        </p:nvSpPr>
        <p:spPr>
          <a:xfrm>
            <a:off x="0" y="0"/>
            <a:ext cx="177800" cy="444500"/>
          </a:xfrm>
          <a:prstGeom prst="rect">
            <a:avLst/>
          </a:prstGeom>
        </p:spPr>
        <p:txBody>
          <a:bodyPr/>
          <a:p>
            <a:pPr/>
            <a:r>
              <a:rPr lang="zh-CN"/>
              <a:t>当做完全量同步后，副本的</a:t>
            </a:r>
            <a:r>
              <a:rPr lang="en-US"/>
              <a:t> replid </a:t>
            </a:r>
            <a:r>
              <a:rPr lang="zh-CN"/>
              <a:t>和</a:t>
            </a:r>
            <a:r>
              <a:rPr lang="en-US"/>
              <a:t> repl offset </a:t>
            </a:r>
            <a:r>
              <a:rPr lang="zh-CN"/>
              <a:t>值和主节点会保持一致</a:t>
            </a:r>
            <a:endParaRPr/>
          </a:p>
        </p:txBody>
      </p:sp>
    </p:spTree>
  </p:cSld>
</p:notes>
</file>

<file path=ppt/notesSlides/notesSlide22.xml><?xml version="1.0" encoding="utf-8"?>
<p:notes xmlns:a="http://schemas.openxmlformats.org/drawingml/2006/main" xmlns:p="http://schemas.openxmlformats.org/presentationml/2006/main">
  <p:cSld>
    <p:spTree>
      <p:nvGrpSpPr>
        <p:cNvPr id="45" name=""/>
        <p:cNvGrpSpPr/>
        <p:nvPr/>
      </p:nvGrpSpPr>
      <p:grpSpPr>
        <a:xfrm>
          <a:off x="0" y="0"/>
          <a:ext cx="0" cy="0"/>
          <a:chOff x="0" y="0"/>
          <a:chExt cx="0" cy="0"/>
        </a:xfrm>
      </p:grpSpPr>
      <p:sp>
        <p:nvSpPr>
          <p:cNvPr id="46" name=""/>
          <p:cNvSpPr/>
          <p:nvPr>
            <p:ph type="body"/>
          </p:nvPr>
        </p:nvSpPr>
        <p:spPr>
          <a:xfrm>
            <a:off x="0" y="0"/>
            <a:ext cx="177800" cy="444500"/>
          </a:xfrm>
          <a:prstGeom prst="rect">
            <a:avLst/>
          </a:prstGeom>
        </p:spPr>
        <p:txBody>
          <a:bodyPr/>
          <a:p>
            <a:pPr/>
            <a:r>
              <a:rPr lang="zh-CN"/>
              <a:t>如果这个时候主从断连了，副本节点怎么进行重连？</a:t>
            </a:r>
            <a:endParaRPr/>
          </a:p>
        </p:txBody>
      </p:sp>
    </p:spTree>
  </p:cSld>
</p:notes>
</file>

<file path=ppt/notesSlides/notesSlide23.xml><?xml version="1.0" encoding="utf-8"?>
<p:notes xmlns:a="http://schemas.openxmlformats.org/drawingml/2006/main" xmlns:p="http://schemas.openxmlformats.org/presentationml/2006/main">
  <p:cSld>
    <p:spTree>
      <p:nvGrpSpPr>
        <p:cNvPr id="47" name=""/>
        <p:cNvGrpSpPr/>
        <p:nvPr/>
      </p:nvGrpSpPr>
      <p:grpSpPr>
        <a:xfrm>
          <a:off x="0" y="0"/>
          <a:ext cx="0" cy="0"/>
          <a:chOff x="0" y="0"/>
          <a:chExt cx="0" cy="0"/>
        </a:xfrm>
      </p:grpSpPr>
      <p:sp>
        <p:nvSpPr>
          <p:cNvPr id="48" name=""/>
          <p:cNvSpPr/>
          <p:nvPr>
            <p:ph type="body"/>
          </p:nvPr>
        </p:nvSpPr>
        <p:spPr>
          <a:xfrm>
            <a:off x="0" y="0"/>
            <a:ext cx="177800" cy="444500"/>
          </a:xfrm>
          <a:prstGeom prst="rect">
            <a:avLst/>
          </a:prstGeom>
        </p:spPr>
        <p:txBody>
          <a:bodyPr/>
          <a:p>
            <a:pPr/>
            <a:r>
              <a:rPr lang="zh-CN"/>
              <a:t>副本节点会在</a:t>
            </a:r>
            <a:r>
              <a:rPr lang="en-US"/>
              <a:t> cron </a:t>
            </a:r>
            <a:r>
              <a:rPr lang="zh-CN"/>
              <a:t>跟主节点进行重连，此时副本节点会用已有的</a:t>
            </a:r>
            <a:r>
              <a:rPr lang="en-US"/>
              <a:t> replid </a:t>
            </a:r>
            <a:r>
              <a:rPr lang="zh-CN"/>
              <a:t>和</a:t>
            </a:r>
            <a:r>
              <a:rPr lang="en-US"/>
              <a:t> repl offset </a:t>
            </a:r>
            <a:r>
              <a:rPr lang="zh-CN"/>
              <a:t>跟主节点进行</a:t>
            </a:r>
            <a:r>
              <a:rPr lang="en-US"/>
              <a:t> psync</a:t>
            </a:r>
            <a:endParaRPr/>
          </a:p>
          <a:p>
            <a:pPr/>
            <a:r>
              <a:rPr lang="zh-CN"/>
              <a:t>这里因为主节点是空的，所以根据</a:t>
            </a:r>
            <a:r>
              <a:rPr lang="en-US"/>
              <a:t> psync range </a:t>
            </a:r>
            <a:r>
              <a:rPr lang="zh-CN"/>
              <a:t>副本的</a:t>
            </a:r>
            <a:r>
              <a:rPr lang="en-US"/>
              <a:t> psync </a:t>
            </a:r>
            <a:r>
              <a:rPr lang="zh-CN"/>
              <a:t>会成功，主节点会返回</a:t>
            </a:r>
            <a:r>
              <a:rPr lang="en-US"/>
              <a:t> +CONTINUE</a:t>
            </a:r>
            <a:endParaRPr/>
          </a:p>
        </p:txBody>
      </p:sp>
    </p:spTree>
  </p:cSld>
</p:notes>
</file>

<file path=ppt/notesSlides/notesSlide24.xml><?xml version="1.0" encoding="utf-8"?>
<p:notes xmlns:a="http://schemas.openxmlformats.org/drawingml/2006/main" xmlns:p="http://schemas.openxmlformats.org/presentationml/2006/main">
  <p:cSld>
    <p:spTree>
      <p:nvGrpSpPr>
        <p:cNvPr id="49" name=""/>
        <p:cNvGrpSpPr/>
        <p:nvPr/>
      </p:nvGrpSpPr>
      <p:grpSpPr>
        <a:xfrm>
          <a:off x="0" y="0"/>
          <a:ext cx="0" cy="0"/>
          <a:chOff x="0" y="0"/>
          <a:chExt cx="0" cy="0"/>
        </a:xfrm>
      </p:grpSpPr>
      <p:sp>
        <p:nvSpPr>
          <p:cNvPr id="50" name=""/>
          <p:cNvSpPr/>
          <p:nvPr>
            <p:ph type="body"/>
          </p:nvPr>
        </p:nvSpPr>
        <p:spPr>
          <a:xfrm>
            <a:off x="0" y="0"/>
            <a:ext cx="177800" cy="444500"/>
          </a:xfrm>
          <a:prstGeom prst="rect">
            <a:avLst/>
          </a:prstGeom>
        </p:spPr>
        <p:txBody>
          <a:bodyPr/>
          <a:p>
            <a:pPr/>
            <a:r>
              <a:rPr lang="zh-CN"/>
              <a:t>我们加点数据看看</a:t>
            </a:r>
            <a:r>
              <a:rPr lang="en-US"/>
              <a:t> psync </a:t>
            </a:r>
            <a:r>
              <a:rPr lang="zh-CN"/>
              <a:t>是怎么工作的</a:t>
            </a:r>
            <a:endParaRPr/>
          </a:p>
          <a:p>
            <a:pPr/>
            <a:endParaRPr lang="zh-CN"/>
          </a:p>
          <a:p>
            <a:pPr/>
            <a:r>
              <a:rPr lang="zh-CN"/>
              <a:t>客户端写入</a:t>
            </a:r>
            <a:r>
              <a:rPr lang="en-US"/>
              <a:t> k1 v1 </a:t>
            </a:r>
            <a:r>
              <a:rPr lang="zh-CN"/>
              <a:t>后主节点相关变量状态如图，此时</a:t>
            </a:r>
            <a:r>
              <a:rPr lang="en-US"/>
              <a:t> set k1 v1 </a:t>
            </a:r>
            <a:r>
              <a:rPr lang="zh-CN"/>
              <a:t>没有传播到副本节点，主从连接断开</a:t>
            </a:r>
            <a:endParaRPr/>
          </a:p>
        </p:txBody>
      </p:sp>
    </p:spTree>
  </p:cSld>
</p:notes>
</file>

<file path=ppt/notesSlides/notesSlide25.xml><?xml version="1.0" encoding="utf-8"?>
<p:notes xmlns:a="http://schemas.openxmlformats.org/drawingml/2006/main" xmlns:p="http://schemas.openxmlformats.org/presentationml/2006/main">
  <p:cSld>
    <p:spTree>
      <p:nvGrpSpPr>
        <p:cNvPr id="51" name=""/>
        <p:cNvGrpSpPr/>
        <p:nvPr/>
      </p:nvGrpSpPr>
      <p:grpSpPr>
        <a:xfrm>
          <a:off x="0" y="0"/>
          <a:ext cx="0" cy="0"/>
          <a:chOff x="0" y="0"/>
          <a:chExt cx="0" cy="0"/>
        </a:xfrm>
      </p:grpSpPr>
      <p:sp>
        <p:nvSpPr>
          <p:cNvPr id="52" name=""/>
          <p:cNvSpPr/>
          <p:nvPr>
            <p:ph type="body"/>
          </p:nvPr>
        </p:nvSpPr>
        <p:spPr>
          <a:xfrm>
            <a:off x="0" y="0"/>
            <a:ext cx="177800" cy="444500"/>
          </a:xfrm>
          <a:prstGeom prst="rect">
            <a:avLst/>
          </a:prstGeom>
        </p:spPr>
        <p:txBody>
          <a:bodyPr/>
          <a:p>
            <a:pPr/>
            <a:r>
              <a:rPr lang="zh-CN"/>
              <a:t>副本在重连后会请求</a:t>
            </a:r>
            <a:r>
              <a:rPr lang="en-US"/>
              <a:t> psync</a:t>
            </a:r>
            <a:r>
              <a:rPr lang="zh-CN"/>
              <a:t>，因为</a:t>
            </a:r>
            <a:r>
              <a:rPr lang="en-US"/>
              <a:t> offset </a:t>
            </a:r>
            <a:r>
              <a:rPr lang="zh-CN"/>
              <a:t>是可以落在</a:t>
            </a:r>
            <a:r>
              <a:rPr lang="en-US"/>
              <a:t> psync range </a:t>
            </a:r>
            <a:r>
              <a:rPr lang="zh-CN"/>
              <a:t>范围里的，所以</a:t>
            </a:r>
            <a:r>
              <a:rPr lang="en-US"/>
              <a:t> psync </a:t>
            </a:r>
            <a:r>
              <a:rPr lang="zh-CN"/>
              <a:t>会返回</a:t>
            </a:r>
            <a:r>
              <a:rPr lang="en-US"/>
              <a:t> +CONTINUE</a:t>
            </a:r>
            <a:endParaRPr/>
          </a:p>
        </p:txBody>
      </p:sp>
    </p:spTree>
  </p:cSld>
</p:notes>
</file>

<file path=ppt/notesSlides/notesSlide26.xml><?xml version="1.0" encoding="utf-8"?>
<p:notes xmlns:a="http://schemas.openxmlformats.org/drawingml/2006/main" xmlns:p="http://schemas.openxmlformats.org/presentationml/2006/main">
  <p:cSld>
    <p:spTree>
      <p:nvGrpSpPr>
        <p:cNvPr id="53" name=""/>
        <p:cNvGrpSpPr/>
        <p:nvPr/>
      </p:nvGrpSpPr>
      <p:grpSpPr>
        <a:xfrm>
          <a:off x="0" y="0"/>
          <a:ext cx="0" cy="0"/>
          <a:chOff x="0" y="0"/>
          <a:chExt cx="0" cy="0"/>
        </a:xfrm>
      </p:grpSpPr>
      <p:sp>
        <p:nvSpPr>
          <p:cNvPr id="54" name=""/>
          <p:cNvSpPr/>
          <p:nvPr>
            <p:ph type="body"/>
          </p:nvPr>
        </p:nvSpPr>
        <p:spPr>
          <a:xfrm>
            <a:off x="0" y="0"/>
            <a:ext cx="177800" cy="444500"/>
          </a:xfrm>
          <a:prstGeom prst="rect">
            <a:avLst/>
          </a:prstGeom>
        </p:spPr>
        <p:txBody>
          <a:bodyPr/>
          <a:p>
            <a:pPr/>
            <a:r>
              <a:rPr lang="zh-CN"/>
              <a:t>接着客户端写入</a:t>
            </a:r>
            <a:r>
              <a:rPr lang="en-US"/>
              <a:t> k2 v2</a:t>
            </a:r>
            <a:r>
              <a:rPr lang="zh-CN"/>
              <a:t>，在传播给副本节点之前，副本断连了</a:t>
            </a:r>
            <a:endParaRPr/>
          </a:p>
        </p:txBody>
      </p:sp>
    </p:spTree>
  </p:cSld>
</p:notes>
</file>

<file path=ppt/notesSlides/notesSlide27.xml><?xml version="1.0" encoding="utf-8"?>
<p:notes xmlns:a="http://schemas.openxmlformats.org/drawingml/2006/main" xmlns:p="http://schemas.openxmlformats.org/presentationml/2006/main">
  <p:cSld>
    <p:spTree>
      <p:nvGrpSpPr>
        <p:cNvPr id="55" name=""/>
        <p:cNvGrpSpPr/>
        <p:nvPr/>
      </p:nvGrpSpPr>
      <p:grpSpPr>
        <a:xfrm>
          <a:off x="0" y="0"/>
          <a:ext cx="0" cy="0"/>
          <a:chOff x="0" y="0"/>
          <a:chExt cx="0" cy="0"/>
        </a:xfrm>
      </p:grpSpPr>
      <p:sp>
        <p:nvSpPr>
          <p:cNvPr id="56" name=""/>
          <p:cNvSpPr/>
          <p:nvPr>
            <p:ph type="body"/>
          </p:nvPr>
        </p:nvSpPr>
        <p:spPr>
          <a:xfrm>
            <a:off x="0" y="0"/>
            <a:ext cx="177800" cy="444500"/>
          </a:xfrm>
          <a:prstGeom prst="rect">
            <a:avLst/>
          </a:prstGeom>
        </p:spPr>
        <p:txBody>
          <a:bodyPr/>
          <a:p>
            <a:pPr/>
            <a:r>
              <a:rPr lang="zh-CN"/>
              <a:t>这个时候副本重连后会进行</a:t>
            </a:r>
            <a:r>
              <a:rPr lang="en-US"/>
              <a:t> pysnc</a:t>
            </a:r>
            <a:r>
              <a:rPr lang="zh-CN"/>
              <a:t>，此时</a:t>
            </a:r>
            <a:r>
              <a:rPr lang="en-US"/>
              <a:t> psync offset </a:t>
            </a:r>
            <a:r>
              <a:rPr lang="zh-CN"/>
              <a:t>为</a:t>
            </a:r>
            <a:r>
              <a:rPr lang="en-US"/>
              <a:t> 8</a:t>
            </a:r>
            <a:r>
              <a:rPr lang="zh-CN"/>
              <a:t>，然后</a:t>
            </a:r>
            <a:r>
              <a:rPr lang="en-US"/>
              <a:t> range </a:t>
            </a:r>
            <a:r>
              <a:rPr lang="zh-CN"/>
              <a:t>为</a:t>
            </a:r>
            <a:r>
              <a:rPr lang="en-US"/>
              <a:t> [5, 15]</a:t>
            </a:r>
            <a:r>
              <a:rPr lang="zh-CN"/>
              <a:t>，</a:t>
            </a:r>
            <a:r>
              <a:rPr lang="en-US"/>
              <a:t>psync </a:t>
            </a:r>
            <a:r>
              <a:rPr lang="zh-CN"/>
              <a:t>返回</a:t>
            </a:r>
            <a:r>
              <a:rPr lang="en-US"/>
              <a:t> +CONTINUE</a:t>
            </a:r>
            <a:endParaRPr/>
          </a:p>
        </p:txBody>
      </p:sp>
    </p:spTree>
  </p:cSld>
</p:notes>
</file>

<file path=ppt/notesSlides/notesSlide28.xml><?xml version="1.0" encoding="utf-8"?>
<p:notes xmlns:a="http://schemas.openxmlformats.org/drawingml/2006/main" xmlns:p="http://schemas.openxmlformats.org/presentationml/2006/main">
  <p:cSld>
    <p:spTree>
      <p:nvGrpSpPr>
        <p:cNvPr id="57" name=""/>
        <p:cNvGrpSpPr/>
        <p:nvPr/>
      </p:nvGrpSpPr>
      <p:grpSpPr>
        <a:xfrm>
          <a:off x="0" y="0"/>
          <a:ext cx="0" cy="0"/>
          <a:chOff x="0" y="0"/>
          <a:chExt cx="0" cy="0"/>
        </a:xfrm>
      </p:grpSpPr>
      <p:sp>
        <p:nvSpPr>
          <p:cNvPr id="58" name=""/>
          <p:cNvSpPr/>
          <p:nvPr>
            <p:ph type="body"/>
          </p:nvPr>
        </p:nvSpPr>
        <p:spPr>
          <a:xfrm>
            <a:off x="0" y="0"/>
            <a:ext cx="177800" cy="444500"/>
          </a:xfrm>
          <a:prstGeom prst="rect">
            <a:avLst/>
          </a:prstGeom>
        </p:spPr>
        <p:txBody>
          <a:bodyPr/>
          <a:p>
            <a:pPr/>
            <a:r>
              <a:rPr lang="zh-CN"/>
              <a:t>前面的很容易理解，都是成功的，我们现在来看一个失败的例子
客户端发送了两个命令，这两条命令都没有传播到副本节点，副本节点断连了</a:t>
            </a:r>
            <a:endParaRPr/>
          </a:p>
        </p:txBody>
      </p:sp>
    </p:spTree>
  </p:cSld>
</p:notes>
</file>

<file path=ppt/notesSlides/notesSlide29.xml><?xml version="1.0" encoding="utf-8"?>
<p:notes xmlns:a="http://schemas.openxmlformats.org/drawingml/2006/main" xmlns:p="http://schemas.openxmlformats.org/presentationml/2006/main">
  <p:cSld>
    <p:spTree>
      <p:nvGrpSpPr>
        <p:cNvPr id="59" name=""/>
        <p:cNvGrpSpPr/>
        <p:nvPr/>
      </p:nvGrpSpPr>
      <p:grpSpPr>
        <a:xfrm>
          <a:off x="0" y="0"/>
          <a:ext cx="0" cy="0"/>
          <a:chOff x="0" y="0"/>
          <a:chExt cx="0" cy="0"/>
        </a:xfrm>
      </p:grpSpPr>
      <p:sp>
        <p:nvSpPr>
          <p:cNvPr id="60" name=""/>
          <p:cNvSpPr/>
          <p:nvPr>
            <p:ph type="body"/>
          </p:nvPr>
        </p:nvSpPr>
        <p:spPr>
          <a:xfrm>
            <a:off x="0" y="0"/>
            <a:ext cx="177800" cy="444500"/>
          </a:xfrm>
          <a:prstGeom prst="rect">
            <a:avLst/>
          </a:prstGeom>
        </p:spPr>
        <p:txBody>
          <a:bodyPr/>
          <a:p>
            <a:pPr/>
            <a:r>
              <a:rPr lang="zh-CN"/>
              <a:t>之后副本节点重连后会用偏移量为</a:t>
            </a:r>
            <a:r>
              <a:rPr lang="en-US"/>
              <a:t> 1 </a:t>
            </a:r>
            <a:r>
              <a:rPr lang="zh-CN"/>
              <a:t>的</a:t>
            </a:r>
            <a:r>
              <a:rPr lang="en-US"/>
              <a:t> offset </a:t>
            </a:r>
            <a:r>
              <a:rPr lang="zh-CN"/>
              <a:t>去进行</a:t>
            </a:r>
            <a:r>
              <a:rPr lang="en-US"/>
              <a:t> psync</a:t>
            </a:r>
            <a:endParaRPr/>
          </a:p>
          <a:p>
            <a:pPr/>
            <a:r>
              <a:rPr lang="zh-CN"/>
              <a:t>然后因为</a:t>
            </a:r>
            <a:r>
              <a:rPr lang="en-US"/>
              <a:t> backlog </a:t>
            </a:r>
            <a:r>
              <a:rPr lang="zh-CN"/>
              <a:t>容量不够，</a:t>
            </a:r>
            <a:r>
              <a:rPr lang="en-US"/>
              <a:t>set k1 v1 </a:t>
            </a:r>
            <a:r>
              <a:rPr lang="zh-CN"/>
              <a:t>有部分数据已经被覆盖了</a:t>
            </a:r>
            <a:endParaRPr/>
          </a:p>
          <a:p>
            <a:pPr/>
            <a:r>
              <a:rPr lang="en-US"/>
              <a:t>offset = 1 </a:t>
            </a:r>
            <a:r>
              <a:rPr lang="zh-CN"/>
              <a:t>没办法落到</a:t>
            </a:r>
            <a:r>
              <a:rPr lang="en-US"/>
              <a:t> psync range </a:t>
            </a:r>
            <a:r>
              <a:rPr lang="zh-CN"/>
              <a:t>上，所以返回了</a:t>
            </a:r>
            <a:r>
              <a:rPr lang="en-US"/>
              <a:t> +FULLRESYNC</a:t>
            </a:r>
            <a:endParaRPr/>
          </a:p>
          <a:p>
            <a:pPr/>
            <a:endParaRPr lang="en-US"/>
          </a:p>
          <a:p>
            <a:pPr/>
            <a:r>
              <a:rPr lang="zh-CN"/>
              <a:t>到这里，对</a:t>
            </a:r>
            <a:r>
              <a:rPr lang="en-US"/>
              <a:t> psync </a:t>
            </a:r>
            <a:r>
              <a:rPr lang="zh-CN"/>
              <a:t>的大概原理和细节，大家应该都清楚了</a:t>
            </a:r>
            <a:endParaRPr/>
          </a:p>
        </p:txBody>
      </p:sp>
    </p:spTree>
  </p:cSld>
</p:notes>
</file>

<file path=ppt/notesSlides/notesSlide30.xml><?xml version="1.0" encoding="utf-8"?>
<p:notes xmlns:a="http://schemas.openxmlformats.org/drawingml/2006/main" xmlns:p="http://schemas.openxmlformats.org/presentationml/2006/main">
  <p:cSld>
    <p:spTree>
      <p:nvGrpSpPr>
        <p:cNvPr id="61" name=""/>
        <p:cNvGrpSpPr/>
        <p:nvPr/>
      </p:nvGrpSpPr>
      <p:grpSpPr>
        <a:xfrm>
          <a:off x="0" y="0"/>
          <a:ext cx="0" cy="0"/>
          <a:chOff x="0" y="0"/>
          <a:chExt cx="0" cy="0"/>
        </a:xfrm>
      </p:grpSpPr>
      <p:sp>
        <p:nvSpPr>
          <p:cNvPr id="62" name=""/>
          <p:cNvSpPr/>
          <p:nvPr>
            <p:ph type="body"/>
          </p:nvPr>
        </p:nvSpPr>
        <p:spPr>
          <a:xfrm>
            <a:off x="0" y="0"/>
            <a:ext cx="177800" cy="444500"/>
          </a:xfrm>
          <a:prstGeom prst="rect">
            <a:avLst/>
          </a:prstGeom>
        </p:spPr>
        <p:txBody>
          <a:bodyPr/>
          <a:p>
            <a:pPr/>
            <a:r>
              <a:rPr lang="zh-CN"/>
              <a:t>接下来提一下相关的配置项</a:t>
            </a:r>
            <a:endParaRPr/>
          </a:p>
          <a:p>
            <a:pPr/>
            <a:endParaRPr/>
          </a:p>
          <a:p>
            <a:pPr/>
            <a:r>
              <a:rPr/>
              <a:t>repl-backlog-size 就是复制积压缓冲区能占用的字节大小，它的值在老版本里是 1MB，在 Valkey8.0 里是 10mb。</a:t>
            </a:r>
            <a:endParaRPr/>
          </a:p>
          <a:p>
            <a:pPr/>
            <a:endParaRPr lang="en-US"/>
          </a:p>
          <a:p>
            <a:pPr/>
            <a:r>
              <a:rPr lang="en-US"/>
              <a:t>client-output-buffer-limit replica </a:t>
            </a:r>
            <a:r>
              <a:rPr lang="zh-CN"/>
              <a:t>有个硬限制</a:t>
            </a:r>
            <a:r>
              <a:rPr lang="en-US"/>
              <a:t> 256mb</a:t>
            </a:r>
            <a:r>
              <a:rPr lang="zh-CN"/>
              <a:t>，和一个</a:t>
            </a:r>
            <a:r>
              <a:rPr lang="en-US"/>
              <a:t> 60s </a:t>
            </a:r>
            <a:r>
              <a:rPr lang="zh-CN"/>
              <a:t>窗口里的</a:t>
            </a:r>
            <a:r>
              <a:rPr lang="en-US"/>
              <a:t> 64mb </a:t>
            </a:r>
            <a:r>
              <a:rPr lang="zh-CN"/>
              <a:t>软限制。怎么理解它？
如果这条副本客户端连接，堆积的输出缓冲区大小超过了</a:t>
            </a:r>
            <a:r>
              <a:rPr lang="en-US"/>
              <a:t> 256mb </a:t>
            </a:r>
            <a:r>
              <a:rPr lang="zh-CN"/>
              <a:t>的硬限制，那么主节点侧会立马断开这个连接。</a:t>
            </a:r>
            <a:endParaRPr/>
          </a:p>
          <a:p>
            <a:pPr/>
            <a:r>
              <a:rPr lang="zh-CN"/>
              <a:t>前面我们有提到客户端缓冲区，大家都有印象，主节点没有无限多的内存可以暂存这个内容，所以当达到硬限制后，主节点会主动断开这个连接以释放资源，副本在断连后可以尝试</a:t>
            </a:r>
            <a:r>
              <a:rPr lang="en-US"/>
              <a:t> psync </a:t>
            </a:r>
            <a:r>
              <a:rPr lang="zh-CN"/>
              <a:t>或者</a:t>
            </a:r>
            <a:r>
              <a:rPr lang="en-US"/>
              <a:t> full sync</a:t>
            </a:r>
            <a:r>
              <a:rPr lang="zh-CN"/>
              <a:t>。
同时还有一个</a:t>
            </a:r>
            <a:r>
              <a:rPr lang="en-US"/>
              <a:t> 60s </a:t>
            </a:r>
            <a:r>
              <a:rPr lang="zh-CN"/>
              <a:t>窗口里的</a:t>
            </a:r>
            <a:r>
              <a:rPr lang="en-US"/>
              <a:t> 64mb </a:t>
            </a:r>
            <a:r>
              <a:rPr lang="zh-CN"/>
              <a:t>软限制，尽管没有达到硬限制，但如果副本客户端在</a:t>
            </a:r>
            <a:r>
              <a:rPr lang="en-US"/>
              <a:t> 60s </a:t>
            </a:r>
            <a:r>
              <a:rPr lang="zh-CN"/>
              <a:t>内，输出缓冲区的内容持续大于</a:t>
            </a:r>
            <a:r>
              <a:rPr lang="en-US"/>
              <a:t> 64mb</a:t>
            </a:r>
            <a:r>
              <a:rPr lang="zh-CN"/>
              <a:t>，这意味着副本没有办法足够快的消费这些内容，在这种情况下，主节点也会主动断开这个连接。</a:t>
            </a:r>
            <a:endParaRPr/>
          </a:p>
        </p:txBody>
      </p:sp>
    </p:spTree>
  </p:cSld>
</p:notes>
</file>

<file path=ppt/notesSlides/notesSlide31.xml><?xml version="1.0" encoding="utf-8"?>
<p:notes xmlns:a="http://schemas.openxmlformats.org/drawingml/2006/main" xmlns:p="http://schemas.openxmlformats.org/presentationml/2006/main">
  <p:cSld>
    <p:spTree>
      <p:nvGrpSpPr>
        <p:cNvPr id="63" name=""/>
        <p:cNvGrpSpPr/>
        <p:nvPr/>
      </p:nvGrpSpPr>
      <p:grpSpPr>
        <a:xfrm>
          <a:off x="0" y="0"/>
          <a:ext cx="0" cy="0"/>
          <a:chOff x="0" y="0"/>
          <a:chExt cx="0" cy="0"/>
        </a:xfrm>
      </p:grpSpPr>
      <p:sp>
        <p:nvSpPr>
          <p:cNvPr id="64" name=""/>
          <p:cNvSpPr/>
          <p:nvPr>
            <p:ph type="body"/>
          </p:nvPr>
        </p:nvSpPr>
        <p:spPr>
          <a:xfrm>
            <a:off x="0" y="0"/>
            <a:ext cx="177800" cy="444500"/>
          </a:xfrm>
          <a:prstGeom prst="rect">
            <a:avLst/>
          </a:prstGeom>
        </p:spPr>
        <p:txBody>
          <a:bodyPr/>
          <a:p>
            <a:pPr/>
            <a:r>
              <a:rPr lang="zh-CN"/>
              <a:t>接下来提一下相关的监控命令</a:t>
            </a:r>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65" name=""/>
        <p:cNvGrpSpPr/>
        <p:nvPr/>
      </p:nvGrpSpPr>
      <p:grpSpPr>
        <a:xfrm>
          <a:off x="0" y="0"/>
          <a:ext cx="0" cy="0"/>
          <a:chOff x="0" y="0"/>
          <a:chExt cx="0" cy="0"/>
        </a:xfrm>
      </p:grpSpPr>
      <p:sp>
        <p:nvSpPr>
          <p:cNvPr id="66" name=""/>
          <p:cNvSpPr/>
          <p:nvPr>
            <p:ph type="body"/>
          </p:nvPr>
        </p:nvSpPr>
        <p:spPr>
          <a:xfrm>
            <a:off x="0" y="0"/>
            <a:ext cx="177800" cy="444500"/>
          </a:xfrm>
          <a:prstGeom prst="rect">
            <a:avLst/>
          </a:prstGeom>
        </p:spPr>
        <p:txBody>
          <a:bodyPr/>
          <a:p>
            <a:pPr/>
            <a:r>
              <a:rPr lang="en-US">
                <a:hlinkClick r:id="rId2"/>
              </a:rPr>
              <a:t>https://valkey.io/commands/role/</a:t>
            </a:r>
            <a:endParaRPr/>
          </a:p>
          <a:p>
            <a:pPr/>
            <a:br>
              <a:rPr/>
            </a:br>
            <a:r>
              <a:rPr lang="zh-CN"/>
              <a:t>当你在主节点上使用时，它会显示我是一个主节点，我在这个复制偏移量上，我有两个副本节点，它们在什么</a:t>
            </a:r>
            <a:r>
              <a:rPr lang="en-US"/>
              <a:t> IP/port </a:t>
            </a:r>
            <a:r>
              <a:rPr lang="zh-CN"/>
              <a:t>上，它们各自的复制偏移量是多少。</a:t>
            </a:r>
            <a:endParaRPr/>
          </a:p>
          <a:p>
            <a:pPr/>
            <a:r>
              <a:rPr lang="en-US"/>
              <a:t>role </a:t>
            </a:r>
            <a:r>
              <a:rPr lang="zh-CN"/>
              <a:t>命令在主节点上会显示那些</a:t>
            </a:r>
            <a:r>
              <a:rPr lang="en-US"/>
              <a:t> online </a:t>
            </a:r>
            <a:r>
              <a:rPr lang="zh-CN"/>
              <a:t>了的</a:t>
            </a:r>
            <a:r>
              <a:rPr lang="zh-CN"/>
              <a:t>副本节点。</a:t>
            </a:r>
            <a:endParaRPr/>
          </a:p>
          <a:p>
            <a:pPr/>
            <a:r>
              <a:rPr lang="zh-CN"/>
              <a:t>
当你在副本节点上使用时，它会显示我是一个副本节点，我的主节点的</a:t>
            </a:r>
            <a:r>
              <a:rPr lang="en-US"/>
              <a:t> IP/port</a:t>
            </a:r>
            <a:r>
              <a:rPr lang="zh-CN"/>
              <a:t>，我在哪个复制偏移量上。</a:t>
            </a:r>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67" name=""/>
        <p:cNvGrpSpPr/>
        <p:nvPr/>
      </p:nvGrpSpPr>
      <p:grpSpPr>
        <a:xfrm>
          <a:off x="0" y="0"/>
          <a:ext cx="0" cy="0"/>
          <a:chOff x="0" y="0"/>
          <a:chExt cx="0" cy="0"/>
        </a:xfrm>
      </p:grpSpPr>
      <p:sp>
        <p:nvSpPr>
          <p:cNvPr id="68" name=""/>
          <p:cNvSpPr/>
          <p:nvPr>
            <p:ph type="body"/>
          </p:nvPr>
        </p:nvSpPr>
        <p:spPr>
          <a:xfrm>
            <a:off x="0" y="0"/>
            <a:ext cx="177800" cy="444500"/>
          </a:xfrm>
          <a:prstGeom prst="rect">
            <a:avLst/>
          </a:prstGeom>
        </p:spPr>
        <p:txBody>
          <a:bodyPr/>
          <a:p>
            <a:pPr/>
            <a:r>
              <a:rPr lang="en-US"/>
              <a:t>info replication</a:t>
            </a:r>
            <a:endParaRPr/>
          </a:p>
          <a:p>
            <a:pPr/>
            <a:r>
              <a:rPr lang="en-US">
                <a:solidFill>
                  <a:srgbClr val="000000">
                    <a:alpha val="100000"/>
                  </a:srgbClr>
                </a:solidFill>
                <a:latin typeface="PingFang SC"/>
                <a:ea typeface="PingFang SC"/>
                <a:hlinkClick r:id="rId2"/>
              </a:rPr>
              <a:t>https://valkey.io/commands/info/</a:t>
            </a:r>
            <a:endParaRPr/>
          </a:p>
          <a:p>
            <a:pPr/>
            <a:br>
              <a:rPr/>
            </a:br>
            <a:r>
              <a:rPr lang="zh-CN"/>
              <a:t>主节点视角，我删减掉了一些不关联的字段
响应中可以看出主节点底下，有多少个副本，每个副本的信息和状态等
以及还有</a:t>
            </a:r>
            <a:r>
              <a:rPr lang="en-US"/>
              <a:t> </a:t>
            </a:r>
            <a:r>
              <a:rPr lang="zh-CN"/>
              <a:t>复制</a:t>
            </a:r>
            <a:r>
              <a:rPr lang="en-US"/>
              <a:t> id/first byte offset / histlen </a:t>
            </a:r>
            <a:r>
              <a:rPr lang="zh-CN"/>
              <a:t>等信息</a:t>
            </a:r>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69" name=""/>
        <p:cNvGrpSpPr/>
        <p:nvPr/>
      </p:nvGrpSpPr>
      <p:grpSpPr>
        <a:xfrm>
          <a:off x="0" y="0"/>
          <a:ext cx="0" cy="0"/>
          <a:chOff x="0" y="0"/>
          <a:chExt cx="0" cy="0"/>
        </a:xfrm>
      </p:grpSpPr>
      <p:sp>
        <p:nvSpPr>
          <p:cNvPr id="70" name=""/>
          <p:cNvSpPr/>
          <p:nvPr>
            <p:ph type="body"/>
          </p:nvPr>
        </p:nvSpPr>
        <p:spPr>
          <a:xfrm>
            <a:off x="0" y="0"/>
            <a:ext cx="177800" cy="444500"/>
          </a:xfrm>
          <a:prstGeom prst="rect">
            <a:avLst/>
          </a:prstGeom>
        </p:spPr>
        <p:txBody>
          <a:bodyPr/>
          <a:p>
            <a:pPr marL="0" lvl="0" indent="0">
              <a:buNone/>
            </a:pPr>
            <a:r>
              <a:rPr lang="en-US"/>
              <a:t>info replication</a:t>
            </a:r>
            <a:endParaRPr/>
          </a:p>
          <a:p>
            <a:pPr marL="0" lvl="0" indent="0">
              <a:buNone/>
            </a:pPr>
            <a:r>
              <a:rPr lang="en-US">
                <a:solidFill>
                  <a:srgbClr val="000000">
                    <a:alpha val="100000"/>
                  </a:srgbClr>
                </a:solidFill>
                <a:latin typeface="PingFang SC"/>
                <a:ea typeface="PingFang SC"/>
                <a:hlinkClick r:id="rId2"/>
              </a:rPr>
              <a:t>https://valkey.io/commands/info/</a:t>
            </a:r>
            <a:endParaRPr/>
          </a:p>
          <a:p>
            <a:pPr marL="0" lvl="0" indent="0">
              <a:buNone/>
            </a:pPr>
            <a:endParaRPr lang="en-US">
              <a:solidFill>
                <a:srgbClr val="000000">
                  <a:alpha val="100000"/>
                </a:srgbClr>
              </a:solidFill>
              <a:latin typeface="PingFang SC"/>
              <a:ea typeface="PingFang SC"/>
            </a:endParaRPr>
          </a:p>
          <a:p>
            <a:pPr/>
            <a:r>
              <a:rPr lang="zh-CN"/>
              <a:t>副本节点视角
主节点信息，复制</a:t>
            </a:r>
            <a:r>
              <a:rPr lang="en-US"/>
              <a:t> id</a:t>
            </a:r>
            <a:r>
              <a:rPr lang="zh-CN"/>
              <a:t>，偏移量，也都有类似的信息</a:t>
            </a:r>
            <a:endParaRPr/>
          </a:p>
        </p:txBody>
      </p:sp>
    </p:spTree>
  </p:cSld>
</p:notes>
</file>

<file path=ppt/notesSlides/notesSlide35.xml><?xml version="1.0" encoding="utf-8"?>
<p:notes xmlns:a="http://schemas.openxmlformats.org/drawingml/2006/main" xmlns:p="http://schemas.openxmlformats.org/presentationml/2006/main">
  <p:cSld>
    <p:spTree>
      <p:nvGrpSpPr>
        <p:cNvPr id="71" name=""/>
        <p:cNvGrpSpPr/>
        <p:nvPr/>
      </p:nvGrpSpPr>
      <p:grpSpPr>
        <a:xfrm>
          <a:off x="0" y="0"/>
          <a:ext cx="0" cy="0"/>
          <a:chOff x="0" y="0"/>
          <a:chExt cx="0" cy="0"/>
        </a:xfrm>
      </p:grpSpPr>
      <p:sp>
        <p:nvSpPr>
          <p:cNvPr id="72" name=""/>
          <p:cNvSpPr/>
          <p:nvPr>
            <p:ph type="body"/>
          </p:nvPr>
        </p:nvSpPr>
        <p:spPr>
          <a:xfrm>
            <a:off x="0" y="0"/>
            <a:ext cx="177800" cy="444500"/>
          </a:xfrm>
          <a:prstGeom prst="rect">
            <a:avLst/>
          </a:prstGeom>
        </p:spPr>
        <p:txBody>
          <a:bodyPr/>
          <a:p>
            <a:pPr/>
            <a:r>
              <a:rPr lang="zh-CN"/>
              <a:t>接下来想讨论复制过程中内存占用的问题，这个其实是我们的重头戏，再后面我们就可以引出</a:t>
            </a:r>
            <a:r>
              <a:rPr lang="en-US"/>
              <a:t> dual channel </a:t>
            </a:r>
            <a:r>
              <a:rPr lang="zh-CN"/>
              <a:t>部分了。</a:t>
            </a:r>
            <a:r>
              <a:rPr lang="en-US"/>
              <a:t>
Valkey </a:t>
            </a:r>
            <a:r>
              <a:rPr lang="zh-CN"/>
              <a:t>是一个内存数据库，你大部分内存其实都会用来存储用户数据，除去数据内存之外，我们在主从复制部分需要关心哪些内存？</a:t>
            </a:r>
            <a:r>
              <a:rPr lang="en-US"/>
              <a:t>
</a:t>
            </a:r>
            <a:r>
              <a:rPr lang="zh-CN"/>
              <a:t>首先就是</a:t>
            </a:r>
            <a:r>
              <a:rPr lang="en-US"/>
              <a:t> backlog buffer</a:t>
            </a:r>
            <a:r>
              <a:rPr lang="zh-CN"/>
              <a:t>，我们之前有提到过这个复制积压缓冲区，它会开辟一块内存空间来存储一些复制流数据。
然后还有客户端输出缓冲区，对应到这边就是副本的客户端输出缓冲区。</a:t>
            </a:r>
            <a:r>
              <a:rPr lang="en-US"/>
              <a:t>
Valkey </a:t>
            </a:r>
            <a:r>
              <a:rPr lang="zh-CN"/>
              <a:t>有个</a:t>
            </a:r>
            <a:r>
              <a:rPr lang="en-US"/>
              <a:t> maxmemory </a:t>
            </a:r>
            <a:r>
              <a:rPr lang="zh-CN"/>
              <a:t>的配置项，它一般表示</a:t>
            </a:r>
            <a:r>
              <a:rPr lang="en-US"/>
              <a:t> Valkey </a:t>
            </a:r>
            <a:r>
              <a:rPr lang="zh-CN"/>
              <a:t>进程能使用的最大内存字节。</a:t>
            </a:r>
            <a:endParaRPr/>
          </a:p>
          <a:p>
            <a:pPr/>
            <a:r>
              <a:rPr lang="zh-CN"/>
              <a:t>但有时候你会看到</a:t>
            </a:r>
            <a:r>
              <a:rPr lang="en-US"/>
              <a:t> used_memory </a:t>
            </a:r>
            <a:r>
              <a:rPr lang="zh-CN"/>
              <a:t>占用超过</a:t>
            </a:r>
            <a:r>
              <a:rPr lang="en-US"/>
              <a:t> maxmemory</a:t>
            </a:r>
            <a:r>
              <a:rPr lang="zh-CN"/>
              <a:t>，或者看到进程内存</a:t>
            </a:r>
            <a:r>
              <a:rPr lang="en-US"/>
              <a:t> rss </a:t>
            </a:r>
            <a:r>
              <a:rPr lang="zh-CN"/>
              <a:t>超过</a:t>
            </a:r>
            <a:r>
              <a:rPr lang="en-US"/>
              <a:t> maxmemory</a:t>
            </a:r>
            <a:r>
              <a:rPr lang="zh-CN"/>
              <a:t>，这是为啥？</a:t>
            </a:r>
            <a:endParaRPr/>
          </a:p>
          <a:p>
            <a:pPr/>
            <a:endParaRPr lang="en-US"/>
          </a:p>
          <a:p>
            <a:pPr/>
            <a:r>
              <a:rPr lang="zh-CN"/>
              <a:t>因为这里在内存管理上，我们还需要区分两个概念：</a:t>
            </a:r>
            <a:endParaRPr/>
          </a:p>
          <a:p>
            <a:pPr/>
            <a:r>
              <a:rPr lang="en-US"/>
              <a:t>- </a:t>
            </a:r>
            <a:r>
              <a:rPr lang="zh-CN"/>
              <a:t>是否统计进</a:t>
            </a:r>
            <a:r>
              <a:rPr lang="en-US"/>
              <a:t> used_memory</a:t>
            </a:r>
            <a:endParaRPr/>
          </a:p>
          <a:p>
            <a:pPr/>
            <a:r>
              <a:rPr lang="en-US"/>
              <a:t>- </a:t>
            </a:r>
            <a:r>
              <a:rPr lang="zh-CN"/>
              <a:t>在统计进</a:t>
            </a:r>
            <a:r>
              <a:rPr lang="en-US"/>
              <a:t> used_memory </a:t>
            </a:r>
            <a:r>
              <a:rPr lang="zh-CN"/>
              <a:t>的前提下，我们还可以区分它是否会</a:t>
            </a:r>
            <a:r>
              <a:rPr lang="zh-CN"/>
              <a:t>参与</a:t>
            </a:r>
            <a:r>
              <a:rPr lang="en-US"/>
              <a:t> maxmemory </a:t>
            </a:r>
            <a:r>
              <a:rPr lang="zh-CN"/>
              <a:t>计算</a:t>
            </a:r>
            <a:endParaRPr/>
          </a:p>
          <a:p>
            <a:pPr/>
            <a:endParaRPr lang="en-US"/>
          </a:p>
          <a:p>
            <a:pPr/>
            <a:r>
              <a:rPr lang="en-US"/>
              <a:t>backlog buffer </a:t>
            </a:r>
            <a:r>
              <a:rPr lang="zh-CN"/>
              <a:t>会占用用户内存，即它会算在</a:t>
            </a:r>
            <a:r>
              <a:rPr lang="en-US"/>
              <a:t> used_memory </a:t>
            </a:r>
            <a:r>
              <a:rPr lang="zh-CN"/>
              <a:t>里面，它也会参与</a:t>
            </a:r>
            <a:r>
              <a:rPr lang="en-US"/>
              <a:t> maxmemory </a:t>
            </a:r>
            <a:r>
              <a:rPr lang="zh-CN"/>
              <a:t>的计算。</a:t>
            </a:r>
            <a:endParaRPr/>
          </a:p>
          <a:p>
            <a:pPr/>
            <a:r>
              <a:rPr lang="en-US"/>
              <a:t>lua heap </a:t>
            </a:r>
            <a:r>
              <a:rPr lang="zh-CN"/>
              <a:t>不会统计进</a:t>
            </a:r>
            <a:r>
              <a:rPr lang="en-US"/>
              <a:t> used_memory</a:t>
            </a:r>
            <a:r>
              <a:rPr lang="zh-CN"/>
              <a:t>，自然不会参与</a:t>
            </a:r>
            <a:r>
              <a:rPr lang="en-US"/>
              <a:t> maxmemory </a:t>
            </a:r>
            <a:r>
              <a:rPr lang="zh-CN"/>
              <a:t>计算。（</a:t>
            </a:r>
            <a:r>
              <a:rPr lang="en-US"/>
              <a:t>Redis 7.4 </a:t>
            </a:r>
            <a:r>
              <a:rPr lang="zh-CN"/>
              <a:t>后</a:t>
            </a:r>
            <a:r>
              <a:rPr lang="en-US"/>
              <a:t> lua heap </a:t>
            </a:r>
            <a:r>
              <a:rPr lang="zh-CN"/>
              <a:t>会统计进</a:t>
            </a:r>
            <a:r>
              <a:rPr lang="en-US"/>
              <a:t> used_memory</a:t>
            </a:r>
            <a:r>
              <a:rPr lang="zh-CN"/>
              <a:t>）</a:t>
            </a:r>
            <a:endParaRPr/>
          </a:p>
          <a:p>
            <a:pPr/>
            <a:r>
              <a:rPr lang="en-US"/>
              <a:t>replica client output buffer </a:t>
            </a:r>
            <a:r>
              <a:rPr lang="zh-CN"/>
              <a:t>会统计进</a:t>
            </a:r>
            <a:r>
              <a:rPr lang="en-US"/>
              <a:t> used_memory</a:t>
            </a:r>
            <a:r>
              <a:rPr lang="zh-CN"/>
              <a:t>，但是不会参与</a:t>
            </a:r>
            <a:r>
              <a:rPr lang="en-US"/>
              <a:t> maxmemory </a:t>
            </a:r>
            <a:r>
              <a:rPr lang="zh-CN"/>
              <a:t>计算</a:t>
            </a:r>
            <a:endParaRPr/>
          </a:p>
          <a:p>
            <a:pPr/>
            <a:endParaRPr lang="zh-CN"/>
          </a:p>
          <a:p>
            <a:pPr/>
            <a:r>
              <a:rPr lang="zh-CN"/>
              <a:t>而对于副本客户端输出缓冲区，这是有意设计成这样的，它是为了避免在键驱逐的时候，产生的</a:t>
            </a:r>
            <a:r>
              <a:rPr lang="en-US"/>
              <a:t> DEL </a:t>
            </a:r>
            <a:r>
              <a:rPr lang="zh-CN"/>
              <a:t>写入输出缓冲区后占用内存，从而又继续引发键驱逐</a:t>
            </a:r>
            <a:endParaRPr/>
          </a:p>
          <a:p>
            <a:pPr/>
            <a:r>
              <a:rPr lang="zh-CN"/>
              <a:t>类似的</a:t>
            </a:r>
            <a:r>
              <a:rPr lang="en-US"/>
              <a:t> AOF buffer </a:t>
            </a:r>
            <a:r>
              <a:rPr lang="zh-CN"/>
              <a:t>也不参与</a:t>
            </a:r>
            <a:r>
              <a:rPr lang="en-US"/>
              <a:t> maxmemory </a:t>
            </a:r>
            <a:r>
              <a:rPr lang="zh-CN"/>
              <a:t>计算。</a:t>
            </a:r>
            <a:endParaRPr/>
          </a:p>
        </p:txBody>
      </p:sp>
    </p:spTree>
  </p:cSld>
</p:notes>
</file>

<file path=ppt/notesSlides/notesSlide36.xml><?xml version="1.0" encoding="utf-8"?>
<p:notes xmlns:a="http://schemas.openxmlformats.org/drawingml/2006/main" xmlns:p="http://schemas.openxmlformats.org/presentationml/2006/main">
  <p:cSld>
    <p:spTree>
      <p:nvGrpSpPr>
        <p:cNvPr id="73" name=""/>
        <p:cNvGrpSpPr/>
        <p:nvPr/>
      </p:nvGrpSpPr>
      <p:grpSpPr>
        <a:xfrm>
          <a:off x="0" y="0"/>
          <a:ext cx="0" cy="0"/>
          <a:chOff x="0" y="0"/>
          <a:chExt cx="0" cy="0"/>
        </a:xfrm>
      </p:grpSpPr>
      <p:sp>
        <p:nvSpPr>
          <p:cNvPr id="74" name=""/>
          <p:cNvSpPr/>
          <p:nvPr>
            <p:ph type="body"/>
          </p:nvPr>
        </p:nvSpPr>
        <p:spPr>
          <a:xfrm>
            <a:off x="0" y="0"/>
            <a:ext cx="177800" cy="444500"/>
          </a:xfrm>
          <a:prstGeom prst="rect">
            <a:avLst/>
          </a:prstGeom>
        </p:spPr>
        <p:txBody>
          <a:bodyPr/>
          <a:p>
            <a:pPr/>
            <a:r>
              <a:rPr lang="zh-CN">
                <a:solidFill>
                  <a:srgbClr val="000000">
                    <a:alpha val="100000"/>
                  </a:srgbClr>
                </a:solidFill>
                <a:latin typeface="TencentSans W7"/>
                <a:ea typeface="TencentSans W7"/>
              </a:rPr>
              <a:t>在</a:t>
            </a:r>
            <a:r>
              <a:rPr lang="en-US">
                <a:solidFill>
                  <a:srgbClr val="000000">
                    <a:alpha val="100000"/>
                  </a:srgbClr>
                </a:solidFill>
                <a:latin typeface="TencentSans W7"/>
                <a:ea typeface="TencentSans W7"/>
              </a:rPr>
              <a:t> 7.0 </a:t>
            </a:r>
            <a:r>
              <a:rPr lang="zh-CN">
                <a:solidFill>
                  <a:srgbClr val="000000">
                    <a:alpha val="100000"/>
                  </a:srgbClr>
                </a:solidFill>
                <a:latin typeface="TencentSans W7"/>
                <a:ea typeface="TencentSans W7"/>
              </a:rPr>
              <a:t>前，我们需要了解这些关键点。</a:t>
            </a:r>
            <a:r>
              <a:rPr lang="en-US">
                <a:solidFill>
                  <a:srgbClr val="000000">
                    <a:alpha val="100000"/>
                  </a:srgbClr>
                </a:solidFill>
                <a:latin typeface="TencentSans W7"/>
                <a:ea typeface="TencentSans W7"/>
              </a:rPr>
              <a:t>
backlog
</a:t>
            </a:r>
            <a:r>
              <a:rPr lang="zh-CN">
                <a:solidFill>
                  <a:srgbClr val="000000">
                    <a:alpha val="100000"/>
                  </a:srgbClr>
                </a:solidFill>
                <a:latin typeface="TencentSans W7"/>
                <a:ea typeface="TencentSans W7"/>
              </a:rPr>
              <a:t>是一个提前分配的环形缓冲区
</a:t>
            </a:r>
            <a:r>
              <a:rPr lang="zh-CN">
                <a:solidFill>
                  <a:srgbClr val="000000">
                    <a:alpha val="100000"/>
                  </a:srgbClr>
                </a:solidFill>
                <a:latin typeface="TencentSans W7"/>
                <a:ea typeface="TencentSans W7"/>
              </a:rPr>
              <a:t>被所有副本共享
</a:t>
            </a:r>
            <a:r>
              <a:rPr lang="zh-CN">
                <a:solidFill>
                  <a:srgbClr val="000000">
                    <a:alpha val="100000"/>
                  </a:srgbClr>
                </a:solidFill>
                <a:latin typeface="TencentSans W7"/>
                <a:ea typeface="TencentSans W7"/>
              </a:rPr>
              <a:t>会统计进</a:t>
            </a:r>
            <a:r>
              <a:rPr lang="en-US">
                <a:solidFill>
                  <a:srgbClr val="000000">
                    <a:alpha val="100000"/>
                  </a:srgbClr>
                </a:solidFill>
                <a:latin typeface="TencentSans W7"/>
                <a:ea typeface="TencentSans W7"/>
              </a:rPr>
              <a:t> used_memory </a:t>
            </a:r>
            <a:r>
              <a:rPr lang="zh-CN">
                <a:solidFill>
                  <a:srgbClr val="000000">
                    <a:alpha val="100000"/>
                  </a:srgbClr>
                </a:solidFill>
                <a:latin typeface="TencentSans W7"/>
                <a:ea typeface="TencentSans W7"/>
              </a:rPr>
              <a:t>中</a:t>
            </a:r>
            <a:endParaRPr/>
          </a:p>
          <a:p>
            <a:pPr/>
            <a:r>
              <a:rPr lang="en-US">
                <a:solidFill>
                  <a:srgbClr val="000000">
                    <a:alpha val="100000"/>
                  </a:srgbClr>
                </a:solidFill>
                <a:latin typeface="TencentSans W7"/>
                <a:ea typeface="TencentSans W7"/>
              </a:rPr>
              <a:t>
replica client output buffer
</a:t>
            </a:r>
            <a:r>
              <a:rPr lang="zh-CN">
                <a:solidFill>
                  <a:srgbClr val="000000">
                    <a:alpha val="100000"/>
                  </a:srgbClr>
                </a:solidFill>
                <a:latin typeface="TencentSans W7"/>
                <a:ea typeface="TencentSans W7"/>
              </a:rPr>
              <a:t>每个副本都会有自己的输出缓冲区
</a:t>
            </a:r>
            <a:r>
              <a:rPr lang="zh-CN">
                <a:solidFill>
                  <a:srgbClr val="000000">
                    <a:alpha val="100000"/>
                  </a:srgbClr>
                </a:solidFill>
                <a:latin typeface="TencentSans W7"/>
                <a:ea typeface="TencentSans W7"/>
              </a:rPr>
              <a:t>统计进</a:t>
            </a:r>
            <a:r>
              <a:rPr lang="en-US">
                <a:solidFill>
                  <a:srgbClr val="000000">
                    <a:alpha val="100000"/>
                  </a:srgbClr>
                </a:solidFill>
                <a:latin typeface="TencentSans W7"/>
                <a:ea typeface="TencentSans W7"/>
              </a:rPr>
              <a:t> user_memory </a:t>
            </a:r>
            <a:r>
              <a:rPr lang="zh-CN">
                <a:solidFill>
                  <a:srgbClr val="000000">
                    <a:alpha val="100000"/>
                  </a:srgbClr>
                </a:solidFill>
                <a:latin typeface="TencentSans W7"/>
                <a:ea typeface="TencentSans W7"/>
              </a:rPr>
              <a:t>中，但不会参与</a:t>
            </a:r>
            <a:r>
              <a:rPr lang="en-US">
                <a:solidFill>
                  <a:srgbClr val="000000">
                    <a:alpha val="100000"/>
                  </a:srgbClr>
                </a:solidFill>
                <a:latin typeface="TencentSans W7"/>
                <a:ea typeface="TencentSans W7"/>
              </a:rPr>
              <a:t> maxmemory </a:t>
            </a:r>
            <a:r>
              <a:rPr lang="zh-CN">
                <a:solidFill>
                  <a:srgbClr val="000000">
                    <a:alpha val="100000"/>
                  </a:srgbClr>
                </a:solidFill>
                <a:latin typeface="TencentSans W7"/>
                <a:ea typeface="TencentSans W7"/>
              </a:rPr>
              <a:t>计算，会增加进程使用的内存
</a:t>
            </a:r>
            <a:r>
              <a:rPr lang="zh-CN">
                <a:solidFill>
                  <a:srgbClr val="000000">
                    <a:alpha val="100000"/>
                  </a:srgbClr>
                </a:solidFill>
                <a:latin typeface="TencentSans W7"/>
                <a:ea typeface="TencentSans W7"/>
              </a:rPr>
              <a:t>为避免无限膨胀，有硬限制和软限制限制单个连接占用的内存</a:t>
            </a:r>
            <a:r>
              <a:rPr lang="en-US">
                <a:solidFill>
                  <a:srgbClr val="000000">
                    <a:alpha val="100000"/>
                  </a:srgbClr>
                </a:solidFill>
                <a:latin typeface="TencentSans W7"/>
                <a:ea typeface="TencentSans W7"/>
              </a:rPr>
              <a:t>
</a:t>
            </a:r>
            <a:r>
              <a:rPr lang="zh-CN">
                <a:solidFill>
                  <a:srgbClr val="000000">
                    <a:alpha val="100000"/>
                  </a:srgbClr>
                </a:solidFill>
                <a:latin typeface="TencentSans W7"/>
                <a:ea typeface="TencentSans W7"/>
              </a:rPr>
              <a:t>在</a:t>
            </a:r>
            <a:r>
              <a:rPr lang="en-US">
                <a:solidFill>
                  <a:srgbClr val="000000">
                    <a:alpha val="100000"/>
                  </a:srgbClr>
                </a:solidFill>
                <a:latin typeface="TencentSans W7"/>
                <a:ea typeface="TencentSans W7"/>
              </a:rPr>
              <a:t> Redis OSS 7.0 </a:t>
            </a:r>
            <a:r>
              <a:rPr lang="zh-CN">
                <a:solidFill>
                  <a:srgbClr val="000000">
                    <a:alpha val="100000"/>
                  </a:srgbClr>
                </a:solidFill>
                <a:latin typeface="TencentSans W7"/>
                <a:ea typeface="TencentSans W7"/>
              </a:rPr>
              <a:t>版本里引入了全局复制共享缓冲区，</a:t>
            </a:r>
            <a:r>
              <a:rPr lang="en-US">
                <a:solidFill>
                  <a:srgbClr val="000000">
                    <a:alpha val="100000"/>
                  </a:srgbClr>
                </a:solidFill>
                <a:latin typeface="TencentSans W7"/>
                <a:ea typeface="TencentSans W7"/>
              </a:rPr>
              <a:t>backlog </a:t>
            </a:r>
            <a:r>
              <a:rPr lang="zh-CN">
                <a:solidFill>
                  <a:srgbClr val="000000">
                    <a:alpha val="100000"/>
                  </a:srgbClr>
                </a:solidFill>
                <a:latin typeface="TencentSans W7"/>
                <a:ea typeface="TencentSans W7"/>
              </a:rPr>
              <a:t>跟</a:t>
            </a:r>
            <a:r>
              <a:rPr lang="en-US">
                <a:solidFill>
                  <a:srgbClr val="000000">
                    <a:alpha val="100000"/>
                  </a:srgbClr>
                </a:solidFill>
                <a:latin typeface="TencentSans W7"/>
                <a:ea typeface="TencentSans W7"/>
              </a:rPr>
              <a:t> replica output buffer </a:t>
            </a:r>
            <a:r>
              <a:rPr lang="zh-CN">
                <a:solidFill>
                  <a:srgbClr val="000000">
                    <a:alpha val="100000"/>
                  </a:srgbClr>
                </a:solidFill>
                <a:latin typeface="TencentSans W7"/>
                <a:ea typeface="TencentSans W7"/>
              </a:rPr>
              <a:t>实际上都会从这个共享复制缓冲区里引用数据。</a:t>
            </a:r>
            <a:endParaRPr/>
          </a:p>
          <a:p>
            <a:pPr/>
            <a:r>
              <a:rPr lang="zh-CN">
                <a:solidFill>
                  <a:srgbClr val="000000">
                    <a:alpha val="100000"/>
                  </a:srgbClr>
                </a:solidFill>
                <a:latin typeface="TencentSans W7"/>
                <a:ea typeface="TencentSans W7"/>
              </a:rPr>
              <a:t>它能很好的节约资源，比如说之前一个数据可能要写入一个</a:t>
            </a:r>
            <a:r>
              <a:rPr lang="en-US">
                <a:solidFill>
                  <a:srgbClr val="000000">
                    <a:alpha val="100000"/>
                  </a:srgbClr>
                </a:solidFill>
                <a:latin typeface="TencentSans W7"/>
                <a:ea typeface="TencentSans W7"/>
              </a:rPr>
              <a:t> backlog</a:t>
            </a:r>
            <a:r>
              <a:rPr lang="zh-CN">
                <a:solidFill>
                  <a:srgbClr val="000000">
                    <a:alpha val="100000"/>
                  </a:srgbClr>
                </a:solidFill>
                <a:latin typeface="TencentSans W7"/>
                <a:ea typeface="TencentSans W7"/>
              </a:rPr>
              <a:t>，要写入</a:t>
            </a:r>
            <a:r>
              <a:rPr lang="en-US">
                <a:solidFill>
                  <a:srgbClr val="000000">
                    <a:alpha val="100000"/>
                  </a:srgbClr>
                </a:solidFill>
                <a:latin typeface="TencentSans W7"/>
                <a:ea typeface="TencentSans W7"/>
              </a:rPr>
              <a:t> n </a:t>
            </a:r>
            <a:r>
              <a:rPr lang="zh-CN">
                <a:solidFill>
                  <a:srgbClr val="000000">
                    <a:alpha val="100000"/>
                  </a:srgbClr>
                </a:solidFill>
                <a:latin typeface="TencentSans W7"/>
                <a:ea typeface="TencentSans W7"/>
              </a:rPr>
              <a:t>个</a:t>
            </a:r>
            <a:r>
              <a:rPr lang="en-US">
                <a:solidFill>
                  <a:srgbClr val="000000">
                    <a:alpha val="100000"/>
                  </a:srgbClr>
                </a:solidFill>
                <a:latin typeface="TencentSans W7"/>
                <a:ea typeface="TencentSans W7"/>
              </a:rPr>
              <a:t> </a:t>
            </a:r>
            <a:r>
              <a:rPr lang="zh-CN">
                <a:solidFill>
                  <a:srgbClr val="000000">
                    <a:alpha val="100000"/>
                  </a:srgbClr>
                </a:solidFill>
                <a:latin typeface="TencentSans W7"/>
                <a:ea typeface="TencentSans W7"/>
              </a:rPr>
              <a:t>副本客户端缓冲区，现在只需要写入到一个共享缓冲区里。</a:t>
            </a:r>
            <a:endParaRPr/>
          </a:p>
          <a:p>
            <a:pPr/>
            <a:r>
              <a:rPr lang="zh-CN">
                <a:solidFill>
                  <a:srgbClr val="000000">
                    <a:alpha val="100000"/>
                  </a:srgbClr>
                </a:solidFill>
                <a:latin typeface="TencentSans W7"/>
                <a:ea typeface="TencentSans W7"/>
              </a:rPr>
              <a:t>当然，它还有其他更多的细节点可以展开，不过这边就不继续展开了。</a:t>
            </a:r>
            <a:endParaRPr/>
          </a:p>
        </p:txBody>
      </p:sp>
    </p:spTree>
  </p:cSld>
</p:notes>
</file>

<file path=ppt/notesSlides/notesSlide37.xml><?xml version="1.0" encoding="utf-8"?>
<p:notes xmlns:a="http://schemas.openxmlformats.org/drawingml/2006/main" xmlns:p="http://schemas.openxmlformats.org/presentationml/2006/main">
  <p:cSld>
    <p:spTree>
      <p:nvGrpSpPr>
        <p:cNvPr id="75" name=""/>
        <p:cNvGrpSpPr/>
        <p:nvPr/>
      </p:nvGrpSpPr>
      <p:grpSpPr>
        <a:xfrm>
          <a:off x="0" y="0"/>
          <a:ext cx="0" cy="0"/>
          <a:chOff x="0" y="0"/>
          <a:chExt cx="0" cy="0"/>
        </a:xfrm>
      </p:grpSpPr>
      <p:sp>
        <p:nvSpPr>
          <p:cNvPr id="76" name=""/>
          <p:cNvSpPr/>
          <p:nvPr>
            <p:ph type="body"/>
          </p:nvPr>
        </p:nvSpPr>
        <p:spPr>
          <a:xfrm>
            <a:off x="0" y="0"/>
            <a:ext cx="177800" cy="444500"/>
          </a:xfrm>
          <a:prstGeom prst="rect">
            <a:avLst/>
          </a:prstGeom>
        </p:spPr>
        <p:txBody>
          <a:bodyPr/>
          <a:p>
            <a:pPr/>
            <a:r>
              <a:rPr lang="zh-CN"/>
              <a:t>接下来我们过一下跟主从复制有关的问题，这里我挑了几个我觉得比较经典的问题</a:t>
            </a:r>
            <a:endParaRPr/>
          </a:p>
        </p:txBody>
      </p:sp>
    </p:spTree>
  </p:cSld>
</p:notes>
</file>

<file path=ppt/notesSlides/notesSlide38.xml><?xml version="1.0" encoding="utf-8"?>
<p:notes xmlns:a="http://schemas.openxmlformats.org/drawingml/2006/main" xmlns:p="http://schemas.openxmlformats.org/presentationml/2006/main">
  <p:cSld>
    <p:spTree>
      <p:nvGrpSpPr>
        <p:cNvPr id="77" name=""/>
        <p:cNvGrpSpPr/>
        <p:nvPr/>
      </p:nvGrpSpPr>
      <p:grpSpPr>
        <a:xfrm>
          <a:off x="0" y="0"/>
          <a:ext cx="0" cy="0"/>
          <a:chOff x="0" y="0"/>
          <a:chExt cx="0" cy="0"/>
        </a:xfrm>
      </p:grpSpPr>
      <p:sp>
        <p:nvSpPr>
          <p:cNvPr id="78" name=""/>
          <p:cNvSpPr/>
          <p:nvPr>
            <p:ph type="body"/>
          </p:nvPr>
        </p:nvSpPr>
        <p:spPr>
          <a:xfrm>
            <a:off x="0" y="0"/>
            <a:ext cx="177800" cy="444500"/>
          </a:xfrm>
          <a:prstGeom prst="rect">
            <a:avLst/>
          </a:prstGeom>
        </p:spPr>
        <p:txBody>
          <a:bodyPr/>
          <a:p>
            <a:pPr/>
            <a:r>
              <a:rPr lang="zh-CN"/>
              <a:t>第一个问题，我们来看，当副本请求</a:t>
            </a:r>
            <a:r>
              <a:rPr lang="en-US"/>
              <a:t> psync </a:t>
            </a:r>
            <a:r>
              <a:rPr lang="zh-CN"/>
              <a:t>失败时，副本节点的日志，可以看到副本节点在断连后的重连，会先进行</a:t>
            </a:r>
            <a:r>
              <a:rPr lang="en-US"/>
              <a:t> psync</a:t>
            </a:r>
            <a:r>
              <a:rPr lang="zh-CN"/>
              <a:t>，</a:t>
            </a:r>
            <a:r>
              <a:rPr lang="en-US"/>
              <a:t>psync </a:t>
            </a:r>
            <a:r>
              <a:rPr lang="zh-CN"/>
              <a:t>失败后主节点会返回</a:t>
            </a:r>
            <a:r>
              <a:rPr lang="en-US"/>
              <a:t> full sync</a:t>
            </a:r>
            <a:endParaRPr/>
          </a:p>
          <a:p>
            <a:pPr/>
            <a:br>
              <a:rPr/>
            </a:br>
            <a:r>
              <a:rPr lang="zh-CN"/>
              <a:t>下面这段是对应复现的测试</a:t>
            </a:r>
            <a:r>
              <a:rPr lang="en-US"/>
              <a:t> TCL </a:t>
            </a:r>
            <a:r>
              <a:rPr lang="zh-CN"/>
              <a:t>代码</a:t>
            </a:r>
            <a:br>
              <a:rPr/>
            </a:br>
            <a:endParaRPr/>
          </a:p>
          <a:p>
            <a:pPr/>
            <a:r>
              <a:rPr lang="en-US"/>
              <a:t>test "Replica unable to psync due to the lack of the replication backlog" {
    start_server {} {
        set primary [srv 0 client]
        set primary_host [srv 0 host]
        set primary_port [srv 0 port]
        $primary debug log "Replica unable to psync due to the lack of the replication backlog - i am the primary"
        $primary config set repl-backlog-size 1mb
        $primary config set repl-diskless-sync yes
        $primary config set repl-diskless-sync-delay 0
        $primary config set dual-channel-replication-enabled no
        set repl_backlog_size [lindex [$primary config get repl-backlog-size] 1]
        start_server {} {
            set replica [srv 0 client]
            set replica_pid [srv 0 pid]
            $replica debug log "Replica unable to psync due to the lack of the replication backlog - i am the replica"
            $replica config set dual-channel-replication-enabled no
            $replica replicaof $primary_host $primary_port
            wait_for_sync $replica
            $replica debug log "Pausing the replica server"
            pause_process $replica_pid
            $primary debug log "Killing the replica client"
            $primary client kill type replica
            set value [string repeat A $repl_backlog_size]
            $primary set key $value
            $primary set key $value
            resume_process $replica_pid
            wait_for_sync $replica
        }
    }
}</a:t>
            </a:r>
            <a:endParaRPr/>
          </a:p>
        </p:txBody>
      </p:sp>
    </p:spTree>
  </p:cSld>
</p:notes>
</file>

<file path=ppt/notesSlides/notesSlide39.xml><?xml version="1.0" encoding="utf-8"?>
<p:notes xmlns:a="http://schemas.openxmlformats.org/drawingml/2006/main" xmlns:p="http://schemas.openxmlformats.org/presentationml/2006/main">
  <p:cSld>
    <p:spTree>
      <p:nvGrpSpPr>
        <p:cNvPr id="79" name=""/>
        <p:cNvGrpSpPr/>
        <p:nvPr/>
      </p:nvGrpSpPr>
      <p:grpSpPr>
        <a:xfrm>
          <a:off x="0" y="0"/>
          <a:ext cx="0" cy="0"/>
          <a:chOff x="0" y="0"/>
          <a:chExt cx="0" cy="0"/>
        </a:xfrm>
      </p:grpSpPr>
      <p:sp>
        <p:nvSpPr>
          <p:cNvPr id="80" name=""/>
          <p:cNvSpPr/>
          <p:nvPr>
            <p:ph type="body"/>
          </p:nvPr>
        </p:nvSpPr>
        <p:spPr>
          <a:xfrm>
            <a:off x="0" y="0"/>
            <a:ext cx="177800" cy="444500"/>
          </a:xfrm>
          <a:prstGeom prst="rect">
            <a:avLst/>
          </a:prstGeom>
        </p:spPr>
        <p:txBody>
          <a:bodyPr/>
          <a:p>
            <a:pPr/>
            <a:r>
              <a:rPr lang="zh-CN"/>
              <a:t>当副本请求</a:t>
            </a:r>
            <a:r>
              <a:rPr lang="en-US"/>
              <a:t> psync </a:t>
            </a:r>
            <a:r>
              <a:rPr lang="zh-CN"/>
              <a:t>失败时，主节点的日志，主节点会打印副本没办法做</a:t>
            </a:r>
            <a:r>
              <a:rPr lang="en-US"/>
              <a:t> psync </a:t>
            </a:r>
            <a:r>
              <a:rPr lang="zh-CN"/>
              <a:t>的日志，返回</a:t>
            </a:r>
            <a:r>
              <a:rPr lang="en-US"/>
              <a:t> full sync</a:t>
            </a:r>
            <a:r>
              <a:rPr lang="zh-CN"/>
              <a:t>，并且进行</a:t>
            </a:r>
            <a:r>
              <a:rPr lang="en-US"/>
              <a:t> bgsave </a:t>
            </a:r>
            <a:r>
              <a:rPr lang="zh-CN"/>
              <a:t>来准备</a:t>
            </a:r>
            <a:r>
              <a:rPr lang="en-US"/>
              <a:t> RDB </a:t>
            </a:r>
            <a:r>
              <a:rPr lang="zh-CN"/>
              <a:t>快照</a:t>
            </a:r>
            <a:endParaRPr/>
          </a:p>
        </p:txBody>
      </p:sp>
    </p:spTree>
  </p:cSld>
</p:notes>
</file>

<file path=ppt/notesSlides/notesSlide40.xml><?xml version="1.0" encoding="utf-8"?>
<p:notes xmlns:a="http://schemas.openxmlformats.org/drawingml/2006/main" xmlns:p="http://schemas.openxmlformats.org/presentationml/2006/main">
  <p:cSld>
    <p:spTree>
      <p:nvGrpSpPr>
        <p:cNvPr id="81" name=""/>
        <p:cNvGrpSpPr/>
        <p:nvPr/>
      </p:nvGrpSpPr>
      <p:grpSpPr>
        <a:xfrm>
          <a:off x="0" y="0"/>
          <a:ext cx="0" cy="0"/>
          <a:chOff x="0" y="0"/>
          <a:chExt cx="0" cy="0"/>
        </a:xfrm>
      </p:grpSpPr>
      <p:sp>
        <p:nvSpPr>
          <p:cNvPr id="82" name=""/>
          <p:cNvSpPr/>
          <p:nvPr>
            <p:ph type="body"/>
          </p:nvPr>
        </p:nvSpPr>
        <p:spPr>
          <a:xfrm>
            <a:off x="0" y="0"/>
            <a:ext cx="177800" cy="444500"/>
          </a:xfrm>
          <a:prstGeom prst="rect">
            <a:avLst/>
          </a:prstGeom>
        </p:spPr>
        <p:txBody>
          <a:bodyPr/>
          <a:p>
            <a:pPr/>
            <a:r>
              <a:rPr lang="zh-CN"/>
              <a:t>第二个问题我们来看因为客户端输出缓冲区限制，断连慢副本的问题</a:t>
            </a:r>
            <a:endParaRPr/>
          </a:p>
          <a:p>
            <a:pPr/>
            <a:r>
              <a:rPr lang="zh-CN"/>
              <a:t>在这个例子里，副本节点被阻塞了，主节点产生的写流量打满了</a:t>
            </a:r>
            <a:r>
              <a:rPr lang="en-US"/>
              <a:t> COB</a:t>
            </a:r>
            <a:r>
              <a:rPr lang="zh-CN"/>
              <a:t>，主节点会将副本节点进行断连，断连会打印日志</a:t>
            </a:r>
            <a:endParaRPr/>
          </a:p>
          <a:p>
            <a:pPr/>
            <a:r>
              <a:rPr lang="zh-CN"/>
              <a:t>大家平常自己部署运维的时候，需要对类似这样的日志进行监控</a:t>
            </a:r>
            <a:endParaRPr/>
          </a:p>
          <a:p>
            <a:pPr/>
            <a:endParaRPr lang="en-US"/>
          </a:p>
          <a:p>
            <a:pPr/>
            <a:r>
              <a:rPr lang="zh-CN"/>
              <a:t>下面这段是对应复现的测试</a:t>
            </a:r>
            <a:r>
              <a:rPr lang="en-US"/>
              <a:t> TCL </a:t>
            </a:r>
            <a:r>
              <a:rPr lang="zh-CN"/>
              <a:t>代码</a:t>
            </a:r>
            <a:endParaRPr/>
          </a:p>
          <a:p>
            <a:pPr/>
            <a:endParaRPr lang="en-US"/>
          </a:p>
          <a:p>
            <a:pPr/>
            <a:r>
              <a:rPr lang="en-US"/>
              <a:t>test "Replica got disconnection because of client output buffer limit" {
    start_server {} {
        set primary [srv 0 client]
        set primary_host [srv 0 host]
        set primary_port [srv 0 port]
        $primary debug log "Replication without dual channel - i am the primary"
        $primary config set repl-diskless-sync yes
        $primary config set repl-diskless-sync-delay 0
        $primary config set dual-channel-replication-enabled no
        $primary config set client-output-buffer-limit "replica 10mb 10mb 1"
        start_server {} {
            set replica [srv 0 client]
            set replica_pid [srv 0 pid]
            $replica debug log "Replication without dual channel - i am the replica"
            $replica config set dual-channel-replication-enabled no
            set load_handle [start_one_key_write_load $primary_host $primary_port 100 "mykey"]
            $replica replicaof $primary_host $primary_port
            wait_for_sync $replica
            $replica debug log "Pausing the replica server"
            pause_process $replica_pid
            wait_for_log_messages -1 {"*for overcoming of output buffer limits*"} 0 1000 50
            stop_write_load $load_handle
            resume_process $replica_pid
            wait_for_sync $replica
        }
    }
}</a:t>
            </a:r>
            <a:endParaRPr/>
          </a:p>
        </p:txBody>
      </p:sp>
    </p:spTree>
  </p:cSld>
</p:notes>
</file>

<file path=ppt/notesSlides/notesSlide41.xml><?xml version="1.0" encoding="utf-8"?>
<p:notes xmlns:a="http://schemas.openxmlformats.org/drawingml/2006/main" xmlns:p="http://schemas.openxmlformats.org/presentationml/2006/main">
  <p:cSld>
    <p:spTree>
      <p:nvGrpSpPr>
        <p:cNvPr id="83" name=""/>
        <p:cNvGrpSpPr/>
        <p:nvPr/>
      </p:nvGrpSpPr>
      <p:grpSpPr>
        <a:xfrm>
          <a:off x="0" y="0"/>
          <a:ext cx="0" cy="0"/>
          <a:chOff x="0" y="0"/>
          <a:chExt cx="0" cy="0"/>
        </a:xfrm>
      </p:grpSpPr>
      <p:sp>
        <p:nvSpPr>
          <p:cNvPr id="84" name=""/>
          <p:cNvSpPr/>
          <p:nvPr>
            <p:ph type="body"/>
          </p:nvPr>
        </p:nvSpPr>
        <p:spPr>
          <a:xfrm>
            <a:off x="0" y="0"/>
            <a:ext cx="177800" cy="444500"/>
          </a:xfrm>
          <a:prstGeom prst="rect">
            <a:avLst/>
          </a:prstGeom>
        </p:spPr>
        <p:txBody>
          <a:bodyPr/>
          <a:p>
            <a:pPr/>
            <a:r>
              <a:rPr lang="zh-CN"/>
              <a:t>主节点那边断连慢副本后，副本会感知到连接断开，之后会进行重连和</a:t>
            </a:r>
            <a:r>
              <a:rPr lang="en-US"/>
              <a:t> psync</a:t>
            </a:r>
            <a:endParaRPr/>
          </a:p>
        </p:txBody>
      </p:sp>
    </p:spTree>
  </p:cSld>
</p:notes>
</file>

<file path=ppt/notesSlides/notesSlide42.xml><?xml version="1.0" encoding="utf-8"?>
<p:notes xmlns:a="http://schemas.openxmlformats.org/drawingml/2006/main" xmlns:p="http://schemas.openxmlformats.org/presentationml/2006/main">
  <p:cSld>
    <p:spTree>
      <p:nvGrpSpPr>
        <p:cNvPr id="85" name=""/>
        <p:cNvGrpSpPr/>
        <p:nvPr/>
      </p:nvGrpSpPr>
      <p:grpSpPr>
        <a:xfrm>
          <a:off x="0" y="0"/>
          <a:ext cx="0" cy="0"/>
          <a:chOff x="0" y="0"/>
          <a:chExt cx="0" cy="0"/>
        </a:xfrm>
      </p:grpSpPr>
      <p:sp>
        <p:nvSpPr>
          <p:cNvPr id="86" name=""/>
          <p:cNvSpPr/>
          <p:nvPr>
            <p:ph type="body"/>
          </p:nvPr>
        </p:nvSpPr>
        <p:spPr>
          <a:xfrm>
            <a:off x="0" y="0"/>
            <a:ext cx="177800" cy="444500"/>
          </a:xfrm>
          <a:prstGeom prst="rect">
            <a:avLst/>
          </a:prstGeom>
        </p:spPr>
        <p:txBody>
          <a:bodyPr/>
          <a:p>
            <a:pPr/>
            <a:r>
              <a:rPr lang="zh-CN"/>
              <a:t>第三个问题是主从复制反复</a:t>
            </a:r>
            <a:r>
              <a:rPr lang="en-US"/>
              <a:t> full sync</a:t>
            </a:r>
            <a:r>
              <a:rPr lang="zh-CN"/>
              <a:t>，如果因为业务流量太多，或者</a:t>
            </a:r>
            <a:r>
              <a:rPr lang="en-US"/>
              <a:t> COB </a:t>
            </a:r>
            <a:r>
              <a:rPr lang="zh-CN"/>
              <a:t>限制太小，或者副本太慢，会有可能出现这种问题</a:t>
            </a:r>
            <a:endParaRPr/>
          </a:p>
          <a:p>
            <a:pPr/>
            <a:endParaRPr lang="en-US"/>
          </a:p>
          <a:p>
            <a:pPr/>
            <a:r>
              <a:rPr lang="zh-CN"/>
              <a:t>我们前面提到过，在</a:t>
            </a:r>
            <a:r>
              <a:rPr lang="en-US"/>
              <a:t> full sync </a:t>
            </a:r>
            <a:r>
              <a:rPr lang="zh-CN"/>
              <a:t>期间，主节点会将增量命令暂存到副本客户端输出缓冲区中，如果</a:t>
            </a:r>
            <a:r>
              <a:rPr lang="en-US"/>
              <a:t> COB </a:t>
            </a:r>
            <a:r>
              <a:rPr lang="zh-CN"/>
              <a:t>被打满了，会断连慢副本。</a:t>
            </a:r>
            <a:endParaRPr/>
          </a:p>
          <a:p>
            <a:pPr/>
            <a:r>
              <a:rPr lang="zh-CN"/>
              <a:t>所以可能会出现这样的情况，副本每次做</a:t>
            </a:r>
            <a:r>
              <a:rPr lang="en-US"/>
              <a:t> full sync </a:t>
            </a:r>
            <a:r>
              <a:rPr lang="zh-CN"/>
              <a:t>期间，因为</a:t>
            </a:r>
            <a:r>
              <a:rPr lang="en-US"/>
              <a:t> COB </a:t>
            </a:r>
            <a:r>
              <a:rPr lang="zh-CN"/>
              <a:t>被打满断连，之后重连后重新</a:t>
            </a:r>
            <a:r>
              <a:rPr lang="en-US"/>
              <a:t> full sync</a:t>
            </a:r>
            <a:r>
              <a:rPr lang="zh-CN"/>
              <a:t>，然后又因为</a:t>
            </a:r>
            <a:r>
              <a:rPr lang="en-US"/>
              <a:t> COB </a:t>
            </a:r>
            <a:r>
              <a:rPr lang="zh-CN"/>
              <a:t>断连。</a:t>
            </a:r>
            <a:endParaRPr/>
          </a:p>
          <a:p>
            <a:pPr/>
            <a:endParaRPr lang="zh-CN"/>
          </a:p>
          <a:p>
            <a:pPr/>
            <a:r>
              <a:rPr lang="zh-CN"/>
              <a:t>在图中可以看出，副本每次重连进行</a:t>
            </a:r>
            <a:r>
              <a:rPr lang="en-US"/>
              <a:t> full sync</a:t>
            </a:r>
            <a:r>
              <a:rPr lang="zh-CN"/>
              <a:t>，但是又很快因为</a:t>
            </a:r>
            <a:r>
              <a:rPr lang="en-US"/>
              <a:t> COB </a:t>
            </a:r>
            <a:r>
              <a:rPr lang="zh-CN"/>
              <a:t>主节点将其断连，然后重试会再次进行</a:t>
            </a:r>
            <a:r>
              <a:rPr lang="en-US"/>
              <a:t> full sync</a:t>
            </a:r>
            <a:r>
              <a:rPr lang="zh-CN"/>
              <a:t>。</a:t>
            </a:r>
            <a:endParaRPr/>
          </a:p>
          <a:p>
            <a:pPr/>
            <a:endParaRPr lang="en-US"/>
          </a:p>
          <a:p>
            <a:pPr/>
            <a:r>
              <a:rPr lang="zh-CN"/>
              <a:t>这个问题是主从复制中比较严重的一个问题，在这种情况下，一般需要运维同学去调大</a:t>
            </a:r>
            <a:r>
              <a:rPr lang="en-US"/>
              <a:t> COB </a:t>
            </a:r>
            <a:r>
              <a:rPr lang="zh-CN"/>
              <a:t>的限制，或者做业务限流，这些手段其实都非常不方便。</a:t>
            </a:r>
            <a:endParaRPr/>
          </a:p>
          <a:p>
            <a:pPr/>
            <a:r>
              <a:rPr lang="zh-CN"/>
              <a:t>调整</a:t>
            </a:r>
            <a:r>
              <a:rPr lang="en-US"/>
              <a:t> COB </a:t>
            </a:r>
            <a:r>
              <a:rPr lang="zh-CN"/>
              <a:t>限制需要你去计算大概得值，需要在机器上预留内存资源。业务限流往往就更不可取，它会影响业务流量。</a:t>
            </a:r>
            <a:endParaRPr/>
          </a:p>
          <a:p>
            <a:pPr/>
            <a:r>
              <a:rPr lang="zh-CN"/>
              <a:t>反复的</a:t>
            </a:r>
            <a:r>
              <a:rPr lang="en-US"/>
              <a:t> full sync </a:t>
            </a:r>
            <a:r>
              <a:rPr lang="zh-CN"/>
              <a:t>对主节点危害也很大，大实例情况下，主节点的</a:t>
            </a:r>
            <a:r>
              <a:rPr lang="en-US"/>
              <a:t> fork / </a:t>
            </a:r>
            <a:r>
              <a:rPr lang="zh-CN"/>
              <a:t>主从复制</a:t>
            </a:r>
            <a:r>
              <a:rPr lang="en-US"/>
              <a:t> / cow </a:t>
            </a:r>
            <a:r>
              <a:rPr lang="zh-CN"/>
              <a:t>等都会消耗主节点资源</a:t>
            </a:r>
            <a:r>
              <a:rPr lang="en-US"/>
              <a:t>.</a:t>
            </a:r>
            <a:endParaRPr/>
          </a:p>
          <a:p>
            <a:pPr/>
            <a:endParaRPr lang="en-US"/>
          </a:p>
          <a:p>
            <a:pPr/>
            <a:r>
              <a:rPr lang="zh-CN"/>
              <a:t>下面这段是对应复现的测试</a:t>
            </a:r>
            <a:r>
              <a:rPr lang="en-US"/>
              <a:t> TCL </a:t>
            </a:r>
            <a:r>
              <a:rPr lang="zh-CN"/>
              <a:t>代码</a:t>
            </a:r>
            <a:endParaRPr/>
          </a:p>
          <a:p>
            <a:pPr/>
            <a:endParaRPr lang="en-US"/>
          </a:p>
          <a:p>
            <a:pPr/>
            <a:r>
              <a:rPr lang="en-US"/>
              <a:t>test "Replica got disconnection during the full sync because of the client output buffer limit" {
    start_server {tags {"dual-channel-replication external:skip"}} {
        set primary [srv 0 client]
        set primary_host [srv 0 host]
        set primary_port [srv 0 port]
        $primary debug log "test case 3 - i am the primary"
        $primary config set repl-diskless-sync yes
        $primary config set repl-diskless-sync-delay 0
        $primary config set dual-channel-replication-enabled no
        $primary config set client-output-buffer-limit "replica 5mb 5mb 1"
        # Generating RDB will cost 100 sec to generate
        $primary debug populate 100000 primary 1
        $primary config set rdb-key-save-delay 1000
        start_server {} {
            set replica [srv 0 client]
            set replica_pid [srv 0 pid]
            $replica debug log "test case 3 - i am the replica"
            $replica config set dual-channel-replication-enabled no
            $replica config set loading-process-events-interval-bytes 1024
            set load_handle [start_one_key_write_load $primary_host $primary_port 100 "mykey"]
            $replica replicaof $primary_host $primary_port
            wait_for_condition 50 1000 {
                [s -1 sync_full] eq 5
            } else {
                fail "Primary should abort sync"
            }
            stop_write_load $load_handle
        }
    }
}</a:t>
            </a:r>
            <a:endParaRPr/>
          </a:p>
        </p:txBody>
      </p:sp>
    </p:spTree>
  </p:cSld>
</p:notes>
</file>

<file path=ppt/notesSlides/notesSlide43.xml><?xml version="1.0" encoding="utf-8"?>
<p:notes xmlns:a="http://schemas.openxmlformats.org/drawingml/2006/main" xmlns:p="http://schemas.openxmlformats.org/presentationml/2006/main">
  <p:cSld>
    <p:spTree>
      <p:nvGrpSpPr>
        <p:cNvPr id="87" name=""/>
        <p:cNvGrpSpPr/>
        <p:nvPr/>
      </p:nvGrpSpPr>
      <p:grpSpPr>
        <a:xfrm>
          <a:off x="0" y="0"/>
          <a:ext cx="0" cy="0"/>
          <a:chOff x="0" y="0"/>
          <a:chExt cx="0" cy="0"/>
        </a:xfrm>
      </p:grpSpPr>
      <p:sp>
        <p:nvSpPr>
          <p:cNvPr id="88" name=""/>
          <p:cNvSpPr/>
          <p:nvPr>
            <p:ph type="body"/>
          </p:nvPr>
        </p:nvSpPr>
        <p:spPr>
          <a:xfrm>
            <a:off x="0" y="0"/>
            <a:ext cx="177800" cy="444500"/>
          </a:xfrm>
          <a:prstGeom prst="rect">
            <a:avLst/>
          </a:prstGeom>
        </p:spPr>
        <p:txBody>
          <a:bodyPr/>
          <a:p>
            <a:pPr/>
            <a:r>
              <a:rPr lang="zh-CN"/>
              <a:t>副本节点视角里，每次重连后进行</a:t>
            </a:r>
            <a:r>
              <a:rPr lang="en-US"/>
              <a:t> full sync</a:t>
            </a:r>
            <a:r>
              <a:rPr lang="zh-CN"/>
              <a:t>，然后又被断连，然后又重连。</a:t>
            </a:r>
            <a:endParaRPr/>
          </a:p>
        </p:txBody>
      </p:sp>
    </p:spTree>
  </p:cSld>
</p:notes>
</file>

<file path=ppt/notesSlides/notesSlide44.xml><?xml version="1.0" encoding="utf-8"?>
<p:notes xmlns:a="http://schemas.openxmlformats.org/drawingml/2006/main" xmlns:p="http://schemas.openxmlformats.org/presentationml/2006/main">
  <p:cSld>
    <p:spTree>
      <p:nvGrpSpPr>
        <p:cNvPr id="89" name=""/>
        <p:cNvGrpSpPr/>
        <p:nvPr/>
      </p:nvGrpSpPr>
      <p:grpSpPr>
        <a:xfrm>
          <a:off x="0" y="0"/>
          <a:ext cx="0" cy="0"/>
          <a:chOff x="0" y="0"/>
          <a:chExt cx="0" cy="0"/>
        </a:xfrm>
      </p:grpSpPr>
      <p:sp>
        <p:nvSpPr>
          <p:cNvPr id="90" name=""/>
          <p:cNvSpPr/>
          <p:nvPr>
            <p:ph type="body"/>
          </p:nvPr>
        </p:nvSpPr>
        <p:spPr>
          <a:xfrm>
            <a:off x="0" y="0"/>
            <a:ext cx="177800" cy="444500"/>
          </a:xfrm>
          <a:prstGeom prst="rect">
            <a:avLst/>
          </a:prstGeom>
        </p:spPr>
        <p:txBody>
          <a:bodyPr/>
          <a:p>
            <a:pPr/>
            <a:r>
              <a:rPr lang="zh-CN"/>
              <a:t>那最后个问题就是，假设我们机器内存资源预留的足够，前面我们提到过</a:t>
            </a:r>
            <a:r>
              <a:rPr lang="en-US"/>
              <a:t> replica COB </a:t>
            </a:r>
            <a:r>
              <a:rPr lang="zh-CN"/>
              <a:t>的内存会算进</a:t>
            </a:r>
            <a:r>
              <a:rPr lang="en-US"/>
              <a:t> used_memory</a:t>
            </a:r>
            <a:r>
              <a:rPr lang="zh-CN"/>
              <a:t>，但是它不会参与</a:t>
            </a:r>
            <a:r>
              <a:rPr lang="en-US"/>
              <a:t> maxmemory </a:t>
            </a:r>
            <a:r>
              <a:rPr lang="zh-CN"/>
              <a:t>计算</a:t>
            </a:r>
            <a:endParaRPr/>
          </a:p>
          <a:p>
            <a:pPr/>
            <a:r>
              <a:rPr lang="zh-CN"/>
              <a:t>所以如图可以看到，其中一些后缀为</a:t>
            </a:r>
            <a:r>
              <a:rPr lang="en-US"/>
              <a:t> binbin </a:t>
            </a:r>
            <a:r>
              <a:rPr lang="zh-CN"/>
              <a:t>的字段是我自己为了方便看加的，然后再去除一些不讲的字段，可以看到</a:t>
            </a:r>
            <a:endParaRPr/>
          </a:p>
          <a:p>
            <a:pPr/>
            <a:r>
              <a:rPr lang="zh-CN"/>
              <a:t>在</a:t>
            </a:r>
            <a:r>
              <a:rPr lang="en-US"/>
              <a:t> maxmemory </a:t>
            </a:r>
            <a:r>
              <a:rPr lang="zh-CN"/>
              <a:t>有设置的情况下，我们节点的</a:t>
            </a:r>
            <a:r>
              <a:rPr lang="en-US"/>
              <a:t> used_memory </a:t>
            </a:r>
            <a:r>
              <a:rPr lang="zh-CN"/>
              <a:t>内存吃了非常多，然后都是副本客户端输出缓冲区吃的</a:t>
            </a:r>
            <a:endParaRPr/>
          </a:p>
          <a:p>
            <a:pPr/>
            <a:r>
              <a:rPr lang="zh-CN"/>
              <a:t>所以你会看到曲线监控啥的，内存一直在涨，超过</a:t>
            </a:r>
            <a:r>
              <a:rPr lang="en-US"/>
              <a:t> maxmemory</a:t>
            </a:r>
            <a:endParaRPr/>
          </a:p>
          <a:p>
            <a:pPr/>
            <a:endParaRPr lang="en-US"/>
          </a:p>
          <a:p>
            <a:pPr/>
            <a:r>
              <a:rPr lang="en-US"/>
              <a:t>test "No limit on replica client output buffer" {
    start_server {tags {"dual-channel-replication external:skip"}} {
        set primary [srv 0 client]
        set primary_host [srv 0 host]
        set primary_port [srv 0 port]
        $primary debug log "test case 4 - i am the primary"
        $primary config set repl-diskless-sync yes
        $primary config set repl-diskless-sync-delay 0
        $primary config set dual-channel-replication-enabled no
        $primary config set maxmemory 20MB
        $primary config set client-output-buffer-limit "replica 0 0 0"
        start_server {} {
            set replica [srv 0 client]
            set replica_pid [srv 0 pid]
            $replica debug log "test case 4 - i am the replica"
            $replica config set dual-channel-replication-enabled no
            $replica config set loading-process-events-interval-bytes 1024
            $replica replicaof $primary_host $primary_port
            wait_replica_online $primary
            pause_process $replica_pid
            set bigstr [string repeat x 1000000]
            for {set j 0} {$j &lt; 500} {incr j} {
                $primary set key $bigstr
            }
            puts [$primary info memory]
            resume_process $replica_pid
        }
    }
}</a:t>
            </a:r>
            <a:endParaRPr/>
          </a:p>
        </p:txBody>
      </p:sp>
    </p:spTree>
  </p:cSld>
</p:notes>
</file>

<file path=ppt/notesSlides/notesSlide45.xml><?xml version="1.0" encoding="utf-8"?>
<p:notes xmlns:a="http://schemas.openxmlformats.org/drawingml/2006/main" xmlns:p="http://schemas.openxmlformats.org/presentationml/2006/main">
  <p:cSld>
    <p:spTree>
      <p:nvGrpSpPr>
        <p:cNvPr id="91" name=""/>
        <p:cNvGrpSpPr/>
        <p:nvPr/>
      </p:nvGrpSpPr>
      <p:grpSpPr>
        <a:xfrm>
          <a:off x="0" y="0"/>
          <a:ext cx="0" cy="0"/>
          <a:chOff x="0" y="0"/>
          <a:chExt cx="0" cy="0"/>
        </a:xfrm>
      </p:grpSpPr>
      <p:sp>
        <p:nvSpPr>
          <p:cNvPr id="92" name=""/>
          <p:cNvSpPr/>
          <p:nvPr>
            <p:ph type="body"/>
          </p:nvPr>
        </p:nvSpPr>
        <p:spPr>
          <a:xfrm>
            <a:off x="0" y="0"/>
            <a:ext cx="177800" cy="444500"/>
          </a:xfrm>
          <a:prstGeom prst="rect">
            <a:avLst/>
          </a:prstGeom>
        </p:spPr>
        <p:txBody>
          <a:bodyPr/>
          <a:p>
            <a:pPr/>
            <a:r>
              <a:rPr lang="zh-CN"/>
              <a:t>前面的一些问题大家应该都能懂或者都能有印象了，这里就再列出一些问题点</a:t>
            </a:r>
            <a:endParaRPr/>
          </a:p>
          <a:p>
            <a:pPr/>
            <a:r>
              <a:rPr lang="zh-CN"/>
              <a:t>我们想要提高全量同步的成功率和可靠性，社区针对这些问题进行了优化，在</a:t>
            </a:r>
            <a:r>
              <a:rPr lang="en-US"/>
              <a:t> Valkey 8.0 </a:t>
            </a:r>
            <a:r>
              <a:rPr lang="zh-CN"/>
              <a:t>引入了</a:t>
            </a:r>
            <a:r>
              <a:rPr lang="en-US"/>
              <a:t> dual channel replication</a:t>
            </a:r>
            <a:endParaRPr/>
          </a:p>
        </p:txBody>
      </p:sp>
    </p:spTree>
  </p:cSld>
</p:notes>
</file>

<file path=ppt/notesSlides/notesSlide46.xml><?xml version="1.0" encoding="utf-8"?>
<p:notes xmlns:a="http://schemas.openxmlformats.org/drawingml/2006/main" xmlns:p="http://schemas.openxmlformats.org/presentationml/2006/main">
  <p:cSld>
    <p:spTree>
      <p:nvGrpSpPr>
        <p:cNvPr id="93" name=""/>
        <p:cNvGrpSpPr/>
        <p:nvPr/>
      </p:nvGrpSpPr>
      <p:grpSpPr>
        <a:xfrm>
          <a:off x="0" y="0"/>
          <a:ext cx="0" cy="0"/>
          <a:chOff x="0" y="0"/>
          <a:chExt cx="0" cy="0"/>
        </a:xfrm>
      </p:grpSpPr>
      <p:sp>
        <p:nvSpPr>
          <p:cNvPr id="94" name=""/>
          <p:cNvSpPr/>
          <p:nvPr>
            <p:ph type="body"/>
          </p:nvPr>
        </p:nvSpPr>
        <p:spPr>
          <a:xfrm>
            <a:off x="0" y="0"/>
            <a:ext cx="177800" cy="444500"/>
          </a:xfrm>
          <a:prstGeom prst="rect">
            <a:avLst/>
          </a:prstGeom>
        </p:spPr>
        <p:txBody>
          <a:bodyPr/>
          <a:p>
            <a:pPr/>
            <a:r>
              <a:rPr lang="zh-CN"/>
              <a:t>这是对应的</a:t>
            </a:r>
            <a:r>
              <a:rPr lang="en-US"/>
              <a:t> dual channel </a:t>
            </a:r>
            <a:r>
              <a:rPr lang="zh-CN"/>
              <a:t>的</a:t>
            </a:r>
            <a:r>
              <a:rPr lang="en-US"/>
              <a:t> PR</a:t>
            </a:r>
            <a:endParaRPr/>
          </a:p>
        </p:txBody>
      </p:sp>
    </p:spTree>
  </p:cSld>
</p:notes>
</file>

<file path=ppt/notesSlides/notesSlide47.xml><?xml version="1.0" encoding="utf-8"?>
<p:notes xmlns:a="http://schemas.openxmlformats.org/drawingml/2006/main" xmlns:p="http://schemas.openxmlformats.org/presentationml/2006/main">
  <p:cSld>
    <p:spTree>
      <p:nvGrpSpPr>
        <p:cNvPr id="95" name=""/>
        <p:cNvGrpSpPr/>
        <p:nvPr/>
      </p:nvGrpSpPr>
      <p:grpSpPr>
        <a:xfrm>
          <a:off x="0" y="0"/>
          <a:ext cx="0" cy="0"/>
          <a:chOff x="0" y="0"/>
          <a:chExt cx="0" cy="0"/>
        </a:xfrm>
      </p:grpSpPr>
      <p:sp>
        <p:nvSpPr>
          <p:cNvPr id="96" name=""/>
          <p:cNvSpPr/>
          <p:nvPr>
            <p:ph type="body"/>
          </p:nvPr>
        </p:nvSpPr>
        <p:spPr>
          <a:xfrm>
            <a:off x="0" y="0"/>
            <a:ext cx="177800" cy="444500"/>
          </a:xfrm>
          <a:prstGeom prst="rect">
            <a:avLst/>
          </a:prstGeom>
        </p:spPr>
        <p:txBody>
          <a:bodyPr/>
          <a:p>
            <a:pPr/>
            <a:r>
              <a:rPr lang="zh-CN"/>
              <a:t>这是前面有列的图，两条连接</a:t>
            </a:r>
            <a:endParaRPr/>
          </a:p>
        </p:txBody>
      </p:sp>
    </p:spTree>
  </p:cSld>
</p:notes>
</file>

<file path=ppt/notesSlides/notesSlide48.xml><?xml version="1.0" encoding="utf-8"?>
<p:notes xmlns:a="http://schemas.openxmlformats.org/drawingml/2006/main" xmlns:p="http://schemas.openxmlformats.org/presentationml/2006/main">
  <p:cSld>
    <p:spTree>
      <p:nvGrpSpPr>
        <p:cNvPr id="97" name=""/>
        <p:cNvGrpSpPr/>
        <p:nvPr/>
      </p:nvGrpSpPr>
      <p:grpSpPr>
        <a:xfrm>
          <a:off x="0" y="0"/>
          <a:ext cx="0" cy="0"/>
          <a:chOff x="0" y="0"/>
          <a:chExt cx="0" cy="0"/>
        </a:xfrm>
      </p:grpSpPr>
      <p:sp>
        <p:nvSpPr>
          <p:cNvPr id="98" name=""/>
          <p:cNvSpPr/>
          <p:nvPr>
            <p:ph type="body"/>
          </p:nvPr>
        </p:nvSpPr>
        <p:spPr>
          <a:xfrm>
            <a:off x="0" y="0"/>
            <a:ext cx="177800" cy="444500"/>
          </a:xfrm>
          <a:prstGeom prst="rect">
            <a:avLst/>
          </a:prstGeom>
        </p:spPr>
        <p:txBody>
          <a:bodyPr/>
          <a:p>
            <a:pPr/>
            <a:r>
              <a:rPr lang="zh-CN"/>
              <a:t>在</a:t>
            </a:r>
            <a:r>
              <a:rPr lang="en-US"/>
              <a:t> dual channel </a:t>
            </a:r>
            <a:r>
              <a:rPr lang="zh-CN"/>
              <a:t>之前，是</a:t>
            </a:r>
            <a:r>
              <a:rPr lang="en-US"/>
              <a:t> single channel </a:t>
            </a:r>
            <a:r>
              <a:rPr lang="zh-CN"/>
              <a:t>的方式，主从之间使用一条连接发送</a:t>
            </a:r>
            <a:r>
              <a:rPr lang="en-US"/>
              <a:t> RDB </a:t>
            </a:r>
            <a:r>
              <a:rPr lang="zh-CN"/>
              <a:t>快照和增量命令</a:t>
            </a:r>
            <a:endParaRPr/>
          </a:p>
        </p:txBody>
      </p:sp>
    </p:spTree>
  </p:cSld>
</p:notes>
</file>

<file path=ppt/notesSlides/notesSlide49.xml><?xml version="1.0" encoding="utf-8"?>
<p:notes xmlns:a="http://schemas.openxmlformats.org/drawingml/2006/main" xmlns:p="http://schemas.openxmlformats.org/presentationml/2006/main">
  <p:cSld>
    <p:spTree>
      <p:nvGrpSpPr>
        <p:cNvPr id="99" name=""/>
        <p:cNvGrpSpPr/>
        <p:nvPr/>
      </p:nvGrpSpPr>
      <p:grpSpPr>
        <a:xfrm>
          <a:off x="0" y="0"/>
          <a:ext cx="0" cy="0"/>
          <a:chOff x="0" y="0"/>
          <a:chExt cx="0" cy="0"/>
        </a:xfrm>
      </p:grpSpPr>
      <p:sp>
        <p:nvSpPr>
          <p:cNvPr id="100" name=""/>
          <p:cNvSpPr/>
          <p:nvPr>
            <p:ph type="body"/>
          </p:nvPr>
        </p:nvSpPr>
        <p:spPr>
          <a:xfrm>
            <a:off x="0" y="0"/>
            <a:ext cx="177800" cy="444500"/>
          </a:xfrm>
          <a:prstGeom prst="rect">
            <a:avLst/>
          </a:prstGeom>
        </p:spPr>
        <p:txBody>
          <a:bodyPr/>
          <a:p>
            <a:pPr/>
            <a:r>
              <a:rPr lang="zh-CN"/>
              <a:t>这个过程是串行的，那很容易想到，为了减少主节点那边</a:t>
            </a:r>
            <a:r>
              <a:rPr lang="en-US"/>
              <a:t> COB </a:t>
            </a:r>
            <a:r>
              <a:rPr lang="zh-CN"/>
              <a:t>的影响，我们是不是可以将那些增量命令，提前发送给副本节点</a:t>
            </a:r>
            <a:endParaRPr/>
          </a:p>
          <a:p>
            <a:pPr/>
            <a:r>
              <a:rPr lang="zh-CN"/>
              <a:t>让副本节点在本地内存暂存这个内容，双通道复制就是这样的原理，主从之间有两条连接，一条用于传输</a:t>
            </a:r>
            <a:r>
              <a:rPr lang="en-US"/>
              <a:t> RDB </a:t>
            </a:r>
            <a:r>
              <a:rPr lang="zh-CN"/>
              <a:t>快照数据，一条用来传输增量命令</a:t>
            </a:r>
            <a:endParaRPr/>
          </a:p>
        </p:txBody>
      </p:sp>
    </p:spTree>
  </p:cSld>
</p:notes>
</file>

<file path=ppt/notesSlides/notesSlide50.xml><?xml version="1.0" encoding="utf-8"?>
<p:notes xmlns:a="http://schemas.openxmlformats.org/drawingml/2006/main" xmlns:p="http://schemas.openxmlformats.org/presentationml/2006/main">
  <p:cSld>
    <p:spTree>
      <p:nvGrpSpPr>
        <p:cNvPr id="101" name=""/>
        <p:cNvGrpSpPr/>
        <p:nvPr/>
      </p:nvGrpSpPr>
      <p:grpSpPr>
        <a:xfrm>
          <a:off x="0" y="0"/>
          <a:ext cx="0" cy="0"/>
          <a:chOff x="0" y="0"/>
          <a:chExt cx="0" cy="0"/>
        </a:xfrm>
      </p:grpSpPr>
      <p:sp>
        <p:nvSpPr>
          <p:cNvPr id="102" name=""/>
          <p:cNvSpPr/>
          <p:nvPr>
            <p:ph type="body"/>
          </p:nvPr>
        </p:nvSpPr>
        <p:spPr>
          <a:xfrm>
            <a:off x="0" y="0"/>
            <a:ext cx="177800" cy="444500"/>
          </a:xfrm>
          <a:prstGeom prst="rect">
            <a:avLst/>
          </a:prstGeom>
        </p:spPr>
        <p:txBody>
          <a:bodyPr/>
          <a:p>
            <a:pPr/>
            <a:r>
              <a:rPr lang="zh-CN"/>
              <a:t>再详细点说，我们前面其实有一页内容提到了父子进程传输的问题</a:t>
            </a:r>
            <a:endParaRPr/>
          </a:p>
          <a:p>
            <a:pPr/>
            <a:r>
              <a:rPr lang="zh-CN"/>
              <a:t>当引入了</a:t>
            </a:r>
            <a:r>
              <a:rPr lang="en-US"/>
              <a:t> dual channel </a:t>
            </a:r>
            <a:r>
              <a:rPr lang="zh-CN"/>
              <a:t>后，主节点那边会在子进程里利用</a:t>
            </a:r>
            <a:r>
              <a:rPr lang="en-US"/>
              <a:t> rdb channel </a:t>
            </a:r>
            <a:r>
              <a:rPr lang="zh-CN"/>
              <a:t>放松快照数据。</a:t>
            </a:r>
            <a:endParaRPr/>
          </a:p>
          <a:p>
            <a:pPr/>
            <a:r>
              <a:rPr lang="zh-CN"/>
              <a:t>会在</a:t>
            </a:r>
            <a:r>
              <a:rPr lang="en-US"/>
              <a:t> main-channel </a:t>
            </a:r>
            <a:r>
              <a:rPr lang="zh-CN"/>
              <a:t>上发送增量命令，之后副本节点会将数据暂存到本地内存上</a:t>
            </a:r>
            <a:endParaRPr/>
          </a:p>
        </p:txBody>
      </p:sp>
    </p:spTree>
  </p:cSld>
</p:notes>
</file>

<file path=ppt/notesSlides/notesSlide51.xml><?xml version="1.0" encoding="utf-8"?>
<p:notes xmlns:a="http://schemas.openxmlformats.org/drawingml/2006/main" xmlns:p="http://schemas.openxmlformats.org/presentationml/2006/main">
  <p:cSld>
    <p:spTree>
      <p:nvGrpSpPr>
        <p:cNvPr id="103" name=""/>
        <p:cNvGrpSpPr/>
        <p:nvPr/>
      </p:nvGrpSpPr>
      <p:grpSpPr>
        <a:xfrm>
          <a:off x="0" y="0"/>
          <a:ext cx="0" cy="0"/>
          <a:chOff x="0" y="0"/>
          <a:chExt cx="0" cy="0"/>
        </a:xfrm>
      </p:grpSpPr>
      <p:sp>
        <p:nvSpPr>
          <p:cNvPr id="104" name=""/>
          <p:cNvSpPr/>
          <p:nvPr>
            <p:ph type="body"/>
          </p:nvPr>
        </p:nvSpPr>
        <p:spPr>
          <a:xfrm>
            <a:off x="0" y="0"/>
            <a:ext cx="177800" cy="444500"/>
          </a:xfrm>
          <a:prstGeom prst="rect">
            <a:avLst/>
          </a:prstGeom>
        </p:spPr>
        <p:txBody>
          <a:bodyPr/>
          <a:p>
            <a:pPr/>
            <a:r>
              <a:rPr lang="zh-CN"/>
              <a:t>那么</a:t>
            </a:r>
            <a:r>
              <a:rPr lang="en-US"/>
              <a:t> dual channel </a:t>
            </a:r>
            <a:r>
              <a:rPr lang="zh-CN"/>
              <a:t>纠结是怎样的，前面都是图，这里是文字部分的内容。</a:t>
            </a:r>
            <a:endParaRPr/>
          </a:p>
        </p:txBody>
      </p:sp>
    </p:spTree>
  </p:cSld>
</p:notes>
</file>

<file path=ppt/notesSlides/notesSlide52.xml><?xml version="1.0" encoding="utf-8"?>
<p:notes xmlns:a="http://schemas.openxmlformats.org/drawingml/2006/main" xmlns:p="http://schemas.openxmlformats.org/presentationml/2006/main">
  <p:cSld>
    <p:spTree>
      <p:nvGrpSpPr>
        <p:cNvPr id="105" name=""/>
        <p:cNvGrpSpPr/>
        <p:nvPr/>
      </p:nvGrpSpPr>
      <p:grpSpPr>
        <a:xfrm>
          <a:off x="0" y="0"/>
          <a:ext cx="0" cy="0"/>
          <a:chOff x="0" y="0"/>
          <a:chExt cx="0" cy="0"/>
        </a:xfrm>
      </p:grpSpPr>
      <p:sp>
        <p:nvSpPr>
          <p:cNvPr id="106" name=""/>
          <p:cNvSpPr/>
          <p:nvPr>
            <p:ph type="body"/>
          </p:nvPr>
        </p:nvSpPr>
        <p:spPr>
          <a:xfrm>
            <a:off x="0" y="0"/>
            <a:ext cx="177800" cy="444500"/>
          </a:xfrm>
          <a:prstGeom prst="rect">
            <a:avLst/>
          </a:prstGeom>
        </p:spPr>
        <p:txBody>
          <a:bodyPr/>
          <a:p>
            <a:pPr/>
            <a:r>
              <a:rPr lang="zh-CN"/>
              <a:t>通过前面的描述后，我们也能知道，</a:t>
            </a:r>
            <a:r>
              <a:rPr lang="en-US"/>
              <a:t>dual channel </a:t>
            </a:r>
            <a:r>
              <a:rPr lang="zh-CN"/>
              <a:t>其实就是用两条连接，分别做</a:t>
            </a:r>
            <a:r>
              <a:rPr lang="en-US"/>
              <a:t> full sync </a:t>
            </a:r>
            <a:r>
              <a:rPr lang="zh-CN"/>
              <a:t>和</a:t>
            </a:r>
            <a:r>
              <a:rPr lang="en-US"/>
              <a:t> psync</a:t>
            </a:r>
            <a:r>
              <a:rPr lang="zh-CN"/>
              <a:t>，通过串行副本提前缓存的方式，来优化全量同步。</a:t>
            </a:r>
            <a:endParaRPr/>
          </a:p>
          <a:p>
            <a:pPr/>
            <a:endParaRPr lang="en-US"/>
          </a:p>
        </p:txBody>
      </p:sp>
    </p:spTree>
  </p:cSld>
</p:notes>
</file>

<file path=ppt/notesSlides/notesSlide53.xml><?xml version="1.0" encoding="utf-8"?>
<p:notes xmlns:a="http://schemas.openxmlformats.org/drawingml/2006/main" xmlns:p="http://schemas.openxmlformats.org/presentationml/2006/main">
  <p:cSld>
    <p:spTree>
      <p:nvGrpSpPr>
        <p:cNvPr id="107" name=""/>
        <p:cNvGrpSpPr/>
        <p:nvPr/>
      </p:nvGrpSpPr>
      <p:grpSpPr>
        <a:xfrm>
          <a:off x="0" y="0"/>
          <a:ext cx="0" cy="0"/>
          <a:chOff x="0" y="0"/>
          <a:chExt cx="0" cy="0"/>
        </a:xfrm>
      </p:grpSpPr>
      <p:sp>
        <p:nvSpPr>
          <p:cNvPr id="108" name=""/>
          <p:cNvSpPr/>
          <p:nvPr>
            <p:ph type="body"/>
          </p:nvPr>
        </p:nvSpPr>
        <p:spPr>
          <a:xfrm>
            <a:off x="0" y="0"/>
            <a:ext cx="177800" cy="444500"/>
          </a:xfrm>
          <a:prstGeom prst="rect">
            <a:avLst/>
          </a:prstGeom>
        </p:spPr>
        <p:txBody>
          <a:bodyPr/>
          <a:p>
            <a:pPr/>
            <a:r>
              <a:rPr lang="en-US"/>
              <a:t>dual channel </a:t>
            </a:r>
            <a:r>
              <a:rPr lang="zh-CN"/>
              <a:t>引入后的好处</a:t>
            </a:r>
            <a:endParaRPr/>
          </a:p>
          <a:p>
            <a:pPr/>
            <a:r>
              <a:rPr lang="zh-CN"/>
              <a:t>首先第一重要的点，就是可以减少主节点那边的内存压力</a:t>
            </a:r>
            <a:endParaRPr/>
          </a:p>
          <a:p>
            <a:pPr/>
            <a:r>
              <a:rPr lang="zh-CN"/>
              <a:t>第二点则是，可以通过子进程单独传输</a:t>
            </a:r>
            <a:r>
              <a:rPr lang="en-US"/>
              <a:t> RDB </a:t>
            </a:r>
            <a:r>
              <a:rPr lang="zh-CN"/>
              <a:t>快照，能够减少主节点主线程的</a:t>
            </a:r>
            <a:r>
              <a:rPr lang="en-US"/>
              <a:t> CPU </a:t>
            </a:r>
            <a:r>
              <a:rPr lang="zh-CN"/>
              <a:t>负载</a:t>
            </a:r>
            <a:endParaRPr/>
          </a:p>
        </p:txBody>
      </p:sp>
    </p:spTree>
  </p:cSld>
</p:notes>
</file>

<file path=ppt/notesSlides/notesSlide54.xml><?xml version="1.0" encoding="utf-8"?>
<p:notes xmlns:a="http://schemas.openxmlformats.org/drawingml/2006/main" xmlns:p="http://schemas.openxmlformats.org/presentationml/2006/main">
  <p:cSld>
    <p:spTree>
      <p:nvGrpSpPr>
        <p:cNvPr id="109" name=""/>
        <p:cNvGrpSpPr/>
        <p:nvPr/>
      </p:nvGrpSpPr>
      <p:grpSpPr>
        <a:xfrm>
          <a:off x="0" y="0"/>
          <a:ext cx="0" cy="0"/>
          <a:chOff x="0" y="0"/>
          <a:chExt cx="0" cy="0"/>
        </a:xfrm>
      </p:grpSpPr>
      <p:sp>
        <p:nvSpPr>
          <p:cNvPr id="110" name=""/>
          <p:cNvSpPr/>
          <p:nvPr>
            <p:ph type="body"/>
          </p:nvPr>
        </p:nvSpPr>
        <p:spPr>
          <a:xfrm>
            <a:off x="0" y="0"/>
            <a:ext cx="177800" cy="444500"/>
          </a:xfrm>
          <a:prstGeom prst="rect">
            <a:avLst/>
          </a:prstGeom>
        </p:spPr>
        <p:txBody>
          <a:bodyPr/>
          <a:p>
            <a:pPr/>
            <a:r>
              <a:rPr lang="zh-CN"/>
              <a:t>之后的好处，跳出主节点视角后，我们可以提高</a:t>
            </a:r>
            <a:r>
              <a:rPr lang="en-US"/>
              <a:t> full sync </a:t>
            </a:r>
            <a:r>
              <a:rPr lang="zh-CN"/>
              <a:t>的成功率和效率。</a:t>
            </a:r>
            <a:endParaRPr/>
          </a:p>
          <a:p>
            <a:pPr/>
            <a:r>
              <a:rPr lang="zh-CN"/>
              <a:t>更大的</a:t>
            </a:r>
            <a:r>
              <a:rPr lang="en-US"/>
              <a:t> COB </a:t>
            </a:r>
            <a:r>
              <a:rPr lang="zh-CN"/>
              <a:t>限制意味着有更高的全量同步成功率</a:t>
            </a:r>
            <a:endParaRPr/>
          </a:p>
          <a:p>
            <a:pPr/>
            <a:r>
              <a:rPr lang="zh-CN"/>
              <a:t>然后因为有两条连接可以并行传输数据，全量同步的效率也是有提高的</a:t>
            </a:r>
            <a:endParaRPr/>
          </a:p>
        </p:txBody>
      </p:sp>
    </p:spTree>
  </p:cSld>
</p:notes>
</file>

<file path=ppt/notesSlides/notesSlide55.xml><?xml version="1.0" encoding="utf-8"?>
<p:notes xmlns:a="http://schemas.openxmlformats.org/drawingml/2006/main" xmlns:p="http://schemas.openxmlformats.org/presentationml/2006/main">
  <p:cSld>
    <p:spTree>
      <p:nvGrpSpPr>
        <p:cNvPr id="111" name=""/>
        <p:cNvGrpSpPr/>
        <p:nvPr/>
      </p:nvGrpSpPr>
      <p:grpSpPr>
        <a:xfrm>
          <a:off x="0" y="0"/>
          <a:ext cx="0" cy="0"/>
          <a:chOff x="0" y="0"/>
          <a:chExt cx="0" cy="0"/>
        </a:xfrm>
      </p:grpSpPr>
      <p:sp>
        <p:nvSpPr>
          <p:cNvPr id="112" name=""/>
          <p:cNvSpPr/>
          <p:nvPr>
            <p:ph type="body"/>
          </p:nvPr>
        </p:nvSpPr>
        <p:spPr>
          <a:xfrm>
            <a:off x="0" y="0"/>
            <a:ext cx="177800" cy="444500"/>
          </a:xfrm>
          <a:prstGeom prst="rect">
            <a:avLst/>
          </a:prstGeom>
        </p:spPr>
        <p:txBody>
          <a:bodyPr/>
          <a:p>
            <a:pPr/>
            <a:r>
              <a:rPr lang="zh-CN"/>
              <a:t>之后是一些可能没那么重要的好处</a:t>
            </a:r>
            <a:endParaRPr/>
          </a:p>
          <a:p>
            <a:pPr/>
            <a:endParaRPr lang="en-US"/>
          </a:p>
          <a:p>
            <a:pPr/>
            <a:r>
              <a:rPr lang="zh-CN"/>
              <a:t>比如说增强副本节点的数据一致性，之前副本上线后需要通过网络从主节点那边消费之前堆积的增量命令，而现在可以直接从本地内存中消费，这实际上是可以稍微增强副本的数据一致性</a:t>
            </a:r>
            <a:endParaRPr/>
          </a:p>
          <a:p>
            <a:pPr/>
            <a:r>
              <a:rPr lang="zh-CN"/>
              <a:t>副本能够更快的消费完增量数据，那么副本跟主节点之前的主从延时或者落后的时间窗口，就会小很多</a:t>
            </a:r>
            <a:endParaRPr/>
          </a:p>
          <a:p>
            <a:pPr/>
            <a:endParaRPr lang="en-US"/>
          </a:p>
          <a:p>
            <a:pPr/>
            <a:r>
              <a:rPr lang="zh-CN"/>
              <a:t>然后因为主节点可以使用子进程发送</a:t>
            </a:r>
            <a:r>
              <a:rPr lang="en-US"/>
              <a:t> RDB </a:t>
            </a:r>
            <a:r>
              <a:rPr lang="zh-CN"/>
              <a:t>快照，这对比以前都是用主线程发的时候，除了能减轻主线程</a:t>
            </a:r>
            <a:r>
              <a:rPr lang="en-US"/>
              <a:t> CPU </a:t>
            </a:r>
            <a:r>
              <a:rPr lang="zh-CN"/>
              <a:t>负载，另一个角度上来说，主线程现在也不会影响</a:t>
            </a:r>
            <a:r>
              <a:rPr lang="en-US"/>
              <a:t> RDB </a:t>
            </a:r>
            <a:r>
              <a:rPr lang="zh-CN"/>
              <a:t>快照内容发送了</a:t>
            </a:r>
            <a:endParaRPr/>
          </a:p>
          <a:p>
            <a:pPr/>
            <a:r>
              <a:rPr lang="zh-CN"/>
              <a:t>无论主节点主线程因为用户流量负载变大，还是因为业务慢查询被命令阻塞，都不会影响子进程中发送</a:t>
            </a:r>
            <a:r>
              <a:rPr lang="en-US"/>
              <a:t> RDB </a:t>
            </a:r>
            <a:r>
              <a:rPr lang="zh-CN"/>
              <a:t>快照数据</a:t>
            </a:r>
            <a:endParaRPr/>
          </a:p>
        </p:txBody>
      </p:sp>
    </p:spTree>
  </p:cSld>
</p:notes>
</file>

<file path=ppt/notesSlides/notesSlide56.xml><?xml version="1.0" encoding="utf-8"?>
<p:notes xmlns:a="http://schemas.openxmlformats.org/drawingml/2006/main" xmlns:p="http://schemas.openxmlformats.org/presentationml/2006/main">
  <p:cSld>
    <p:spTree>
      <p:nvGrpSpPr>
        <p:cNvPr id="113" name=""/>
        <p:cNvGrpSpPr/>
        <p:nvPr/>
      </p:nvGrpSpPr>
      <p:grpSpPr>
        <a:xfrm>
          <a:off x="0" y="0"/>
          <a:ext cx="0" cy="0"/>
          <a:chOff x="0" y="0"/>
          <a:chExt cx="0" cy="0"/>
        </a:xfrm>
      </p:grpSpPr>
      <p:sp>
        <p:nvSpPr>
          <p:cNvPr id="114" name=""/>
          <p:cNvSpPr/>
          <p:nvPr>
            <p:ph type="body"/>
          </p:nvPr>
        </p:nvSpPr>
        <p:spPr>
          <a:xfrm>
            <a:off x="0" y="0"/>
            <a:ext cx="177800" cy="444500"/>
          </a:xfrm>
          <a:prstGeom prst="rect">
            <a:avLst/>
          </a:prstGeom>
        </p:spPr>
        <p:txBody>
          <a:bodyPr/>
          <a:p>
            <a:pPr/>
            <a:r>
              <a:rPr lang="en-US"/>
              <a:t>dual channel </a:t>
            </a:r>
            <a:r>
              <a:rPr lang="zh-CN"/>
              <a:t>相关的配置项</a:t>
            </a:r>
            <a:endParaRPr/>
          </a:p>
        </p:txBody>
      </p:sp>
    </p:spTree>
  </p:cSld>
</p:notes>
</file>

<file path=ppt/notesSlides/notesSlide57.xml><?xml version="1.0" encoding="utf-8"?>
<p:notes xmlns:a="http://schemas.openxmlformats.org/drawingml/2006/main" xmlns:p="http://schemas.openxmlformats.org/presentationml/2006/main">
  <p:cSld>
    <p:spTree>
      <p:nvGrpSpPr>
        <p:cNvPr id="115" name=""/>
        <p:cNvGrpSpPr/>
        <p:nvPr/>
      </p:nvGrpSpPr>
      <p:grpSpPr>
        <a:xfrm>
          <a:off x="0" y="0"/>
          <a:ext cx="0" cy="0"/>
          <a:chOff x="0" y="0"/>
          <a:chExt cx="0" cy="0"/>
        </a:xfrm>
      </p:grpSpPr>
      <p:sp>
        <p:nvSpPr>
          <p:cNvPr id="116" name=""/>
          <p:cNvSpPr/>
          <p:nvPr>
            <p:ph type="body"/>
          </p:nvPr>
        </p:nvSpPr>
        <p:spPr>
          <a:xfrm>
            <a:off x="0" y="0"/>
            <a:ext cx="177800" cy="444500"/>
          </a:xfrm>
          <a:prstGeom prst="rect">
            <a:avLst/>
          </a:prstGeom>
        </p:spPr>
        <p:txBody>
          <a:bodyPr/>
          <a:p>
            <a:pPr/>
            <a:r>
              <a:rPr lang="en-US"/>
              <a:t>dual channel </a:t>
            </a:r>
            <a:r>
              <a:rPr lang="zh-CN"/>
              <a:t>肯定是一个很好很重大的优化，如果我们鸡蛋里挑骨头，在</a:t>
            </a:r>
            <a:r>
              <a:rPr lang="en-US"/>
              <a:t> dual channel </a:t>
            </a:r>
            <a:r>
              <a:rPr lang="zh-CN"/>
              <a:t>上还能做的更多吗？</a:t>
            </a:r>
            <a:endParaRPr/>
          </a:p>
          <a:p>
            <a:pPr/>
            <a:endParaRPr lang="en-US"/>
          </a:p>
          <a:p>
            <a:pPr/>
            <a:r>
              <a:rPr lang="zh-CN"/>
              <a:t>首先，内存压力其实只是从主节点转移到了副本节点上，它并不是完全消除内存，整个机器或者实例的整体内存其实是没有变化的。</a:t>
            </a:r>
            <a:endParaRPr/>
          </a:p>
          <a:p>
            <a:pPr/>
            <a:r>
              <a:rPr lang="zh-CN"/>
              <a:t>我们可以考虑在副本节点侧那边将</a:t>
            </a:r>
            <a:r>
              <a:rPr lang="en-US"/>
              <a:t> local buffer </a:t>
            </a:r>
            <a:r>
              <a:rPr lang="zh-CN"/>
              <a:t>给进行落盘，根据场景需要，副本节点能够用硬盘来承接这些</a:t>
            </a:r>
            <a:r>
              <a:rPr lang="en-US"/>
              <a:t> COB </a:t>
            </a:r>
            <a:r>
              <a:rPr lang="zh-CN"/>
              <a:t>内容</a:t>
            </a:r>
            <a:endParaRPr/>
          </a:p>
          <a:p>
            <a:pPr/>
            <a:endParaRPr lang="en-US"/>
          </a:p>
          <a:p>
            <a:pPr/>
            <a:r>
              <a:rPr lang="zh-CN"/>
              <a:t>第二个的话，在前面我们提到了</a:t>
            </a:r>
            <a:r>
              <a:rPr lang="en-US"/>
              <a:t> 7.0 </a:t>
            </a:r>
            <a:r>
              <a:rPr lang="zh-CN"/>
              <a:t>引入的全局复制共享缓冲区，</a:t>
            </a:r>
            <a:r>
              <a:rPr lang="en-US"/>
              <a:t>dual channel </a:t>
            </a:r>
            <a:r>
              <a:rPr lang="zh-CN"/>
              <a:t>其实某种程度上跟它有点冲突</a:t>
            </a:r>
            <a:endParaRPr/>
          </a:p>
          <a:p>
            <a:pPr/>
            <a:r>
              <a:rPr lang="zh-CN"/>
              <a:t>在之前如果有</a:t>
            </a:r>
            <a:r>
              <a:rPr lang="en-US"/>
              <a:t> 5 </a:t>
            </a:r>
            <a:r>
              <a:rPr lang="zh-CN"/>
              <a:t>个副本同时做全量同步，主节点那边只需要维护一份缓冲区数据</a:t>
            </a:r>
            <a:endParaRPr/>
          </a:p>
          <a:p>
            <a:pPr/>
            <a:r>
              <a:rPr lang="zh-CN"/>
              <a:t>现在，主节点是不用维护缓冲区数据了，但是</a:t>
            </a:r>
            <a:r>
              <a:rPr lang="en-US"/>
              <a:t> 5 </a:t>
            </a:r>
            <a:r>
              <a:rPr lang="zh-CN"/>
              <a:t>个副本，需要在自己的内存里维护这个缓冲区数据</a:t>
            </a:r>
            <a:endParaRPr/>
          </a:p>
          <a:p>
            <a:pPr/>
            <a:r>
              <a:rPr lang="zh-CN"/>
              <a:t>可以做的优化是类似，主节点那边判断出有多个副本节点同时做全量同步，可以不走</a:t>
            </a:r>
            <a:r>
              <a:rPr lang="en-US"/>
              <a:t> dual channel</a:t>
            </a:r>
            <a:endParaRPr/>
          </a:p>
          <a:p>
            <a:pPr/>
            <a:r>
              <a:rPr lang="zh-CN"/>
              <a:t>每个人期待的行为可能不一样，要引入的话会需要一些配置项去控制，目前社区其实还没有想法规划这个</a:t>
            </a:r>
            <a:endParaRPr/>
          </a:p>
        </p:txBody>
      </p:sp>
    </p:spTree>
  </p:cSld>
</p:notes>
</file>

<file path=ppt/notesSlides/notesSlide58.xml><?xml version="1.0" encoding="utf-8"?>
<p:notes xmlns:a="http://schemas.openxmlformats.org/drawingml/2006/main" xmlns:p="http://schemas.openxmlformats.org/presentationml/2006/main">
  <p:cSld>
    <p:spTree>
      <p:nvGrpSpPr>
        <p:cNvPr id="117" name=""/>
        <p:cNvGrpSpPr/>
        <p:nvPr/>
      </p:nvGrpSpPr>
      <p:grpSpPr>
        <a:xfrm>
          <a:off x="0" y="0"/>
          <a:ext cx="0" cy="0"/>
          <a:chOff x="0" y="0"/>
          <a:chExt cx="0" cy="0"/>
        </a:xfrm>
      </p:grpSpPr>
      <p:sp>
        <p:nvSpPr>
          <p:cNvPr id="118" name=""/>
          <p:cNvSpPr/>
          <p:nvPr>
            <p:ph type="body"/>
          </p:nvPr>
        </p:nvSpPr>
        <p:spPr>
          <a:xfrm>
            <a:off x="0" y="0"/>
            <a:ext cx="177800" cy="444500"/>
          </a:xfrm>
          <a:prstGeom prst="rect">
            <a:avLst/>
          </a:prstGeom>
        </p:spPr>
        <p:txBody>
          <a:bodyPr/>
          <a:p>
            <a:pPr/>
            <a:r>
              <a:rPr lang="zh-CN"/>
              <a:t>之后则是一些具体使用上可能可以做的优化</a:t>
            </a:r>
            <a:endParaRPr/>
          </a:p>
          <a:p>
            <a:pPr/>
            <a:endParaRPr lang="en-US"/>
          </a:p>
          <a:p>
            <a:pPr/>
            <a:r>
              <a:rPr lang="zh-CN"/>
              <a:t>首先是副本可以边加载边继续缓存</a:t>
            </a:r>
            <a:endParaRPr/>
          </a:p>
          <a:p>
            <a:pPr/>
            <a:r>
              <a:rPr lang="zh-CN"/>
              <a:t>目前</a:t>
            </a:r>
            <a:r>
              <a:rPr lang="en-US"/>
              <a:t> Valkey </a:t>
            </a:r>
            <a:r>
              <a:rPr lang="zh-CN"/>
              <a:t>副本节点侧，在开始消费</a:t>
            </a:r>
            <a:r>
              <a:rPr lang="en-US"/>
              <a:t> local buffer </a:t>
            </a:r>
            <a:r>
              <a:rPr lang="zh-CN"/>
              <a:t>后，其实会暂停继续缓存，这个阶段开始</a:t>
            </a:r>
            <a:r>
              <a:rPr lang="en-US"/>
              <a:t> COB </a:t>
            </a:r>
            <a:r>
              <a:rPr lang="zh-CN"/>
              <a:t>是由主节点承担，如果</a:t>
            </a:r>
            <a:r>
              <a:rPr lang="en-US"/>
              <a:t> local buffer </a:t>
            </a:r>
            <a:r>
              <a:rPr lang="zh-CN"/>
              <a:t>很大，主节点那边可能还会堆积一些数据</a:t>
            </a:r>
            <a:endParaRPr/>
          </a:p>
          <a:p>
            <a:pPr/>
            <a:r>
              <a:rPr lang="zh-CN"/>
              <a:t>可以做的优化则是，副本在能协调消费速率的情况下，继续找主节点缓存数据，来尽可能转移主节点的内存</a:t>
            </a:r>
            <a:endParaRPr/>
          </a:p>
          <a:p>
            <a:pPr/>
            <a:endParaRPr lang="en-US"/>
          </a:p>
          <a:p>
            <a:pPr/>
            <a:r>
              <a:rPr lang="zh-CN"/>
              <a:t>目前副本节点对于</a:t>
            </a:r>
            <a:r>
              <a:rPr lang="en-US"/>
              <a:t> local buffer </a:t>
            </a:r>
            <a:r>
              <a:rPr lang="zh-CN"/>
              <a:t>大小的限制，是继承</a:t>
            </a:r>
            <a:r>
              <a:rPr lang="en-US"/>
              <a:t> COB </a:t>
            </a:r>
            <a:r>
              <a:rPr lang="zh-CN"/>
              <a:t>的，在一些运维场景下，单独一个新的配置项用来控制可能会更灵活。</a:t>
            </a:r>
            <a:endParaRPr/>
          </a:p>
          <a:p>
            <a:pPr/>
            <a:r>
              <a:rPr lang="zh-CN"/>
              <a:t>因为主从节点可能在任意时刻发生故障转移会做切换，主节点除了要预留</a:t>
            </a:r>
            <a:r>
              <a:rPr lang="en-US"/>
              <a:t> COB </a:t>
            </a:r>
            <a:r>
              <a:rPr lang="zh-CN"/>
              <a:t>外，还需要预留</a:t>
            </a:r>
            <a:r>
              <a:rPr lang="en-US"/>
              <a:t> COW </a:t>
            </a:r>
            <a:r>
              <a:rPr lang="zh-CN"/>
              <a:t>的内存，而副本节点往往这个时候不需要关注</a:t>
            </a:r>
            <a:r>
              <a:rPr lang="en-US"/>
              <a:t> COW </a:t>
            </a:r>
            <a:r>
              <a:rPr lang="zh-CN"/>
              <a:t>内存，所以它可以设置更大的</a:t>
            </a:r>
            <a:r>
              <a:rPr lang="en-US"/>
              <a:t> COB</a:t>
            </a:r>
            <a:endParaRPr/>
          </a:p>
          <a:p>
            <a:pPr/>
            <a:r>
              <a:rPr lang="zh-CN"/>
              <a:t>在这些更细致化的运维场景或者要求下，有新的配置项可能会更灵活。</a:t>
            </a:r>
            <a:endParaRPr/>
          </a:p>
        </p:txBody>
      </p:sp>
    </p:spTree>
  </p:cSld>
</p:notes>
</file>

<file path=ppt/notesSlides/notesSlide59.xml><?xml version="1.0" encoding="utf-8"?>
<p:notes xmlns:a="http://schemas.openxmlformats.org/drawingml/2006/main" xmlns:p="http://schemas.openxmlformats.org/presentationml/2006/main">
  <p:cSld>
    <p:spTree>
      <p:nvGrpSpPr>
        <p:cNvPr id="119" name=""/>
        <p:cNvGrpSpPr/>
        <p:nvPr/>
      </p:nvGrpSpPr>
      <p:grpSpPr>
        <a:xfrm>
          <a:off x="0" y="0"/>
          <a:ext cx="0" cy="0"/>
          <a:chOff x="0" y="0"/>
          <a:chExt cx="0" cy="0"/>
        </a:xfrm>
      </p:grpSpPr>
      <p:sp>
        <p:nvSpPr>
          <p:cNvPr id="120" name=""/>
          <p:cNvSpPr/>
          <p:nvPr>
            <p:ph type="body"/>
          </p:nvPr>
        </p:nvSpPr>
        <p:spPr>
          <a:xfrm>
            <a:off x="0" y="0"/>
            <a:ext cx="177800" cy="444500"/>
          </a:xfrm>
          <a:prstGeom prst="rect">
            <a:avLst/>
          </a:prstGeom>
        </p:spPr>
        <p:txBody>
          <a:bodyPr/>
          <a:p>
            <a:pPr/>
            <a:r>
              <a:rPr lang="zh-CN"/>
              <a:t>好，到这里其实我的技术分享也就结束了。</a:t>
            </a:r>
            <a:endParaRPr/>
          </a:p>
          <a:p>
            <a:pPr/>
            <a:endParaRPr lang="en-US"/>
          </a:p>
          <a:p>
            <a:pPr/>
            <a:r>
              <a:rPr lang="en-US"/>
              <a:t>Valkey </a:t>
            </a:r>
            <a:r>
              <a:rPr lang="zh-CN"/>
              <a:t>其实到现在也还是比较新的项目，我们很希望大家可以一起参与进来，参与不单单是提交代码，文档</a:t>
            </a:r>
            <a:r>
              <a:rPr lang="en-US"/>
              <a:t>/</a:t>
            </a:r>
            <a:r>
              <a:rPr lang="zh-CN"/>
              <a:t>问题</a:t>
            </a:r>
            <a:r>
              <a:rPr lang="en-US"/>
              <a:t>/</a:t>
            </a:r>
            <a:r>
              <a:rPr lang="zh-CN"/>
              <a:t>需求等都是参与</a:t>
            </a:r>
            <a:endParaRPr/>
          </a:p>
        </p:txBody>
      </p:sp>
    </p:spTree>
  </p:cSld>
</p:notes>
</file>

<file path=ppt/notesSlides/notesSlide60.xml><?xml version="1.0" encoding="utf-8"?>
<p:notes xmlns:a="http://schemas.openxmlformats.org/drawingml/2006/main" xmlns:p="http://schemas.openxmlformats.org/presentationml/2006/main">
  <p:cSld>
    <p:spTree>
      <p:nvGrpSpPr>
        <p:cNvPr id="121" name=""/>
        <p:cNvGrpSpPr/>
        <p:nvPr/>
      </p:nvGrpSpPr>
      <p:grpSpPr>
        <a:xfrm>
          <a:off x="0" y="0"/>
          <a:ext cx="0" cy="0"/>
          <a:chOff x="0" y="0"/>
          <a:chExt cx="0" cy="0"/>
        </a:xfrm>
      </p:grpSpPr>
      <p:sp>
        <p:nvSpPr>
          <p:cNvPr id="122" name=""/>
          <p:cNvSpPr/>
          <p:nvPr>
            <p:ph type="body"/>
          </p:nvPr>
        </p:nvSpPr>
        <p:spPr>
          <a:xfrm>
            <a:off x="0" y="0"/>
            <a:ext cx="177800" cy="444500"/>
          </a:xfrm>
          <a:prstGeom prst="rect">
            <a:avLst/>
          </a:prstGeom>
        </p:spPr>
        <p:txBody>
          <a:bodyPr/>
          <a:p>
            <a:pPr/>
            <a:r>
              <a:rPr lang="zh-CN"/>
              <a:t>好，到这里真正结束了，感谢大家的耐心观看。</a:t>
            </a:r>
            <a:r>
              <a:rPr lang="en-US"/>
              <a:t>Enjoy Valkey Keyspace!</a:t>
            </a:r>
            <a:endParaRPr/>
          </a:p>
        </p:txBody>
      </p:sp>
    </p:spTree>
  </p:cSld>
</p:notes>
</file>

<file path=ppt/notesSlides/notesSlide61.xml><?xml version="1.0" encoding="utf-8"?>
<p:notes xmlns:a="http://schemas.openxmlformats.org/drawingml/2006/main" xmlns:p="http://schemas.openxmlformats.org/presentationml/2006/main">
  <p:cSld>
    <p:spTree>
      <p:nvGrpSpPr>
        <p:cNvPr id="123" name=""/>
        <p:cNvGrpSpPr/>
        <p:nvPr/>
      </p:nvGrpSpPr>
      <p:grpSpPr>
        <a:xfrm>
          <a:off x="0" y="0"/>
          <a:ext cx="0" cy="0"/>
          <a:chOff x="0" y="0"/>
          <a:chExt cx="0" cy="0"/>
        </a:xfrm>
      </p:grpSpPr>
      <p:sp>
        <p:nvSpPr>
          <p:cNvPr id="124" name=""/>
          <p:cNvSpPr/>
          <p:nvPr>
            <p:ph type="body"/>
          </p:nvPr>
        </p:nvSpPr>
        <p:spPr>
          <a:xfrm>
            <a:off x="0" y="0"/>
            <a:ext cx="177800" cy="444500"/>
          </a:xfrm>
          <a:prstGeom prst="rect">
            <a:avLst/>
          </a:prstGeom>
        </p:spPr>
        <p:txBody>
          <a:bodyPr/>
          <a:p>
            <a:pPr/>
            <a:r>
              <a:rPr lang="zh-CN">
                <a:latin typeface="TencentSans W7"/>
                <a:ea typeface="TencentSans W7"/>
              </a:rPr>
              <a:t>第一点</a:t>
            </a:r>
            <a:endParaRPr/>
          </a:p>
          <a:p>
            <a:pPr/>
            <a:r>
              <a:rPr lang="zh-CN">
                <a:latin typeface="TencentSans W7"/>
                <a:ea typeface="TencentSans W7"/>
              </a:rPr>
              <a:t>主从复制是异步的，副本与主服务器之间会异步确认复制偏移量
作为客户端，你通常是无法控制数据会什么时候写入副本，你只能知道数据被写入了主节点，然后由主节点异步传播复制给副本节点</a:t>
            </a:r>
            <a:endParaRPr/>
          </a:p>
          <a:p>
            <a:pPr/>
            <a:endParaRPr lang="en-US">
              <a:latin typeface="TencentSans W7"/>
              <a:ea typeface="TencentSans W7"/>
            </a:endParaRPr>
          </a:p>
          <a:p>
            <a:pPr/>
            <a:r>
              <a:rPr lang="zh-CN">
                <a:latin typeface="TencentSans W7"/>
                <a:ea typeface="TencentSans W7"/>
              </a:rPr>
              <a:t>第二点</a:t>
            </a:r>
            <a:endParaRPr/>
          </a:p>
          <a:p>
            <a:pPr/>
            <a:r>
              <a:rPr lang="zh-CN">
                <a:latin typeface="TencentSans W7"/>
                <a:ea typeface="TencentSans W7"/>
              </a:rPr>
              <a:t>主从同步在主节点侧是非阻塞的，主节点不会等待副本完成同步
你不希望主从复制影响到主节点处理客户端命令，你希望无论是读命令还是写命令，客户端都能尽快得到响应。
所以这也是为什么主从同步是异步的，在主节点侧是设计为非阻塞的</a:t>
            </a:r>
            <a:endParaRPr/>
          </a:p>
          <a:p>
            <a:pPr/>
            <a:endParaRPr lang="en-US">
              <a:latin typeface="TencentSans W7"/>
              <a:ea typeface="TencentSans W7"/>
            </a:endParaRPr>
          </a:p>
          <a:p>
            <a:pPr/>
            <a:r>
              <a:rPr lang="zh-CN">
                <a:latin typeface="TencentSans W7"/>
                <a:ea typeface="TencentSans W7"/>
              </a:rPr>
              <a:t>第三点</a:t>
            </a:r>
            <a:endParaRPr/>
          </a:p>
          <a:p>
            <a:pPr/>
            <a:r>
              <a:rPr lang="zh-CN">
                <a:latin typeface="TencentSans W7"/>
                <a:ea typeface="TencentSans W7"/>
              </a:rPr>
              <a:t>主从复制在副本节点侧是可能阻塞的
不过，主从同步，在副本节点侧是有可能阻塞的，在副本节点视角里，副本节点只是在执行主节点客户端发送过来的命令，它和普通客户端其实没有什么区别</a:t>
            </a:r>
            <a:endParaRPr/>
          </a:p>
          <a:p>
            <a:pPr/>
            <a:r>
              <a:rPr lang="zh-CN">
                <a:latin typeface="TencentSans W7"/>
                <a:ea typeface="TencentSans W7"/>
              </a:rPr>
              <a:t>所以，副本节点在执行主节点客户端发送过来的命令时，是没办法处理其它客户端的命令的</a:t>
            </a:r>
            <a:endParaRPr/>
          </a:p>
          <a:p>
            <a:pPr/>
            <a:endParaRPr lang="en-US">
              <a:latin typeface="TencentSans W7"/>
              <a:ea typeface="TencentSans W7"/>
            </a:endParaRPr>
          </a:p>
          <a:p>
            <a:pPr/>
            <a:r>
              <a:rPr lang="zh-CN">
                <a:latin typeface="TencentSans W7"/>
                <a:ea typeface="TencentSans W7"/>
              </a:rPr>
              <a:t>第四点</a:t>
            </a:r>
            <a:endParaRPr/>
          </a:p>
          <a:p>
            <a:pPr/>
            <a:r>
              <a:rPr/>
              <a:t>主节点可以拥有任意数量的副本节点，</a:t>
            </a:r>
            <a:r>
              <a:rPr lang="zh-CN"/>
              <a:t>技术上没有限制，只有部署</a:t>
            </a:r>
            <a:r>
              <a:rPr lang="en-US"/>
              <a:t>/</a:t>
            </a:r>
            <a:r>
              <a:rPr lang="zh-CN"/>
              <a:t>成本上有限制</a:t>
            </a:r>
            <a:endParaRPr/>
          </a:p>
          <a:p>
            <a:pPr/>
            <a:endParaRPr lang="en-US"/>
          </a:p>
          <a:p>
            <a:pPr/>
            <a:r>
              <a:rPr lang="zh-CN"/>
              <a:t>第五点</a:t>
            </a:r>
            <a:endParaRPr/>
          </a:p>
          <a:p>
            <a:pPr/>
            <a:r>
              <a:rPr lang="zh-CN"/>
              <a:t>通常副本节点是只读的，不过有提供配置项可以将副本在标准版模式下设置为可写，但是正常情况下不建议这么去用，往副本写入的数据，是本地数据，不会传播到主节点或者其他副本节点。</a:t>
            </a:r>
            <a:endParaRPr/>
          </a:p>
          <a:p>
            <a:pPr/>
            <a:r>
              <a:rPr lang="zh-CN"/>
              <a:t>在一些标准版做无损切换的场景可以用到，或者在一些业务场景用可写副本去抗一些耗计算的例如集合相关的写操作。</a:t>
            </a:r>
            <a:endParaRPr/>
          </a:p>
          <a:p>
            <a:pPr/>
            <a:endParaRPr lang="en-US"/>
          </a:p>
          <a:p>
            <a:pPr/>
            <a:r>
              <a:rPr lang="zh-CN"/>
              <a:t>第六点</a:t>
            </a:r>
            <a:endParaRPr/>
          </a:p>
          <a:p>
            <a:pPr/>
            <a:r>
              <a:rPr lang="zh-CN"/>
              <a:t>副本也可以是其它副本的主节点</a:t>
            </a:r>
            <a:br>
              <a:rPr/>
            </a:br>
            <a:r>
              <a:rPr lang="zh-CN"/>
              <a:t>在标准版模式下，除了将多个副本连接到同一个主节点之外，副本还可以以级联结构相互连接</a:t>
            </a:r>
            <a:endParaRPr/>
          </a:p>
        </p:txBody>
      </p:sp>
    </p:spTree>
  </p:cSld>
</p:notes>
</file>

<file path=ppt/slideLayouts/_rels/slideLayout1.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2.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3.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4.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5.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6.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7.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8.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9.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10.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11.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12.xml.rels><?xml version="1.0" encoding="UTF-8" standalone="yes"?><Relationships xmlns="http://schemas.openxmlformats.org/package/2006/relationships"><Relationship Id="rId1" Type="http://schemas.openxmlformats.org/officeDocument/2006/relationships/image" Target="media/image1.jpg" /><Relationship Id="rId0" Type="http://schemas.openxmlformats.org/officeDocument/2006/relationships/slideMaster" Target="../slideMasters/slideMaster1.xml" /></Relationships>
</file>

<file path=ppt/slideLayouts/_rels/slideLayout13.xml.rels><?xml version="1.0" encoding="UTF-8" standalone="yes"?><Relationships xmlns="http://schemas.openxmlformats.org/package/2006/relationships"><Relationship Id="rId0"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p:cSld name="标题幻灯片">
    <p:spTree>
      <p:nvGrpSpPr>
        <p:cNvPr id="1" name=""/>
        <p:cNvGrpSpPr/>
        <p:nvPr/>
      </p:nvGrpSpPr>
      <p:grpSpPr>
        <a:xfrm>
          <a:off x="0" y="0"/>
          <a:ext cx="0" cy="0"/>
          <a:chOff x="0" y="0"/>
          <a:chExt cx="0" cy="0"/>
        </a:xfrm>
      </p:grpSpPr>
      <p:sp>
        <p:nvSpPr>
          <p:cNvPr id="2" name="标题 1"/>
          <p:cNvSpPr>
            <a:spLocks noGrp="true"/>
          </p:cNvSpPr>
          <p:nvPr>
            <p:ph type="ctrTitle"/>
          </p:nvPr>
        </p:nvSpPr>
        <p:spPr>
          <a:xfrm>
            <a:off x="1524000" y="1122363"/>
            <a:ext cx="9144000" cy="2387600"/>
          </a:xfrm>
        </p:spPr>
        <p:txBody>
          <a:bodyPr anchor="b"/>
          <a:lstStyle>
            <a:lvl1pPr lvl="0" algn="ctr">
              <a:defRPr sz="6000"/>
            </a:lvl1pPr>
          </a:lstStyle>
          <a:p>
            <a:pPr/>
            <a:r>
              <a:rPr lang="zh-CN"/>
              <a:t>单击此处编辑母版标题样式</a:t>
            </a:r>
            <a:endParaRPr/>
          </a:p>
        </p:txBody>
      </p:sp>
      <p:sp>
        <p:nvSpPr>
          <p:cNvPr id="3" name="副标题 2"/>
          <p:cNvSpPr>
            <a:spLocks noGrp="true"/>
          </p:cNvSpPr>
          <p:nvPr>
            <p:ph type="subTitle" idx="1"/>
          </p:nvPr>
        </p:nvSpPr>
        <p:spPr>
          <a:xfrm>
            <a:off x="1524000" y="3602038"/>
            <a:ext cx="9144000" cy="1655762"/>
          </a:xfrm>
        </p:spPr>
        <p:txBody>
          <a:bodyPr/>
          <a:lstStyle>
            <a:lvl1pPr marL="0" lvl="0" indent="0" algn="ctr">
              <a:buNone/>
              <a:defRPr sz="2400"/>
            </a:lvl1pPr>
            <a:lvl2pPr marL="457200" lvl="1" indent="0" algn="ctr">
              <a:buNone/>
              <a:defRPr sz="2000"/>
            </a:lvl2pPr>
            <a:lvl3pPr marL="914400" lvl="2" indent="0" algn="ctr">
              <a:buNone/>
              <a:defRPr sz="1800"/>
            </a:lvl3pPr>
            <a:lvl4pPr marL="1371600" lvl="3" indent="0" algn="ctr">
              <a:buNone/>
              <a:defRPr sz="1600"/>
            </a:lvl4pPr>
            <a:lvl5pPr marL="1828800" lvl="4" indent="0" algn="ctr">
              <a:buNone/>
              <a:defRPr sz="1600"/>
            </a:lvl5pPr>
            <a:lvl6pPr marL="2286000" lvl="5" indent="0" algn="ctr">
              <a:buNone/>
              <a:defRPr sz="1600"/>
            </a:lvl6pPr>
            <a:lvl7pPr marL="2743200" lvl="6" indent="0" algn="ctr">
              <a:buNone/>
              <a:defRPr sz="1600"/>
            </a:lvl7pPr>
            <a:lvl8pPr marL="3200400" lvl="7" indent="0" algn="ctr">
              <a:buNone/>
              <a:defRPr sz="1600"/>
            </a:lvl8pPr>
            <a:lvl9pPr marL="3657600" lvl="8" indent="0" algn="ctr">
              <a:buNone/>
              <a:defRPr sz="1600"/>
            </a:lvl9pPr>
          </a:lstStyle>
          <a:p>
            <a:pPr/>
            <a:r>
              <a:rPr lang="zh-CN"/>
              <a:t>单击此处编辑母版副标题样式</a:t>
            </a:r>
            <a:endParaRPr/>
          </a:p>
        </p:txBody>
      </p:sp>
      <p:sp>
        <p:nvSpPr>
          <p:cNvPr id="4" name="日期占位符 3"/>
          <p:cNvSpPr>
            <a:spLocks noGrp="true"/>
          </p:cNvSpPr>
          <p:nvPr>
            <p:ph type="dt" idx="10"/>
          </p:nvPr>
        </p:nvSpPr>
        <p:spPr/>
        <p:txBody>
          <a:bodyPr/>
          <a:p>
            <a:pPr/>
            <a:fld id="{0F7DC6A6-BF1E-4CE5-B3E6-718B8EA0B82A}" type="datetime1">
              <a:rPr lang="zh-CN"/>
              <a:t>2022/12/22</a:t>
            </a:fld>
            <a:endParaRPr lang="zh-CN"/>
          </a:p>
        </p:txBody>
      </p:sp>
      <p:sp>
        <p:nvSpPr>
          <p:cNvPr id="5" name="页脚占位符 4"/>
          <p:cNvSpPr>
            <a:spLocks noGrp="true"/>
          </p:cNvSpPr>
          <p:nvPr>
            <p:ph type="ftr" idx="11"/>
          </p:nvPr>
        </p:nvSpPr>
        <p:spPr/>
        <p:txBody>
          <a:bodyPr/>
          <a:p>
            <a:pPr/>
            <a:endParaRPr lang="zh-CN"/>
          </a:p>
        </p:txBody>
      </p:sp>
      <p:sp>
        <p:nvSpPr>
          <p:cNvPr id="6" name="灯片编号占位符 5"/>
          <p:cNvSpPr>
            <a:spLocks noGrp="true"/>
          </p:cNvSpPr>
          <p:nvPr>
            <p:ph type="sldNum" idx="12"/>
          </p:nvPr>
        </p:nvSpPr>
        <p:spPr/>
        <p:txBody>
          <a:bodyPr/>
          <a:p>
            <a:pPr/>
            <a:fld id="{8FC705DF-EB6A-4429-A9CF-8086C29D54D9}" type="slidenum">
              <a:rPr lang="zh-CN"/>
              <a:t>‹#›</a:t>
            </a:fld>
            <a:endParaRPr lang="zh-CN"/>
          </a:p>
        </p:txBody>
      </p:sp>
    </p:spTree>
  </p:cSld>
  <p:clrMapOvr>
    <a:masterClrMapping/>
  </p:clrMapOvr>
</p:sldLayout>
</file>

<file path=ppt/slideLayouts/slideLayout2.xml><?xml version="1.0" encoding="utf-8"?>
<p:sldLayout xmlns:a="http://schemas.openxmlformats.org/drawingml/2006/main" xmlns:p="http://schemas.openxmlformats.org/presentationml/2006/main">
  <p:cSld name="标题和内容">
    <p:spTree>
      <p:nvGrpSpPr>
        <p:cNvPr id="7" name=""/>
        <p:cNvGrpSpPr/>
        <p:nvPr/>
      </p:nvGrpSpPr>
      <p:grpSpPr>
        <a:xfrm>
          <a:off x="0" y="0"/>
          <a:ext cx="0" cy="0"/>
          <a:chOff x="0" y="0"/>
          <a:chExt cx="0" cy="0"/>
        </a:xfrm>
      </p:grpSpPr>
      <p:sp>
        <p:nvSpPr>
          <p:cNvPr id="8" name="标题 1"/>
          <p:cNvSpPr>
            <a:spLocks noGrp="true"/>
          </p:cNvSpPr>
          <p:nvPr>
            <p:ph type="title"/>
          </p:nvPr>
        </p:nvSpPr>
        <p:spPr/>
        <p:txBody>
          <a:bodyPr/>
          <a:p>
            <a:pPr/>
            <a:r>
              <a:rPr lang="zh-CN"/>
              <a:t>单击此处编辑母版标题样式</a:t>
            </a:r>
            <a:endParaRPr/>
          </a:p>
        </p:txBody>
      </p:sp>
      <p:sp>
        <p:nvSpPr>
          <p:cNvPr id="9" name="内容占位符 2"/>
          <p:cNvSpPr>
            <a:spLocks noGrp="true"/>
          </p:cNvSpPr>
          <p:nvPr>
            <p:ph idx="1"/>
          </p:nvPr>
        </p:nvSpPr>
        <p:spPr/>
        <p:txBody>
          <a:bodyPr/>
          <a:p>
            <a:pPr lvl="0"/>
            <a:r>
              <a:rPr lang="zh-CN"/>
              <a:t>单击此处编辑母版文本样式</a:t>
            </a:r>
            <a:endParaRPr/>
          </a:p>
          <a:p>
            <a:pPr lvl="1"/>
            <a:r>
              <a:rPr lang="zh-CN"/>
              <a:t>二级</a:t>
            </a:r>
            <a:endParaRPr/>
          </a:p>
          <a:p>
            <a:pPr lvl="2"/>
            <a:r>
              <a:rPr lang="zh-CN"/>
              <a:t>三级</a:t>
            </a:r>
            <a:endParaRPr/>
          </a:p>
          <a:p>
            <a:pPr lvl="3"/>
            <a:r>
              <a:rPr lang="zh-CN"/>
              <a:t>四级</a:t>
            </a:r>
            <a:endParaRPr/>
          </a:p>
          <a:p>
            <a:pPr lvl="4"/>
            <a:r>
              <a:rPr lang="zh-CN"/>
              <a:t>五级</a:t>
            </a:r>
            <a:endParaRPr/>
          </a:p>
        </p:txBody>
      </p:sp>
      <p:sp>
        <p:nvSpPr>
          <p:cNvPr id="10" name="日期占位符 3"/>
          <p:cNvSpPr>
            <a:spLocks noGrp="true"/>
          </p:cNvSpPr>
          <p:nvPr>
            <p:ph type="dt" idx="10"/>
          </p:nvPr>
        </p:nvSpPr>
        <p:spPr/>
        <p:txBody>
          <a:bodyPr/>
          <a:p>
            <a:pPr/>
            <a:fld id="{7B03108F-6D01-401F-BB83-A4EE273EE035}" type="datetime1">
              <a:rPr lang="zh-CN"/>
              <a:t>2022/12/22</a:t>
            </a:fld>
            <a:endParaRPr lang="zh-CN"/>
          </a:p>
        </p:txBody>
      </p:sp>
      <p:sp>
        <p:nvSpPr>
          <p:cNvPr id="11" name="页脚占位符 4"/>
          <p:cNvSpPr>
            <a:spLocks noGrp="true"/>
          </p:cNvSpPr>
          <p:nvPr>
            <p:ph type="ftr" idx="11"/>
          </p:nvPr>
        </p:nvSpPr>
        <p:spPr/>
        <p:txBody>
          <a:bodyPr/>
          <a:p>
            <a:pPr/>
            <a:endParaRPr lang="zh-CN"/>
          </a:p>
        </p:txBody>
      </p:sp>
      <p:sp>
        <p:nvSpPr>
          <p:cNvPr id="12" name="灯片编号占位符 5"/>
          <p:cNvSpPr>
            <a:spLocks noGrp="true"/>
          </p:cNvSpPr>
          <p:nvPr>
            <p:ph type="sldNum" idx="12"/>
          </p:nvPr>
        </p:nvSpPr>
        <p:spPr/>
        <p:txBody>
          <a:bodyPr/>
          <a:p>
            <a:pPr/>
            <a:fld id="{2A18DFAB-279D-45FB-8988-01B47F34F95A}" type="slidenum">
              <a:rPr lang="zh-CN"/>
              <a:t>‹#›</a:t>
            </a:fld>
            <a:endParaRPr lang="zh-CN"/>
          </a:p>
        </p:txBody>
      </p:sp>
    </p:spTree>
  </p:cSld>
  <p:clrMapOvr>
    <a:masterClrMapping/>
  </p:clrMapOvr>
</p:sldLayout>
</file>

<file path=ppt/slideLayouts/slideLayout3.xml><?xml version="1.0" encoding="utf-8"?>
<p:sldLayout xmlns:a="http://schemas.openxmlformats.org/drawingml/2006/main" xmlns:p="http://schemas.openxmlformats.org/presentationml/2006/main">
  <p:cSld name="节标题">
    <p:spTree>
      <p:nvGrpSpPr>
        <p:cNvPr id="24" name=""/>
        <p:cNvGrpSpPr/>
        <p:nvPr/>
      </p:nvGrpSpPr>
      <p:grpSpPr>
        <a:xfrm>
          <a:off x="0" y="0"/>
          <a:ext cx="0" cy="0"/>
          <a:chOff x="0" y="0"/>
          <a:chExt cx="0" cy="0"/>
        </a:xfrm>
      </p:grpSpPr>
      <p:sp>
        <p:nvSpPr>
          <p:cNvPr id="25" name="标题 1"/>
          <p:cNvSpPr>
            <a:spLocks noGrp="true"/>
          </p:cNvSpPr>
          <p:nvPr>
            <p:ph type="title"/>
          </p:nvPr>
        </p:nvSpPr>
        <p:spPr>
          <a:xfrm>
            <a:off x="831850" y="1709738"/>
            <a:ext cx="10515600" cy="2852737"/>
          </a:xfrm>
        </p:spPr>
        <p:txBody>
          <a:bodyPr anchor="b"/>
          <a:lstStyle>
            <a:lvl1pPr lvl="0">
              <a:defRPr sz="6000"/>
            </a:lvl1pPr>
          </a:lstStyle>
          <a:p>
            <a:pPr/>
            <a:r>
              <a:rPr lang="zh-CN"/>
              <a:t>单击此处编辑母版标题样式</a:t>
            </a:r>
            <a:endParaRPr/>
          </a:p>
        </p:txBody>
      </p:sp>
      <p:sp>
        <p:nvSpPr>
          <p:cNvPr id="26" name="文本占位符 2"/>
          <p:cNvSpPr>
            <a:spLocks noGrp="true"/>
          </p:cNvSpPr>
          <p:nvPr>
            <p:ph type="body" idx="1"/>
          </p:nvPr>
        </p:nvSpPr>
        <p:spPr>
          <a:xfrm>
            <a:off x="831850" y="4589463"/>
            <a:ext cx="10515600" cy="1500187"/>
          </a:xfrm>
        </p:spPr>
        <p:txBody>
          <a:bodyPr/>
          <a:lstStyle>
            <a:lvl1pPr marL="0" lvl="0" indent="0">
              <a:buNone/>
              <a:defRPr sz="2400">
                <a:solidFill>
                  <a:schemeClr val="tx1">
                    <a:tint val="75000"/>
                  </a:schemeClr>
                </a:solidFill>
              </a:defRPr>
            </a:lvl1pPr>
            <a:lvl2pPr marL="457200" lvl="1" indent="0">
              <a:buNone/>
              <a:defRPr sz="2000">
                <a:solidFill>
                  <a:schemeClr val="tx1">
                    <a:tint val="75000"/>
                  </a:schemeClr>
                </a:solidFill>
              </a:defRPr>
            </a:lvl2pPr>
            <a:lvl3pPr marL="914400" lvl="2" indent="0">
              <a:buNone/>
              <a:defRPr sz="1800">
                <a:solidFill>
                  <a:schemeClr val="tx1">
                    <a:tint val="75000"/>
                  </a:schemeClr>
                </a:solidFill>
              </a:defRPr>
            </a:lvl3pPr>
            <a:lvl4pPr marL="1371600" lvl="3" indent="0">
              <a:buNone/>
              <a:defRPr sz="1600">
                <a:solidFill>
                  <a:schemeClr val="tx1">
                    <a:tint val="75000"/>
                  </a:schemeClr>
                </a:solidFill>
              </a:defRPr>
            </a:lvl4pPr>
            <a:lvl5pPr marL="1828800" lvl="4" indent="0">
              <a:buNone/>
              <a:defRPr sz="1600">
                <a:solidFill>
                  <a:schemeClr val="tx1">
                    <a:tint val="75000"/>
                  </a:schemeClr>
                </a:solidFill>
              </a:defRPr>
            </a:lvl5pPr>
            <a:lvl6pPr marL="2286000" lvl="5" indent="0">
              <a:buNone/>
              <a:defRPr sz="1600">
                <a:solidFill>
                  <a:schemeClr val="tx1">
                    <a:tint val="75000"/>
                  </a:schemeClr>
                </a:solidFill>
              </a:defRPr>
            </a:lvl6pPr>
            <a:lvl7pPr marL="2743200" lvl="6" indent="0">
              <a:buNone/>
              <a:defRPr sz="1600">
                <a:solidFill>
                  <a:schemeClr val="tx1">
                    <a:tint val="75000"/>
                  </a:schemeClr>
                </a:solidFill>
              </a:defRPr>
            </a:lvl7pPr>
            <a:lvl8pPr marL="3200400" lvl="7" indent="0">
              <a:buNone/>
              <a:defRPr sz="1600">
                <a:solidFill>
                  <a:schemeClr val="tx1">
                    <a:tint val="75000"/>
                  </a:schemeClr>
                </a:solidFill>
              </a:defRPr>
            </a:lvl8pPr>
            <a:lvl9pPr marL="3657600" lvl="8" indent="0">
              <a:buNone/>
              <a:defRPr sz="1600">
                <a:solidFill>
                  <a:schemeClr val="tx1">
                    <a:tint val="75000"/>
                  </a:schemeClr>
                </a:solidFill>
              </a:defRPr>
            </a:lvl9pPr>
          </a:lstStyle>
          <a:p>
            <a:pPr lvl="0"/>
            <a:r>
              <a:rPr lang="zh-CN"/>
              <a:t>单击此处编辑母版文本样式</a:t>
            </a:r>
            <a:endParaRPr/>
          </a:p>
        </p:txBody>
      </p:sp>
      <p:sp>
        <p:nvSpPr>
          <p:cNvPr id="27" name="日期占位符 3"/>
          <p:cNvSpPr>
            <a:spLocks noGrp="true"/>
          </p:cNvSpPr>
          <p:nvPr>
            <p:ph type="dt" idx="10"/>
          </p:nvPr>
        </p:nvSpPr>
        <p:spPr/>
        <p:txBody>
          <a:bodyPr/>
          <a:p>
            <a:pPr/>
            <a:fld id="{8D5B006A-3E28-4231-AF04-14767498E664}" type="datetime1">
              <a:rPr lang="zh-CN"/>
              <a:t>2022/12/22</a:t>
            </a:fld>
            <a:endParaRPr lang="zh-CN"/>
          </a:p>
        </p:txBody>
      </p:sp>
      <p:sp>
        <p:nvSpPr>
          <p:cNvPr id="28" name="页脚占位符 4"/>
          <p:cNvSpPr>
            <a:spLocks noGrp="true"/>
          </p:cNvSpPr>
          <p:nvPr>
            <p:ph type="ftr" idx="11"/>
          </p:nvPr>
        </p:nvSpPr>
        <p:spPr/>
        <p:txBody>
          <a:bodyPr/>
          <a:p>
            <a:pPr/>
            <a:endParaRPr lang="zh-CN"/>
          </a:p>
        </p:txBody>
      </p:sp>
      <p:sp>
        <p:nvSpPr>
          <p:cNvPr id="29" name="灯片编号占位符 5"/>
          <p:cNvSpPr>
            <a:spLocks noGrp="true"/>
          </p:cNvSpPr>
          <p:nvPr>
            <p:ph type="sldNum" idx="12"/>
          </p:nvPr>
        </p:nvSpPr>
        <p:spPr/>
        <p:txBody>
          <a:bodyPr/>
          <a:p>
            <a:pPr/>
            <a:fld id="{C8B94FA0-F740-4CDC-A935-5AEA919A98DA}" type="slidenum">
              <a:rPr lang="zh-CN"/>
              <a:t>‹#›</a:t>
            </a:fld>
            <a:endParaRPr lang="zh-CN"/>
          </a:p>
        </p:txBody>
      </p:sp>
    </p:spTree>
  </p:cSld>
  <p:clrMapOvr>
    <a:masterClrMapping/>
  </p:clrMapOvr>
</p:sldLayout>
</file>

<file path=ppt/slideLayouts/slideLayout4.xml><?xml version="1.0" encoding="utf-8"?>
<p:sldLayout xmlns:a="http://schemas.openxmlformats.org/drawingml/2006/main" xmlns:p="http://schemas.openxmlformats.org/presentationml/2006/main">
  <p:cSld name="两栏内容">
    <p:spTree>
      <p:nvGrpSpPr>
        <p:cNvPr id="30" name=""/>
        <p:cNvGrpSpPr/>
        <p:nvPr/>
      </p:nvGrpSpPr>
      <p:grpSpPr>
        <a:xfrm>
          <a:off x="0" y="0"/>
          <a:ext cx="0" cy="0"/>
          <a:chOff x="0" y="0"/>
          <a:chExt cx="0" cy="0"/>
        </a:xfrm>
      </p:grpSpPr>
      <p:sp>
        <p:nvSpPr>
          <p:cNvPr id="31" name="标题 1"/>
          <p:cNvSpPr>
            <a:spLocks noGrp="true"/>
          </p:cNvSpPr>
          <p:nvPr>
            <p:ph type="title"/>
          </p:nvPr>
        </p:nvSpPr>
        <p:spPr/>
        <p:txBody>
          <a:bodyPr/>
          <a:p>
            <a:pPr/>
            <a:r>
              <a:rPr lang="zh-CN"/>
              <a:t>单击此处编辑母版标题样式</a:t>
            </a:r>
            <a:endParaRPr/>
          </a:p>
        </p:txBody>
      </p:sp>
      <p:sp>
        <p:nvSpPr>
          <p:cNvPr id="32" name="内容占位符 2"/>
          <p:cNvSpPr>
            <a:spLocks noGrp="true"/>
          </p:cNvSpPr>
          <p:nvPr>
            <p:ph idx="1"/>
          </p:nvPr>
        </p:nvSpPr>
        <p:spPr>
          <a:xfrm>
            <a:off x="838200" y="1825625"/>
            <a:ext cx="5181600" cy="4351338"/>
          </a:xfrm>
        </p:spPr>
        <p:txBody>
          <a:bodyPr/>
          <a:p>
            <a:pPr lvl="0"/>
            <a:r>
              <a:rPr lang="zh-CN"/>
              <a:t>单击此处编辑母版文本样式</a:t>
            </a:r>
            <a:endParaRPr/>
          </a:p>
          <a:p>
            <a:pPr lvl="1"/>
            <a:r>
              <a:rPr lang="zh-CN"/>
              <a:t>二级</a:t>
            </a:r>
            <a:endParaRPr/>
          </a:p>
          <a:p>
            <a:pPr lvl="2"/>
            <a:r>
              <a:rPr lang="zh-CN"/>
              <a:t>三级</a:t>
            </a:r>
            <a:endParaRPr/>
          </a:p>
          <a:p>
            <a:pPr lvl="3"/>
            <a:r>
              <a:rPr lang="zh-CN"/>
              <a:t>四级</a:t>
            </a:r>
            <a:endParaRPr/>
          </a:p>
          <a:p>
            <a:pPr lvl="4"/>
            <a:r>
              <a:rPr lang="zh-CN"/>
              <a:t>五级</a:t>
            </a:r>
            <a:endParaRPr/>
          </a:p>
        </p:txBody>
      </p:sp>
      <p:sp>
        <p:nvSpPr>
          <p:cNvPr id="33" name="内容占位符 3"/>
          <p:cNvSpPr>
            <a:spLocks noGrp="true"/>
          </p:cNvSpPr>
          <p:nvPr>
            <p:ph idx="2"/>
          </p:nvPr>
        </p:nvSpPr>
        <p:spPr>
          <a:xfrm>
            <a:off x="6172200" y="1825625"/>
            <a:ext cx="5181600" cy="4351338"/>
          </a:xfrm>
        </p:spPr>
        <p:txBody>
          <a:bodyPr/>
          <a:p>
            <a:pPr lvl="0"/>
            <a:r>
              <a:rPr lang="zh-CN"/>
              <a:t>单击此处编辑母版文本样式</a:t>
            </a:r>
            <a:endParaRPr/>
          </a:p>
          <a:p>
            <a:pPr lvl="1"/>
            <a:r>
              <a:rPr lang="zh-CN"/>
              <a:t>二级</a:t>
            </a:r>
            <a:endParaRPr/>
          </a:p>
          <a:p>
            <a:pPr lvl="2"/>
            <a:r>
              <a:rPr lang="zh-CN"/>
              <a:t>三级</a:t>
            </a:r>
            <a:endParaRPr/>
          </a:p>
          <a:p>
            <a:pPr lvl="3"/>
            <a:r>
              <a:rPr lang="zh-CN"/>
              <a:t>四级</a:t>
            </a:r>
            <a:endParaRPr/>
          </a:p>
          <a:p>
            <a:pPr lvl="4"/>
            <a:r>
              <a:rPr lang="zh-CN"/>
              <a:t>五级</a:t>
            </a:r>
            <a:endParaRPr/>
          </a:p>
        </p:txBody>
      </p:sp>
      <p:sp>
        <p:nvSpPr>
          <p:cNvPr id="34" name="日期占位符 4"/>
          <p:cNvSpPr>
            <a:spLocks noGrp="true"/>
          </p:cNvSpPr>
          <p:nvPr>
            <p:ph type="dt" idx="10"/>
          </p:nvPr>
        </p:nvSpPr>
        <p:spPr/>
        <p:txBody>
          <a:bodyPr/>
          <a:p>
            <a:pPr/>
            <a:fld id="{A1F3BCCF-927F-4C14-9052-F5177C3C439D}" type="datetime1">
              <a:rPr lang="zh-CN"/>
              <a:t>2022/12/22</a:t>
            </a:fld>
            <a:endParaRPr lang="zh-CN"/>
          </a:p>
        </p:txBody>
      </p:sp>
      <p:sp>
        <p:nvSpPr>
          <p:cNvPr id="35" name="页脚占位符 5"/>
          <p:cNvSpPr>
            <a:spLocks noGrp="true"/>
          </p:cNvSpPr>
          <p:nvPr>
            <p:ph type="ftr" idx="11"/>
          </p:nvPr>
        </p:nvSpPr>
        <p:spPr/>
        <p:txBody>
          <a:bodyPr/>
          <a:p>
            <a:pPr/>
            <a:endParaRPr lang="zh-CN"/>
          </a:p>
        </p:txBody>
      </p:sp>
      <p:sp>
        <p:nvSpPr>
          <p:cNvPr id="36" name="灯片编号占位符 6"/>
          <p:cNvSpPr>
            <a:spLocks noGrp="true"/>
          </p:cNvSpPr>
          <p:nvPr>
            <p:ph type="sldNum" idx="12"/>
          </p:nvPr>
        </p:nvSpPr>
        <p:spPr/>
        <p:txBody>
          <a:bodyPr/>
          <a:p>
            <a:pPr/>
            <a:fld id="{408259AF-2A25-452C-AA5F-7B080E8C5A7E}" type="slidenum">
              <a:rPr lang="zh-CN"/>
              <a:t>‹#›</a:t>
            </a:fld>
            <a:endParaRPr lang="zh-CN"/>
          </a:p>
        </p:txBody>
      </p:sp>
    </p:spTree>
  </p:cSld>
  <p:clrMapOvr>
    <a:masterClrMapping/>
  </p:clrMapOvr>
</p:sldLayout>
</file>

<file path=ppt/slideLayouts/slideLayout5.xml><?xml version="1.0" encoding="utf-8"?>
<p:sldLayout xmlns:a="http://schemas.openxmlformats.org/drawingml/2006/main" xmlns:p="http://schemas.openxmlformats.org/presentationml/2006/main">
  <p:cSld name="比较">
    <p:spTree>
      <p:nvGrpSpPr>
        <p:cNvPr id="37" name=""/>
        <p:cNvGrpSpPr/>
        <p:nvPr/>
      </p:nvGrpSpPr>
      <p:grpSpPr>
        <a:xfrm>
          <a:off x="0" y="0"/>
          <a:ext cx="0" cy="0"/>
          <a:chOff x="0" y="0"/>
          <a:chExt cx="0" cy="0"/>
        </a:xfrm>
      </p:grpSpPr>
      <p:sp>
        <p:nvSpPr>
          <p:cNvPr id="38" name="标题 1"/>
          <p:cNvSpPr>
            <a:spLocks noGrp="true"/>
          </p:cNvSpPr>
          <p:nvPr>
            <p:ph type="title"/>
          </p:nvPr>
        </p:nvSpPr>
        <p:spPr>
          <a:xfrm>
            <a:off x="839788" y="365125"/>
            <a:ext cx="10515600" cy="1325563"/>
          </a:xfrm>
        </p:spPr>
        <p:txBody>
          <a:bodyPr/>
          <a:p>
            <a:pPr/>
            <a:r>
              <a:rPr lang="zh-CN"/>
              <a:t>单击此处编辑母版标题样式</a:t>
            </a:r>
            <a:endParaRPr/>
          </a:p>
        </p:txBody>
      </p:sp>
      <p:sp>
        <p:nvSpPr>
          <p:cNvPr id="39" name="文本占位符 2"/>
          <p:cNvSpPr>
            <a:spLocks noGrp="true"/>
          </p:cNvSpPr>
          <p:nvPr>
            <p:ph type="body" idx="1"/>
          </p:nvPr>
        </p:nvSpPr>
        <p:spPr>
          <a:xfrm>
            <a:off x="839788" y="1681163"/>
            <a:ext cx="5157787" cy="823912"/>
          </a:xfrm>
        </p:spPr>
        <p:txBody>
          <a:bodyPr anchor="b"/>
          <a:lstStyle>
            <a:lvl1pPr marL="0" lvl="0" indent="0">
              <a:buNone/>
              <a:defRPr sz="2400" b="true"/>
            </a:lvl1pPr>
            <a:lvl2pPr marL="457200" lvl="1" indent="0">
              <a:buNone/>
              <a:defRPr sz="2000" b="true"/>
            </a:lvl2pPr>
            <a:lvl3pPr marL="914400" lvl="2" indent="0">
              <a:buNone/>
              <a:defRPr sz="1800" b="true"/>
            </a:lvl3pPr>
            <a:lvl4pPr marL="1371600" lvl="3" indent="0">
              <a:buNone/>
              <a:defRPr sz="1600" b="true"/>
            </a:lvl4pPr>
            <a:lvl5pPr marL="1828800" lvl="4" indent="0">
              <a:buNone/>
              <a:defRPr sz="1600" b="true"/>
            </a:lvl5pPr>
            <a:lvl6pPr marL="2286000" lvl="5" indent="0">
              <a:buNone/>
              <a:defRPr sz="1600" b="true"/>
            </a:lvl6pPr>
            <a:lvl7pPr marL="2743200" lvl="6" indent="0">
              <a:buNone/>
              <a:defRPr sz="1600" b="true"/>
            </a:lvl7pPr>
            <a:lvl8pPr marL="3200400" lvl="7" indent="0">
              <a:buNone/>
              <a:defRPr sz="1600" b="true"/>
            </a:lvl8pPr>
            <a:lvl9pPr marL="3657600" lvl="8" indent="0">
              <a:buNone/>
              <a:defRPr sz="1600" b="true"/>
            </a:lvl9pPr>
          </a:lstStyle>
          <a:p>
            <a:pPr lvl="0"/>
            <a:r>
              <a:rPr lang="zh-CN"/>
              <a:t>单击此处编辑母版文本样式</a:t>
            </a:r>
            <a:endParaRPr/>
          </a:p>
        </p:txBody>
      </p:sp>
      <p:sp>
        <p:nvSpPr>
          <p:cNvPr id="40" name="内容占位符 3"/>
          <p:cNvSpPr>
            <a:spLocks noGrp="true"/>
          </p:cNvSpPr>
          <p:nvPr>
            <p:ph idx="2"/>
          </p:nvPr>
        </p:nvSpPr>
        <p:spPr>
          <a:xfrm>
            <a:off x="839788" y="2505075"/>
            <a:ext cx="5157787" cy="3684588"/>
          </a:xfrm>
        </p:spPr>
        <p:txBody>
          <a:bodyPr/>
          <a:p>
            <a:pPr lvl="0"/>
            <a:r>
              <a:rPr lang="zh-CN"/>
              <a:t>单击此处编辑母版文本样式</a:t>
            </a:r>
            <a:endParaRPr/>
          </a:p>
          <a:p>
            <a:pPr lvl="1"/>
            <a:r>
              <a:rPr lang="zh-CN"/>
              <a:t>二级</a:t>
            </a:r>
            <a:endParaRPr/>
          </a:p>
          <a:p>
            <a:pPr lvl="2"/>
            <a:r>
              <a:rPr lang="zh-CN"/>
              <a:t>三级</a:t>
            </a:r>
            <a:endParaRPr/>
          </a:p>
          <a:p>
            <a:pPr lvl="3"/>
            <a:r>
              <a:rPr lang="zh-CN"/>
              <a:t>四级</a:t>
            </a:r>
            <a:endParaRPr/>
          </a:p>
          <a:p>
            <a:pPr lvl="4"/>
            <a:r>
              <a:rPr lang="zh-CN"/>
              <a:t>五级</a:t>
            </a:r>
            <a:endParaRPr/>
          </a:p>
        </p:txBody>
      </p:sp>
      <p:sp>
        <p:nvSpPr>
          <p:cNvPr id="41" name="文本占位符 4"/>
          <p:cNvSpPr>
            <a:spLocks noGrp="true"/>
          </p:cNvSpPr>
          <p:nvPr>
            <p:ph type="body" idx="3"/>
          </p:nvPr>
        </p:nvSpPr>
        <p:spPr>
          <a:xfrm>
            <a:off x="6172200" y="1681163"/>
            <a:ext cx="5183188" cy="823912"/>
          </a:xfrm>
        </p:spPr>
        <p:txBody>
          <a:bodyPr anchor="b"/>
          <a:lstStyle>
            <a:lvl1pPr marL="0" lvl="0" indent="0">
              <a:buNone/>
              <a:defRPr sz="2400" b="true"/>
            </a:lvl1pPr>
            <a:lvl2pPr marL="457200" lvl="1" indent="0">
              <a:buNone/>
              <a:defRPr sz="2000" b="true"/>
            </a:lvl2pPr>
            <a:lvl3pPr marL="914400" lvl="2" indent="0">
              <a:buNone/>
              <a:defRPr sz="1800" b="true"/>
            </a:lvl3pPr>
            <a:lvl4pPr marL="1371600" lvl="3" indent="0">
              <a:buNone/>
              <a:defRPr sz="1600" b="true"/>
            </a:lvl4pPr>
            <a:lvl5pPr marL="1828800" lvl="4" indent="0">
              <a:buNone/>
              <a:defRPr sz="1600" b="true"/>
            </a:lvl5pPr>
            <a:lvl6pPr marL="2286000" lvl="5" indent="0">
              <a:buNone/>
              <a:defRPr sz="1600" b="true"/>
            </a:lvl6pPr>
            <a:lvl7pPr marL="2743200" lvl="6" indent="0">
              <a:buNone/>
              <a:defRPr sz="1600" b="true"/>
            </a:lvl7pPr>
            <a:lvl8pPr marL="3200400" lvl="7" indent="0">
              <a:buNone/>
              <a:defRPr sz="1600" b="true"/>
            </a:lvl8pPr>
            <a:lvl9pPr marL="3657600" lvl="8" indent="0">
              <a:buNone/>
              <a:defRPr sz="1600" b="true"/>
            </a:lvl9pPr>
          </a:lstStyle>
          <a:p>
            <a:pPr lvl="0"/>
            <a:r>
              <a:rPr lang="zh-CN"/>
              <a:t>单击此处编辑母版文本样式</a:t>
            </a:r>
            <a:endParaRPr/>
          </a:p>
        </p:txBody>
      </p:sp>
      <p:sp>
        <p:nvSpPr>
          <p:cNvPr id="42" name="内容占位符 5"/>
          <p:cNvSpPr>
            <a:spLocks noGrp="true"/>
          </p:cNvSpPr>
          <p:nvPr>
            <p:ph idx="4"/>
          </p:nvPr>
        </p:nvSpPr>
        <p:spPr>
          <a:xfrm>
            <a:off x="6172200" y="2505075"/>
            <a:ext cx="5183188" cy="3684588"/>
          </a:xfrm>
        </p:spPr>
        <p:txBody>
          <a:bodyPr/>
          <a:p>
            <a:pPr lvl="0"/>
            <a:r>
              <a:rPr lang="zh-CN"/>
              <a:t>单击此处编辑母版文本样式</a:t>
            </a:r>
            <a:endParaRPr/>
          </a:p>
          <a:p>
            <a:pPr lvl="1"/>
            <a:r>
              <a:rPr lang="zh-CN"/>
              <a:t>二级</a:t>
            </a:r>
            <a:endParaRPr/>
          </a:p>
          <a:p>
            <a:pPr lvl="2"/>
            <a:r>
              <a:rPr lang="zh-CN"/>
              <a:t>三级</a:t>
            </a:r>
            <a:endParaRPr/>
          </a:p>
          <a:p>
            <a:pPr lvl="3"/>
            <a:r>
              <a:rPr lang="zh-CN"/>
              <a:t>四级</a:t>
            </a:r>
            <a:endParaRPr/>
          </a:p>
          <a:p>
            <a:pPr lvl="4"/>
            <a:r>
              <a:rPr lang="zh-CN"/>
              <a:t>五级</a:t>
            </a:r>
            <a:endParaRPr/>
          </a:p>
        </p:txBody>
      </p:sp>
      <p:sp>
        <p:nvSpPr>
          <p:cNvPr id="43" name="日期占位符 6"/>
          <p:cNvSpPr>
            <a:spLocks noGrp="true"/>
          </p:cNvSpPr>
          <p:nvPr>
            <p:ph type="dt" idx="10"/>
          </p:nvPr>
        </p:nvSpPr>
        <p:spPr/>
        <p:txBody>
          <a:bodyPr/>
          <a:p>
            <a:pPr/>
            <a:fld id="{E19FF268-CF0C-4595-A6A8-A0B1FC2FEB42}" type="datetime1">
              <a:rPr lang="zh-CN"/>
              <a:t>2022/12/22</a:t>
            </a:fld>
            <a:endParaRPr lang="zh-CN"/>
          </a:p>
        </p:txBody>
      </p:sp>
      <p:sp>
        <p:nvSpPr>
          <p:cNvPr id="44" name="页脚占位符 7"/>
          <p:cNvSpPr>
            <a:spLocks noGrp="true"/>
          </p:cNvSpPr>
          <p:nvPr>
            <p:ph type="ftr" idx="11"/>
          </p:nvPr>
        </p:nvSpPr>
        <p:spPr/>
        <p:txBody>
          <a:bodyPr/>
          <a:p>
            <a:pPr/>
            <a:endParaRPr lang="zh-CN"/>
          </a:p>
        </p:txBody>
      </p:sp>
      <p:sp>
        <p:nvSpPr>
          <p:cNvPr id="45" name="灯片编号占位符 8"/>
          <p:cNvSpPr>
            <a:spLocks noGrp="true"/>
          </p:cNvSpPr>
          <p:nvPr>
            <p:ph type="sldNum" idx="12"/>
          </p:nvPr>
        </p:nvSpPr>
        <p:spPr/>
        <p:txBody>
          <a:bodyPr/>
          <a:p>
            <a:pPr/>
            <a:fld id="{63A90A56-B7DA-460C-8F46-95BFAF0AF95F}" type="slidenum">
              <a:rPr lang="zh-CN"/>
              <a:t>‹#›</a:t>
            </a:fld>
            <a:endParaRPr lang="zh-CN"/>
          </a:p>
        </p:txBody>
      </p:sp>
    </p:spTree>
  </p:cSld>
  <p:clrMapOvr>
    <a:masterClrMapping/>
  </p:clrMapOvr>
</p:sldLayout>
</file>

<file path=ppt/slideLayouts/slideLayout6.xml><?xml version="1.0" encoding="utf-8"?>
<p:sldLayout xmlns:a="http://schemas.openxmlformats.org/drawingml/2006/main" xmlns:p="http://schemas.openxmlformats.org/presentationml/2006/main">
  <p:cSld name="仅标题">
    <p:spTree>
      <p:nvGrpSpPr>
        <p:cNvPr id="46" name=""/>
        <p:cNvGrpSpPr/>
        <p:nvPr/>
      </p:nvGrpSpPr>
      <p:grpSpPr>
        <a:xfrm>
          <a:off x="0" y="0"/>
          <a:ext cx="0" cy="0"/>
          <a:chOff x="0" y="0"/>
          <a:chExt cx="0" cy="0"/>
        </a:xfrm>
      </p:grpSpPr>
      <p:sp>
        <p:nvSpPr>
          <p:cNvPr id="47" name="标题 1"/>
          <p:cNvSpPr>
            <a:spLocks noGrp="true"/>
          </p:cNvSpPr>
          <p:nvPr>
            <p:ph type="title"/>
          </p:nvPr>
        </p:nvSpPr>
        <p:spPr/>
        <p:txBody>
          <a:bodyPr/>
          <a:p>
            <a:pPr/>
            <a:r>
              <a:rPr lang="zh-CN"/>
              <a:t>单击此处编辑母版标题样式</a:t>
            </a:r>
            <a:endParaRPr/>
          </a:p>
        </p:txBody>
      </p:sp>
      <p:sp>
        <p:nvSpPr>
          <p:cNvPr id="48" name="日期占位符 2"/>
          <p:cNvSpPr>
            <a:spLocks noGrp="true"/>
          </p:cNvSpPr>
          <p:nvPr>
            <p:ph type="dt" idx="10"/>
          </p:nvPr>
        </p:nvSpPr>
        <p:spPr/>
        <p:txBody>
          <a:bodyPr/>
          <a:p>
            <a:pPr/>
            <a:fld id="{E05E0E50-3259-4429-AAEB-7BA10F2285FC}" type="datetime1">
              <a:rPr lang="zh-CN"/>
              <a:t>2022/12/22</a:t>
            </a:fld>
            <a:endParaRPr lang="zh-CN"/>
          </a:p>
        </p:txBody>
      </p:sp>
      <p:sp>
        <p:nvSpPr>
          <p:cNvPr id="49" name="页脚占位符 3"/>
          <p:cNvSpPr>
            <a:spLocks noGrp="true"/>
          </p:cNvSpPr>
          <p:nvPr>
            <p:ph type="ftr" idx="11"/>
          </p:nvPr>
        </p:nvSpPr>
        <p:spPr/>
        <p:txBody>
          <a:bodyPr/>
          <a:p>
            <a:pPr/>
            <a:endParaRPr lang="zh-CN"/>
          </a:p>
        </p:txBody>
      </p:sp>
      <p:sp>
        <p:nvSpPr>
          <p:cNvPr id="50" name="灯片编号占位符 4"/>
          <p:cNvSpPr>
            <a:spLocks noGrp="true"/>
          </p:cNvSpPr>
          <p:nvPr>
            <p:ph type="sldNum" idx="12"/>
          </p:nvPr>
        </p:nvSpPr>
        <p:spPr/>
        <p:txBody>
          <a:bodyPr/>
          <a:p>
            <a:pPr/>
            <a:fld id="{C2178EC5-58A4-4F44-B83C-34BE3E218ABE}" type="slidenum">
              <a:rPr lang="zh-CN"/>
              <a:t>‹#›</a:t>
            </a:fld>
            <a:endParaRPr lang="zh-CN"/>
          </a:p>
        </p:txBody>
      </p:sp>
    </p:spTree>
  </p:cSld>
  <p:clrMapOvr>
    <a:masterClrMapping/>
  </p:clrMapOvr>
</p:sldLayout>
</file>

<file path=ppt/slideLayouts/slideLayout7.xml><?xml version="1.0" encoding="utf-8"?>
<p:sldLayout xmlns:a="http://schemas.openxmlformats.org/drawingml/2006/main" xmlns:p="http://schemas.openxmlformats.org/presentationml/2006/main">
  <p:cSld name="空白">
    <p:spTree>
      <p:nvGrpSpPr>
        <p:cNvPr id="51" name=""/>
        <p:cNvGrpSpPr/>
        <p:nvPr/>
      </p:nvGrpSpPr>
      <p:grpSpPr>
        <a:xfrm>
          <a:off x="0" y="0"/>
          <a:ext cx="0" cy="0"/>
          <a:chOff x="0" y="0"/>
          <a:chExt cx="0" cy="0"/>
        </a:xfrm>
      </p:grpSpPr>
      <p:sp>
        <p:nvSpPr>
          <p:cNvPr id="52" name="日期占位符 1"/>
          <p:cNvSpPr>
            <a:spLocks noGrp="true"/>
          </p:cNvSpPr>
          <p:nvPr>
            <p:ph type="dt" idx="10"/>
          </p:nvPr>
        </p:nvSpPr>
        <p:spPr/>
        <p:txBody>
          <a:bodyPr/>
          <a:p>
            <a:pPr/>
            <a:fld id="{03EF5456-EA9D-47AD-816E-BBFCE6D3FB5C}" type="datetime1">
              <a:rPr lang="zh-CN"/>
              <a:t>2022/12/22</a:t>
            </a:fld>
            <a:endParaRPr lang="zh-CN"/>
          </a:p>
        </p:txBody>
      </p:sp>
      <p:sp>
        <p:nvSpPr>
          <p:cNvPr id="53" name="页脚占位符 2"/>
          <p:cNvSpPr>
            <a:spLocks noGrp="true"/>
          </p:cNvSpPr>
          <p:nvPr>
            <p:ph type="ftr" idx="11"/>
          </p:nvPr>
        </p:nvSpPr>
        <p:spPr/>
        <p:txBody>
          <a:bodyPr/>
          <a:p>
            <a:pPr/>
            <a:endParaRPr lang="zh-CN"/>
          </a:p>
        </p:txBody>
      </p:sp>
      <p:sp>
        <p:nvSpPr>
          <p:cNvPr id="54" name="灯片编号占位符 3"/>
          <p:cNvSpPr>
            <a:spLocks noGrp="true"/>
          </p:cNvSpPr>
          <p:nvPr>
            <p:ph type="sldNum" idx="12"/>
          </p:nvPr>
        </p:nvSpPr>
        <p:spPr/>
        <p:txBody>
          <a:bodyPr/>
          <a:p>
            <a:pPr/>
            <a:fld id="{E3199BA4-F8C4-48F6-BF3D-6D4BD834E815}" type="slidenum">
              <a:rPr lang="zh-CN"/>
              <a:t>‹#›</a:t>
            </a:fld>
            <a:endParaRPr lang="zh-CN"/>
          </a:p>
        </p:txBody>
      </p:sp>
    </p:spTree>
  </p:cSld>
  <p:clrMapOvr>
    <a:masterClrMapping/>
  </p:clrMapOvr>
</p:sldLayout>
</file>

<file path=ppt/slideLayouts/slideLayout8.xml><?xml version="1.0" encoding="utf-8"?>
<p:sldLayout xmlns:a="http://schemas.openxmlformats.org/drawingml/2006/main" xmlns:p="http://schemas.openxmlformats.org/presentationml/2006/main">
  <p:cSld name="内容与标题">
    <p:spTree>
      <p:nvGrpSpPr>
        <p:cNvPr id="55" name=""/>
        <p:cNvGrpSpPr/>
        <p:nvPr/>
      </p:nvGrpSpPr>
      <p:grpSpPr>
        <a:xfrm>
          <a:off x="0" y="0"/>
          <a:ext cx="0" cy="0"/>
          <a:chOff x="0" y="0"/>
          <a:chExt cx="0" cy="0"/>
        </a:xfrm>
      </p:grpSpPr>
      <p:sp>
        <p:nvSpPr>
          <p:cNvPr id="56" name="标题 1"/>
          <p:cNvSpPr>
            <a:spLocks noGrp="true"/>
          </p:cNvSpPr>
          <p:nvPr>
            <p:ph type="title"/>
          </p:nvPr>
        </p:nvSpPr>
        <p:spPr>
          <a:xfrm>
            <a:off x="839788" y="457200"/>
            <a:ext cx="3932237" cy="1600200"/>
          </a:xfrm>
        </p:spPr>
        <p:txBody>
          <a:bodyPr anchor="b"/>
          <a:lstStyle>
            <a:lvl1pPr lvl="0">
              <a:defRPr sz="3200"/>
            </a:lvl1pPr>
          </a:lstStyle>
          <a:p>
            <a:pPr/>
            <a:r>
              <a:rPr lang="zh-CN"/>
              <a:t>单击此处编辑母版标题样式</a:t>
            </a:r>
            <a:endParaRPr/>
          </a:p>
        </p:txBody>
      </p:sp>
      <p:sp>
        <p:nvSpPr>
          <p:cNvPr id="57" name="内容占位符 2"/>
          <p:cNvSpPr>
            <a:spLocks noGrp="true"/>
          </p:cNvSpPr>
          <p:nvPr>
            <p:ph idx="1"/>
          </p:nvPr>
        </p:nvSpPr>
        <p:spPr>
          <a:xfrm>
            <a:off x="5183188" y="987425"/>
            <a:ext cx="6172200" cy="4873625"/>
          </a:xfrm>
        </p:spPr>
        <p:txBody>
          <a:bodyPr/>
          <a:lstStyle>
            <a:lvl1pPr lvl="0">
              <a:defRPr sz="3200"/>
            </a:lvl1pPr>
            <a:lvl2pPr lvl="1">
              <a:defRPr sz="2800"/>
            </a:lvl2pPr>
            <a:lvl3pPr lvl="2">
              <a:defRPr sz="2400"/>
            </a:lvl3pPr>
            <a:lvl4pPr lvl="3">
              <a:defRPr sz="2000"/>
            </a:lvl4pPr>
            <a:lvl5pPr lvl="4">
              <a:defRPr sz="2000"/>
            </a:lvl5pPr>
            <a:lvl6pPr lvl="5">
              <a:defRPr sz="2000"/>
            </a:lvl6pPr>
            <a:lvl7pPr lvl="6">
              <a:defRPr sz="2000"/>
            </a:lvl7pPr>
            <a:lvl8pPr lvl="7">
              <a:defRPr sz="2000"/>
            </a:lvl8pPr>
            <a:lvl9pPr lvl="8">
              <a:defRPr sz="2000"/>
            </a:lvl9pPr>
          </a:lstStyle>
          <a:p>
            <a:pPr lvl="0"/>
            <a:r>
              <a:rPr lang="zh-CN"/>
              <a:t>单击此处编辑母版文本样式</a:t>
            </a:r>
            <a:endParaRPr/>
          </a:p>
          <a:p>
            <a:pPr lvl="1"/>
            <a:r>
              <a:rPr lang="zh-CN"/>
              <a:t>二级</a:t>
            </a:r>
            <a:endParaRPr/>
          </a:p>
          <a:p>
            <a:pPr lvl="2"/>
            <a:r>
              <a:rPr lang="zh-CN"/>
              <a:t>三级</a:t>
            </a:r>
            <a:endParaRPr/>
          </a:p>
          <a:p>
            <a:pPr lvl="3"/>
            <a:r>
              <a:rPr lang="zh-CN"/>
              <a:t>四级</a:t>
            </a:r>
            <a:endParaRPr/>
          </a:p>
          <a:p>
            <a:pPr lvl="4"/>
            <a:r>
              <a:rPr lang="zh-CN"/>
              <a:t>五级</a:t>
            </a:r>
            <a:endParaRPr/>
          </a:p>
        </p:txBody>
      </p:sp>
      <p:sp>
        <p:nvSpPr>
          <p:cNvPr id="58" name="文本占位符 3"/>
          <p:cNvSpPr>
            <a:spLocks noGrp="true"/>
          </p:cNvSpPr>
          <p:nvPr>
            <p:ph type="body" idx="2"/>
          </p:nvPr>
        </p:nvSpPr>
        <p:spPr>
          <a:xfrm>
            <a:off x="839788" y="2057400"/>
            <a:ext cx="3932237" cy="3811588"/>
          </a:xfrm>
        </p:spPr>
        <p:txBody>
          <a:bodyPr/>
          <a:lstStyle>
            <a:lvl1pPr marL="0" lvl="0" indent="0">
              <a:buNone/>
              <a:defRPr sz="1600"/>
            </a:lvl1pPr>
            <a:lvl2pPr marL="457200" lvl="1" indent="0">
              <a:buNone/>
              <a:defRPr sz="1400"/>
            </a:lvl2pPr>
            <a:lvl3pPr marL="914400" lvl="2" indent="0">
              <a:buNone/>
              <a:defRPr sz="1200"/>
            </a:lvl3pPr>
            <a:lvl4pPr marL="1371600" lvl="3" indent="0">
              <a:buNone/>
              <a:defRPr sz="1000"/>
            </a:lvl4pPr>
            <a:lvl5pPr marL="1828800" lvl="4" indent="0">
              <a:buNone/>
              <a:defRPr sz="1000"/>
            </a:lvl5pPr>
            <a:lvl6pPr marL="2286000" lvl="5" indent="0">
              <a:buNone/>
              <a:defRPr sz="1000"/>
            </a:lvl6pPr>
            <a:lvl7pPr marL="2743200" lvl="6" indent="0">
              <a:buNone/>
              <a:defRPr sz="1000"/>
            </a:lvl7pPr>
            <a:lvl8pPr marL="3200400" lvl="7" indent="0">
              <a:buNone/>
              <a:defRPr sz="1000"/>
            </a:lvl8pPr>
            <a:lvl9pPr marL="3657600" lvl="8" indent="0">
              <a:buNone/>
              <a:defRPr sz="1000"/>
            </a:lvl9pPr>
          </a:lstStyle>
          <a:p>
            <a:pPr lvl="0"/>
            <a:r>
              <a:rPr lang="zh-CN"/>
              <a:t>单击此处编辑母版文本样式</a:t>
            </a:r>
            <a:endParaRPr/>
          </a:p>
        </p:txBody>
      </p:sp>
      <p:sp>
        <p:nvSpPr>
          <p:cNvPr id="59" name="日期占位符 4"/>
          <p:cNvSpPr>
            <a:spLocks noGrp="true"/>
          </p:cNvSpPr>
          <p:nvPr>
            <p:ph type="dt" idx="10"/>
          </p:nvPr>
        </p:nvSpPr>
        <p:spPr/>
        <p:txBody>
          <a:bodyPr/>
          <a:p>
            <a:pPr/>
            <a:fld id="{BDD0B665-21F2-4210-A0AB-1FF516ABB0EC}" type="datetime1">
              <a:rPr lang="zh-CN"/>
              <a:t>2022/12/22</a:t>
            </a:fld>
            <a:endParaRPr lang="zh-CN"/>
          </a:p>
        </p:txBody>
      </p:sp>
      <p:sp>
        <p:nvSpPr>
          <p:cNvPr id="60" name="页脚占位符 5"/>
          <p:cNvSpPr>
            <a:spLocks noGrp="true"/>
          </p:cNvSpPr>
          <p:nvPr>
            <p:ph type="ftr" idx="11"/>
          </p:nvPr>
        </p:nvSpPr>
        <p:spPr/>
        <p:txBody>
          <a:bodyPr/>
          <a:p>
            <a:pPr/>
            <a:endParaRPr lang="zh-CN"/>
          </a:p>
        </p:txBody>
      </p:sp>
      <p:sp>
        <p:nvSpPr>
          <p:cNvPr id="61" name="灯片编号占位符 6"/>
          <p:cNvSpPr>
            <a:spLocks noGrp="true"/>
          </p:cNvSpPr>
          <p:nvPr>
            <p:ph type="sldNum" idx="12"/>
          </p:nvPr>
        </p:nvSpPr>
        <p:spPr/>
        <p:txBody>
          <a:bodyPr/>
          <a:p>
            <a:pPr/>
            <a:fld id="{D3120986-D9F8-450A-8E8A-7B53A97B66E9}" type="slidenum">
              <a:rPr lang="zh-CN"/>
              <a:t>‹#›</a:t>
            </a:fld>
            <a:endParaRPr lang="zh-CN"/>
          </a:p>
        </p:txBody>
      </p:sp>
    </p:spTree>
  </p:cSld>
  <p:clrMapOvr>
    <a:masterClrMapping/>
  </p:clrMapOvr>
</p:sldLayout>
</file>

<file path=ppt/slideLayouts/slideLayout9.xml><?xml version="1.0" encoding="utf-8"?>
<p:sldLayout xmlns:a="http://schemas.openxmlformats.org/drawingml/2006/main" xmlns:p="http://schemas.openxmlformats.org/presentationml/2006/main">
  <p:cSld name="图片与标题">
    <p:spTree>
      <p:nvGrpSpPr>
        <p:cNvPr id="62" name=""/>
        <p:cNvGrpSpPr/>
        <p:nvPr/>
      </p:nvGrpSpPr>
      <p:grpSpPr>
        <a:xfrm>
          <a:off x="0" y="0"/>
          <a:ext cx="0" cy="0"/>
          <a:chOff x="0" y="0"/>
          <a:chExt cx="0" cy="0"/>
        </a:xfrm>
      </p:grpSpPr>
      <p:sp>
        <p:nvSpPr>
          <p:cNvPr id="63" name="标题 1"/>
          <p:cNvSpPr>
            <a:spLocks noGrp="true"/>
          </p:cNvSpPr>
          <p:nvPr>
            <p:ph type="title"/>
          </p:nvPr>
        </p:nvSpPr>
        <p:spPr>
          <a:xfrm>
            <a:off x="839788" y="457200"/>
            <a:ext cx="3932237" cy="1600200"/>
          </a:xfrm>
        </p:spPr>
        <p:txBody>
          <a:bodyPr anchor="b"/>
          <a:lstStyle>
            <a:lvl1pPr lvl="0">
              <a:defRPr sz="3200"/>
            </a:lvl1pPr>
          </a:lstStyle>
          <a:p>
            <a:pPr/>
            <a:r>
              <a:rPr lang="zh-CN"/>
              <a:t>单击此处编辑母版标题样式</a:t>
            </a:r>
            <a:endParaRPr/>
          </a:p>
        </p:txBody>
      </p:sp>
      <p:sp>
        <p:nvSpPr>
          <p:cNvPr id="64" name="图片占位符 2"/>
          <p:cNvSpPr>
            <a:spLocks noGrp="true"/>
          </p:cNvSpPr>
          <p:nvPr>
            <p:ph type="pic" idx="1"/>
          </p:nvPr>
        </p:nvSpPr>
        <p:spPr>
          <a:xfrm>
            <a:off x="5183188" y="987425"/>
            <a:ext cx="6172200" cy="4873625"/>
          </a:xfrm>
        </p:spPr>
        <p:txBody>
          <a:bodyPr/>
          <a:lstStyle>
            <a:lvl1pPr marL="0" lvl="0" indent="0">
              <a:buNone/>
              <a:defRPr sz="3200"/>
            </a:lvl1pPr>
            <a:lvl2pPr marL="457200" lvl="1" indent="0">
              <a:buNone/>
              <a:defRPr sz="2800"/>
            </a:lvl2pPr>
            <a:lvl3pPr marL="914400" lvl="2" indent="0">
              <a:buNone/>
              <a:defRPr sz="2400"/>
            </a:lvl3pPr>
            <a:lvl4pPr marL="1371600" lvl="3" indent="0">
              <a:buNone/>
              <a:defRPr sz="2000"/>
            </a:lvl4pPr>
            <a:lvl5pPr marL="1828800" lvl="4" indent="0">
              <a:buNone/>
              <a:defRPr sz="2000"/>
            </a:lvl5pPr>
            <a:lvl6pPr marL="2286000" lvl="5" indent="0">
              <a:buNone/>
              <a:defRPr sz="2000"/>
            </a:lvl6pPr>
            <a:lvl7pPr marL="2743200" lvl="6" indent="0">
              <a:buNone/>
              <a:defRPr sz="2000"/>
            </a:lvl7pPr>
            <a:lvl8pPr marL="3200400" lvl="7" indent="0">
              <a:buNone/>
              <a:defRPr sz="2000"/>
            </a:lvl8pPr>
            <a:lvl9pPr marL="3657600" lvl="8" indent="0">
              <a:buNone/>
              <a:defRPr sz="2000"/>
            </a:lvl9pPr>
          </a:lstStyle>
          <a:p>
            <a:pPr/>
            <a:endParaRPr lang="zh-CN"/>
          </a:p>
        </p:txBody>
      </p:sp>
      <p:sp>
        <p:nvSpPr>
          <p:cNvPr id="65" name="文本占位符 3"/>
          <p:cNvSpPr>
            <a:spLocks noGrp="true"/>
          </p:cNvSpPr>
          <p:nvPr>
            <p:ph type="body" idx="2"/>
          </p:nvPr>
        </p:nvSpPr>
        <p:spPr>
          <a:xfrm>
            <a:off x="839788" y="2057400"/>
            <a:ext cx="3932237" cy="3811588"/>
          </a:xfrm>
        </p:spPr>
        <p:txBody>
          <a:bodyPr/>
          <a:lstStyle>
            <a:lvl1pPr marL="0" lvl="0" indent="0">
              <a:buNone/>
              <a:defRPr sz="1600"/>
            </a:lvl1pPr>
            <a:lvl2pPr marL="457200" lvl="1" indent="0">
              <a:buNone/>
              <a:defRPr sz="1400"/>
            </a:lvl2pPr>
            <a:lvl3pPr marL="914400" lvl="2" indent="0">
              <a:buNone/>
              <a:defRPr sz="1200"/>
            </a:lvl3pPr>
            <a:lvl4pPr marL="1371600" lvl="3" indent="0">
              <a:buNone/>
              <a:defRPr sz="1000"/>
            </a:lvl4pPr>
            <a:lvl5pPr marL="1828800" lvl="4" indent="0">
              <a:buNone/>
              <a:defRPr sz="1000"/>
            </a:lvl5pPr>
            <a:lvl6pPr marL="2286000" lvl="5" indent="0">
              <a:buNone/>
              <a:defRPr sz="1000"/>
            </a:lvl6pPr>
            <a:lvl7pPr marL="2743200" lvl="6" indent="0">
              <a:buNone/>
              <a:defRPr sz="1000"/>
            </a:lvl7pPr>
            <a:lvl8pPr marL="3200400" lvl="7" indent="0">
              <a:buNone/>
              <a:defRPr sz="1000"/>
            </a:lvl8pPr>
            <a:lvl9pPr marL="3657600" lvl="8" indent="0">
              <a:buNone/>
              <a:defRPr sz="1000"/>
            </a:lvl9pPr>
          </a:lstStyle>
          <a:p>
            <a:pPr lvl="0"/>
            <a:r>
              <a:rPr lang="zh-CN"/>
              <a:t>单击此处编辑母版文本样式</a:t>
            </a:r>
            <a:endParaRPr/>
          </a:p>
        </p:txBody>
      </p:sp>
      <p:sp>
        <p:nvSpPr>
          <p:cNvPr id="66" name="日期占位符 4"/>
          <p:cNvSpPr>
            <a:spLocks noGrp="true"/>
          </p:cNvSpPr>
          <p:nvPr>
            <p:ph type="dt" idx="10"/>
          </p:nvPr>
        </p:nvSpPr>
        <p:spPr/>
        <p:txBody>
          <a:bodyPr/>
          <a:p>
            <a:pPr/>
            <a:fld id="{4E233BD8-DB7E-4E6E-9456-6D1E77C88269}" type="datetime1">
              <a:rPr lang="zh-CN"/>
              <a:t>2022/12/22</a:t>
            </a:fld>
            <a:endParaRPr lang="zh-CN"/>
          </a:p>
        </p:txBody>
      </p:sp>
      <p:sp>
        <p:nvSpPr>
          <p:cNvPr id="67" name="页脚占位符 5"/>
          <p:cNvSpPr>
            <a:spLocks noGrp="true"/>
          </p:cNvSpPr>
          <p:nvPr>
            <p:ph type="ftr" idx="11"/>
          </p:nvPr>
        </p:nvSpPr>
        <p:spPr/>
        <p:txBody>
          <a:bodyPr/>
          <a:p>
            <a:pPr/>
            <a:endParaRPr lang="zh-CN"/>
          </a:p>
        </p:txBody>
      </p:sp>
      <p:sp>
        <p:nvSpPr>
          <p:cNvPr id="68" name="灯片编号占位符 6"/>
          <p:cNvSpPr>
            <a:spLocks noGrp="true"/>
          </p:cNvSpPr>
          <p:nvPr>
            <p:ph type="sldNum" idx="12"/>
          </p:nvPr>
        </p:nvSpPr>
        <p:spPr/>
        <p:txBody>
          <a:bodyPr/>
          <a:p>
            <a:pPr/>
            <a:fld id="{747CCC7F-E1A2-469B-A337-764C3DF07313}" type="slidenum">
              <a:rPr lang="zh-CN"/>
              <a:t>‹#›</a:t>
            </a:fld>
            <a:endParaRPr lang="zh-CN"/>
          </a:p>
        </p:txBody>
      </p:sp>
    </p:spTree>
  </p:cSld>
  <p:clrMapOvr>
    <a:masterClrMapping/>
  </p:clrMapOvr>
</p:sldLayout>
</file>

<file path=ppt/slideLayouts/slideLayout10.xml><?xml version="1.0" encoding="utf-8"?>
<p:sldLayout xmlns:a="http://schemas.openxmlformats.org/drawingml/2006/main" xmlns:p="http://schemas.openxmlformats.org/presentationml/2006/main">
  <p:cSld name="标题和竖排文字">
    <p:spTree>
      <p:nvGrpSpPr>
        <p:cNvPr id="69" name=""/>
        <p:cNvGrpSpPr/>
        <p:nvPr/>
      </p:nvGrpSpPr>
      <p:grpSpPr>
        <a:xfrm>
          <a:off x="0" y="0"/>
          <a:ext cx="0" cy="0"/>
          <a:chOff x="0" y="0"/>
          <a:chExt cx="0" cy="0"/>
        </a:xfrm>
      </p:grpSpPr>
      <p:sp>
        <p:nvSpPr>
          <p:cNvPr id="70" name="标题 1"/>
          <p:cNvSpPr>
            <a:spLocks noGrp="true"/>
          </p:cNvSpPr>
          <p:nvPr>
            <p:ph type="title"/>
          </p:nvPr>
        </p:nvSpPr>
        <p:spPr/>
        <p:txBody>
          <a:bodyPr/>
          <a:p>
            <a:pPr/>
            <a:r>
              <a:rPr lang="zh-CN"/>
              <a:t>单击此处编辑母版标题样式</a:t>
            </a:r>
            <a:endParaRPr/>
          </a:p>
        </p:txBody>
      </p:sp>
      <p:sp>
        <p:nvSpPr>
          <p:cNvPr id="71" name="竖排文字占位符 2"/>
          <p:cNvSpPr>
            <a:spLocks noGrp="true"/>
          </p:cNvSpPr>
          <p:nvPr>
            <p:ph type="body" idx="1"/>
          </p:nvPr>
        </p:nvSpPr>
        <p:spPr/>
        <p:txBody>
          <a:bodyPr vert="eaVert"/>
          <a:p>
            <a:pPr lvl="0"/>
            <a:r>
              <a:rPr lang="zh-CN"/>
              <a:t>单击此处编辑母版文本样式</a:t>
            </a:r>
            <a:endParaRPr/>
          </a:p>
          <a:p>
            <a:pPr lvl="1"/>
            <a:r>
              <a:rPr lang="zh-CN"/>
              <a:t>二级</a:t>
            </a:r>
            <a:endParaRPr/>
          </a:p>
          <a:p>
            <a:pPr lvl="2"/>
            <a:r>
              <a:rPr lang="zh-CN"/>
              <a:t>三级</a:t>
            </a:r>
            <a:endParaRPr/>
          </a:p>
          <a:p>
            <a:pPr lvl="3"/>
            <a:r>
              <a:rPr lang="zh-CN"/>
              <a:t>四级</a:t>
            </a:r>
            <a:endParaRPr/>
          </a:p>
          <a:p>
            <a:pPr lvl="4"/>
            <a:r>
              <a:rPr lang="zh-CN"/>
              <a:t>五级</a:t>
            </a:r>
            <a:endParaRPr/>
          </a:p>
        </p:txBody>
      </p:sp>
      <p:sp>
        <p:nvSpPr>
          <p:cNvPr id="72" name="日期占位符 3"/>
          <p:cNvSpPr>
            <a:spLocks noGrp="true"/>
          </p:cNvSpPr>
          <p:nvPr>
            <p:ph type="dt" idx="10"/>
          </p:nvPr>
        </p:nvSpPr>
        <p:spPr/>
        <p:txBody>
          <a:bodyPr/>
          <a:p>
            <a:pPr/>
            <a:fld id="{9772B07E-4E44-4E95-89AF-F1EF6F4CC7EC}" type="datetime1">
              <a:rPr lang="zh-CN"/>
              <a:t>2022/12/22</a:t>
            </a:fld>
            <a:endParaRPr lang="zh-CN"/>
          </a:p>
        </p:txBody>
      </p:sp>
      <p:sp>
        <p:nvSpPr>
          <p:cNvPr id="73" name="页脚占位符 4"/>
          <p:cNvSpPr>
            <a:spLocks noGrp="true"/>
          </p:cNvSpPr>
          <p:nvPr>
            <p:ph type="ftr" idx="11"/>
          </p:nvPr>
        </p:nvSpPr>
        <p:spPr/>
        <p:txBody>
          <a:bodyPr/>
          <a:p>
            <a:pPr/>
            <a:endParaRPr lang="zh-CN"/>
          </a:p>
        </p:txBody>
      </p:sp>
      <p:sp>
        <p:nvSpPr>
          <p:cNvPr id="74" name="灯片编号占位符 5"/>
          <p:cNvSpPr>
            <a:spLocks noGrp="true"/>
          </p:cNvSpPr>
          <p:nvPr>
            <p:ph type="sldNum" idx="12"/>
          </p:nvPr>
        </p:nvSpPr>
        <p:spPr/>
        <p:txBody>
          <a:bodyPr/>
          <a:p>
            <a:pPr/>
            <a:fld id="{10D47AF7-089F-4725-8B45-DEA8A59F6C62}" type="slidenum">
              <a:rPr lang="zh-CN"/>
              <a:t>‹#›</a:t>
            </a:fld>
            <a:endParaRPr lang="zh-CN"/>
          </a:p>
        </p:txBody>
      </p:sp>
    </p:spTree>
  </p:cSld>
  <p:clrMapOvr>
    <a:masterClrMapping/>
  </p:clrMapOvr>
</p:sldLayout>
</file>

<file path=ppt/slideLayouts/slideLayout11.xml><?xml version="1.0" encoding="utf-8"?>
<p:sldLayout xmlns:a="http://schemas.openxmlformats.org/drawingml/2006/main" xmlns:p="http://schemas.openxmlformats.org/presentationml/2006/main">
  <p:cSld name="竖排标题与文本">
    <p:spTree>
      <p:nvGrpSpPr>
        <p:cNvPr id="13" name=""/>
        <p:cNvGrpSpPr/>
        <p:nvPr/>
      </p:nvGrpSpPr>
      <p:grpSpPr>
        <a:xfrm>
          <a:off x="0" y="0"/>
          <a:ext cx="0" cy="0"/>
          <a:chOff x="0" y="0"/>
          <a:chExt cx="0" cy="0"/>
        </a:xfrm>
      </p:grpSpPr>
      <p:sp>
        <p:nvSpPr>
          <p:cNvPr id="14" name="竖排标题 1"/>
          <p:cNvSpPr>
            <a:spLocks noGrp="true"/>
          </p:cNvSpPr>
          <p:nvPr>
            <p:ph type="title"/>
          </p:nvPr>
        </p:nvSpPr>
        <p:spPr>
          <a:xfrm>
            <a:off x="8724900" y="365125"/>
            <a:ext cx="2628900" cy="5811838"/>
          </a:xfrm>
        </p:spPr>
        <p:txBody>
          <a:bodyPr vert="eaVert"/>
          <a:p>
            <a:pPr/>
            <a:r>
              <a:rPr lang="zh-CN"/>
              <a:t>单击此处编辑母版标题样式</a:t>
            </a:r>
            <a:endParaRPr/>
          </a:p>
        </p:txBody>
      </p:sp>
      <p:sp>
        <p:nvSpPr>
          <p:cNvPr id="15" name="竖排文字占位符 2"/>
          <p:cNvSpPr>
            <a:spLocks noGrp="true"/>
          </p:cNvSpPr>
          <p:nvPr>
            <p:ph type="body" idx="1"/>
          </p:nvPr>
        </p:nvSpPr>
        <p:spPr>
          <a:xfrm>
            <a:off x="838200" y="365125"/>
            <a:ext cx="7734300" cy="5811838"/>
          </a:xfrm>
        </p:spPr>
        <p:txBody>
          <a:bodyPr vert="eaVert"/>
          <a:p>
            <a:pPr lvl="0"/>
            <a:r>
              <a:rPr lang="zh-CN"/>
              <a:t>单击此处编辑母版文本样式</a:t>
            </a:r>
            <a:endParaRPr/>
          </a:p>
          <a:p>
            <a:pPr lvl="1"/>
            <a:r>
              <a:rPr lang="zh-CN"/>
              <a:t>二级</a:t>
            </a:r>
            <a:endParaRPr/>
          </a:p>
          <a:p>
            <a:pPr lvl="2"/>
            <a:r>
              <a:rPr lang="zh-CN"/>
              <a:t>三级</a:t>
            </a:r>
            <a:endParaRPr/>
          </a:p>
          <a:p>
            <a:pPr lvl="3"/>
            <a:r>
              <a:rPr lang="zh-CN"/>
              <a:t>四级</a:t>
            </a:r>
            <a:endParaRPr/>
          </a:p>
          <a:p>
            <a:pPr lvl="4"/>
            <a:r>
              <a:rPr lang="zh-CN"/>
              <a:t>五级</a:t>
            </a:r>
            <a:endParaRPr/>
          </a:p>
        </p:txBody>
      </p:sp>
      <p:sp>
        <p:nvSpPr>
          <p:cNvPr id="16" name="日期占位符 3"/>
          <p:cNvSpPr>
            <a:spLocks noGrp="true"/>
          </p:cNvSpPr>
          <p:nvPr>
            <p:ph type="dt" idx="10"/>
          </p:nvPr>
        </p:nvSpPr>
        <p:spPr/>
        <p:txBody>
          <a:bodyPr/>
          <a:p>
            <a:pPr/>
            <a:fld id="{17AA1729-FFEC-4670-BE57-9BB1B6CF1583}" type="datetime1">
              <a:rPr lang="zh-CN"/>
              <a:t>2022/12/22</a:t>
            </a:fld>
            <a:endParaRPr lang="zh-CN"/>
          </a:p>
        </p:txBody>
      </p:sp>
      <p:sp>
        <p:nvSpPr>
          <p:cNvPr id="17" name="页脚占位符 4"/>
          <p:cNvSpPr>
            <a:spLocks noGrp="true"/>
          </p:cNvSpPr>
          <p:nvPr>
            <p:ph type="ftr" idx="11"/>
          </p:nvPr>
        </p:nvSpPr>
        <p:spPr/>
        <p:txBody>
          <a:bodyPr/>
          <a:p>
            <a:pPr/>
            <a:endParaRPr lang="zh-CN"/>
          </a:p>
        </p:txBody>
      </p:sp>
      <p:sp>
        <p:nvSpPr>
          <p:cNvPr id="18" name="灯片编号占位符 5"/>
          <p:cNvSpPr>
            <a:spLocks noGrp="true"/>
          </p:cNvSpPr>
          <p:nvPr>
            <p:ph type="sldNum" idx="12"/>
          </p:nvPr>
        </p:nvSpPr>
        <p:spPr/>
        <p:txBody>
          <a:bodyPr/>
          <a:p>
            <a:pPr/>
            <a:fld id="{A7AACFD0-6D64-47CD-A483-D6FD45307366}" type="slidenum">
              <a:rPr lang="zh-CN"/>
              <a:t>‹#›</a:t>
            </a:fld>
            <a:endParaRPr lang="zh-CN"/>
          </a:p>
        </p:txBody>
      </p:sp>
    </p:spTree>
  </p:cSld>
  <p:clrMapOvr>
    <a:masterClrMapping/>
  </p:clrMapOvr>
</p:sldLayout>
</file>

<file path=ppt/slideLayouts/slideLayout12.xml><?xml version="1.0" encoding="utf-8"?>
<p:sldLayout xmlns:p15="http://schemas.microsoft.com/office/powerpoint/2012/main" xmlns:a="http://schemas.openxmlformats.org/drawingml/2006/main" xmlns:p="http://schemas.openxmlformats.org/presentationml/2006/main" xmlns:r="http://schemas.openxmlformats.org/officeDocument/2006/relationships" xmlns:mc="http://schemas.openxmlformats.org/markup-compatibility/2006" mc:Ignorable="p15">
  <p:cSld name="1_标题幻灯片">
    <p:spTree>
      <p:nvGrpSpPr>
        <p:cNvPr id="19" name=""/>
        <p:cNvGrpSpPr/>
        <p:nvPr/>
      </p:nvGrpSpPr>
      <p:grpSpPr>
        <a:xfrm>
          <a:off x="0" y="0"/>
          <a:ext cx="0" cy="0"/>
          <a:chOff x="0" y="0"/>
          <a:chExt cx="0" cy="0"/>
        </a:xfrm>
      </p:grpSpPr>
      <p:pic>
        <p:nvPicPr>
          <p:cNvPr id="20" name="图片 2" descr="黑暗中有圆形  描述已自动生成"/>
          <p:cNvPicPr>
            <a:picLocks noChangeAspect="true"/>
          </p:cNvPicPr>
          <p:nvPr userDrawn="true"/>
        </p:nvPicPr>
        <p:blipFill>
          <a:blip r:embed="rId1"/>
          <a:stretch>
            <a:fillRect/>
          </a:stretch>
        </p:blipFill>
        <p:spPr>
          <a:xfrm>
            <a:off x="0" y="0"/>
            <a:ext cx="12192000" cy="6858000"/>
          </a:xfrm>
          <a:prstGeom prst="rect">
            <a:avLst/>
          </a:prstGeom>
        </p:spPr>
      </p:pic>
      <p:sp>
        <p:nvSpPr>
          <p:cNvPr id="21" name="矩形 3"/>
          <p:cNvSpPr/>
          <p:nvPr userDrawn="true"/>
        </p:nvSpPr>
        <p:spPr>
          <a:xfrm>
            <a:off x="0" y="12560"/>
            <a:ext cx="12192000" cy="6832880"/>
          </a:xfrm>
          <a:prstGeom prst="rect">
            <a:avLst/>
          </a:prstGeom>
          <a:gradFill>
            <a:gsLst>
              <a:gs pos="48000">
                <a:srgbClr val="006DFC">
                  <a:alpha val="0"/>
                </a:srgbClr>
              </a:gs>
              <a:gs pos="100000">
                <a:srgbClr val="006DFC">
                  <a:alpha val="15000"/>
                </a:srgbClr>
              </a:gs>
            </a:gsLst>
            <a:lin ang="3600000" scaled="false"/>
          </a:gradFill>
          <a:ln>
            <a:noFill/>
          </a:ln>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kumimoji="true" lang="zh-CN" altLang="en-US" dirty="false"/>
          </a:p>
        </p:txBody>
      </p:sp>
      <p:cxnSp>
        <p:nvCxnSpPr>
          <p:cNvPr id="22" name="直线连接符 3"/>
          <p:cNvCxnSpPr/>
          <p:nvPr userDrawn="true"/>
        </p:nvCxnSpPr>
        <p:spPr>
          <a:xfrm>
            <a:off x="503833" y="380046"/>
            <a:ext cx="0" cy="440970"/>
          </a:xfrm>
          <a:prstGeom prst="line">
            <a:avLst/>
          </a:prstGeom>
          <a:ln w="63500">
            <a:solidFill>
              <a:srgbClr val="006DFC"/>
            </a:solidFill>
          </a:ln>
        </p:spPr>
        <p:style>
          <a:lnRef idx="1">
            <a:schemeClr val="accent1"/>
          </a:lnRef>
          <a:fillRef idx="0">
            <a:schemeClr val="accent1"/>
          </a:fillRef>
          <a:effectRef idx="0">
            <a:schemeClr val="accent1"/>
          </a:effectRef>
          <a:fontRef idx="minor">
            <a:schemeClr val="tx1"/>
          </a:fontRef>
        </p:style>
      </p:cxnSp>
      <p:sp>
        <p:nvSpPr>
          <p:cNvPr id="23" name="标题 4"/>
          <p:cNvSpPr>
            <a:spLocks noGrp="true"/>
          </p:cNvSpPr>
          <p:nvPr>
            <p:ph type="title"/>
          </p:nvPr>
        </p:nvSpPr>
        <p:spPr>
          <a:xfrm>
            <a:off x="638629" y="292556"/>
            <a:ext cx="11073946" cy="615950"/>
          </a:xfrm>
          <a:prstGeom prst="rect">
            <a:avLst/>
          </a:prstGeom>
        </p:spPr>
        <p:txBody>
          <a:bodyPr lIns="0" rIns="0" anchor="ctr">
            <a:normAutofit/>
          </a:bodyPr>
          <a:lstStyle>
            <a:lvl1pPr>
              <a:lnSpc>
                <a:spcPct val="100000"/>
              </a:lnSpc>
              <a:defRPr sz="3200" b="false">
                <a:solidFill>
                  <a:schemeClr val="bg1"/>
                </a:solidFill>
                <a:latin typeface="BigYoungBoldGB2.0" panose="02010600030101010101" charset="-122"/>
                <a:ea typeface="BigYoungBoldGB2.0" panose="02010600030101010101" charset="-122"/>
              </a:defRPr>
            </a:lvl1pPr>
          </a:lstStyle>
          <a:p>
            <a:pPr/>
            <a:r>
              <a:rPr lang="zh-CN" altLang="en-US" dirty="false"/>
              <a:t>单击此处编辑母版标题样式</a:t>
            </a:r>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guide id="3" pos="302">
          <p15:clr>
            <a:srgbClr val="FBAE40"/>
          </p15:clr>
        </p15:guide>
        <p15:guide id="4" pos="7378">
          <p15:clr>
            <a:srgbClr val="FBAE40"/>
          </p15:clr>
        </p15:guide>
        <p15:guide id="5" orient="horz" pos="572">
          <p15:clr>
            <a:srgbClr val="FBAE40"/>
          </p15:clr>
        </p15:guide>
        <p15:guide id="6" orient="horz" pos="4020">
          <p15:clr>
            <a:srgbClr val="FBAE40"/>
          </p15:clr>
        </p15:guide>
        <p15:guide id="7" orient="horz" pos="663">
          <p15:clr>
            <a:srgbClr val="FBAE40"/>
          </p15:clr>
        </p15:guide>
      </p15:sldGuideLst>
    </p:ext>
  </p:extLst>
</p:sldLayout>
</file>

<file path=ppt/slideLayouts/slideLayout13.xml><?xml version="1.0" encoding="utf-8"?>
<p:sldLayout xmlns:a="http://schemas.openxmlformats.org/drawingml/2006/main" xmlns:p="http://schemas.openxmlformats.org/presentationml/2006/main" type="title">
  <p:cSld name="Title Slide">
    <p:spTree>
      <p:nvGrpSpPr>
        <p:cNvPr id="75" name=""/>
        <p:cNvGrpSpPr/>
        <p:nvPr/>
      </p:nvGrpSpPr>
      <p:grpSpPr>
        <a:xfrm>
          <a:off x="0" y="0"/>
          <a:ext cx="0" cy="0"/>
          <a:chOff x="0" y="0"/>
          <a:chExt cx="0" cy="0"/>
        </a:xfrm>
      </p:grpSpPr>
      <p:sp>
        <p:nvSpPr>
          <p:cNvPr id="76" name="Title 1"/>
          <p:cNvSpPr>
            <a:spLocks noGrp="true"/>
          </p:cNvSpPr>
          <p:nvPr>
            <p:ph type="ctrTitle"/>
          </p:nvPr>
        </p:nvSpPr>
        <p:spPr>
          <a:xfrm>
            <a:off x="1524000" y="1122363"/>
            <a:ext cx="9144000" cy="2387600"/>
          </a:xfrm>
        </p:spPr>
        <p:txBody>
          <a:bodyPr anchor="b"/>
          <a:lstStyle>
            <a:lvl1pPr algn="ctr">
              <a:defRPr sz="6000"/>
            </a:lvl1pPr>
          </a:lstStyle>
          <a:p>
            <a:pPr/>
            <a:r>
              <a:rPr lang="en-US"/>
              <a:t>Click to edit Master title style</a:t>
            </a:r>
            <a:endParaRPr lang="en-US" dirty="false"/>
          </a:p>
        </p:txBody>
      </p:sp>
      <p:sp>
        <p:nvSpPr>
          <p:cNvPr id="77" name="Subtitle 2"/>
          <p:cNvSpPr>
            <a:spLocks noGrp="true"/>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a:r>
              <a:rPr lang="en-US"/>
              <a:t>Click to edit Master subtitle style</a:t>
            </a:r>
            <a:endParaRPr lang="en-US" dirty="false"/>
          </a:p>
        </p:txBody>
      </p:sp>
      <p:sp>
        <p:nvSpPr>
          <p:cNvPr id="78" name="Date Placeholder 3"/>
          <p:cNvSpPr>
            <a:spLocks noGrp="true"/>
          </p:cNvSpPr>
          <p:nvPr>
            <p:ph type="dt" sz="half" idx="10"/>
          </p:nvPr>
        </p:nvSpPr>
        <p:spPr/>
        <p:txBody>
          <a:bodyPr/>
          <a:lstStyle/>
          <a:p>
            <a:pPr/>
            <a:fld id="{46583E64-E167-F644-A07C-BB1C7A903AC7}" type="datetimeFigureOut">
              <a:rPr lang="en-US" smtClean="false"/>
              <a:t>11/14/25</a:t>
            </a:fld>
            <a:endParaRPr lang="en-US"/>
          </a:p>
        </p:txBody>
      </p:sp>
      <p:sp>
        <p:nvSpPr>
          <p:cNvPr id="79" name="Footer Placeholder 4"/>
          <p:cNvSpPr>
            <a:spLocks noGrp="true"/>
          </p:cNvSpPr>
          <p:nvPr>
            <p:ph type="ftr" sz="quarter" idx="11"/>
          </p:nvPr>
        </p:nvSpPr>
        <p:spPr/>
        <p:txBody>
          <a:bodyPr/>
          <a:lstStyle/>
          <a:p>
            <a:pPr/>
            <a:endParaRPr lang="en-US"/>
          </a:p>
        </p:txBody>
      </p:sp>
      <p:sp>
        <p:nvSpPr>
          <p:cNvPr id="80" name="Slide Number Placeholder 5"/>
          <p:cNvSpPr>
            <a:spLocks noGrp="true"/>
          </p:cNvSpPr>
          <p:nvPr>
            <p:ph type="sldNum" sz="quarter" idx="12"/>
          </p:nvPr>
        </p:nvSpPr>
        <p:spPr/>
        <p:txBody>
          <a:bodyPr/>
          <a:lstStyle/>
          <a:p>
            <a:pPr/>
            <a:fld id="{3D7C1084-B247-3F4A-AA06-F3BE7869B465}" type="slidenum">
              <a:rPr lang="en-US" smtClean="false"/>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9" Type="http://schemas.openxmlformats.org/officeDocument/2006/relationships/slideLayout" Target="../slideLayouts/slideLayout10.xml" /><Relationship Id="rId7" Type="http://schemas.openxmlformats.org/officeDocument/2006/relationships/slideLayout" Target="../slideLayouts/slideLayout8.xml" /><Relationship Id="rId8" Type="http://schemas.openxmlformats.org/officeDocument/2006/relationships/slideLayout" Target="../slideLayouts/slideLayout9.xml" /><Relationship Id="rId6" Type="http://schemas.openxmlformats.org/officeDocument/2006/relationships/slideLayout" Target="../slideLayouts/slideLayout7.xml" /><Relationship Id="rId3" Type="http://schemas.openxmlformats.org/officeDocument/2006/relationships/slideLayout" Target="../slideLayouts/slideLayout4.xml" /><Relationship Id="rId1" Type="http://schemas.openxmlformats.org/officeDocument/2006/relationships/slideLayout" Target="../slideLayouts/slideLayout2.xml" /><Relationship Id="rId5" Type="http://schemas.openxmlformats.org/officeDocument/2006/relationships/slideLayout" Target="../slideLayouts/slideLayout6.xml" /><Relationship Id="rId0" Type="http://schemas.openxmlformats.org/officeDocument/2006/relationships/slideLayout" Target="../slideLayouts/slideLayout1.xml" /><Relationship Id="rId10" Type="http://schemas.openxmlformats.org/officeDocument/2006/relationships/slideLayout" Target="../slideLayouts/slideLayout11.xml" /><Relationship Id="rId11" Type="http://schemas.openxmlformats.org/officeDocument/2006/relationships/slideLayout" Target="../slideLayouts/slideLayout12.xml" /><Relationship Id="rId12" Type="http://schemas.openxmlformats.org/officeDocument/2006/relationships/theme" Target="../theme/theme1.xml" /><Relationship Id="rId4" Type="http://schemas.openxmlformats.org/officeDocument/2006/relationships/slideLayout" Target="../slideLayouts/slideLayout5.xml" /><Relationship Id="rId2" Type="http://schemas.openxmlformats.org/officeDocument/2006/relationships/slideLayout" Target="../slideLayouts/slideLayout3.xml" /></Relationships>
</file>

<file path=ppt/slideMasters/_rels/slideMaster2.xml.rels><?xml version="1.0" encoding="UTF-8" standalone="yes"?><Relationships xmlns="http://schemas.openxmlformats.org/package/2006/relationships"><Relationship Id="rId1" Type="http://schemas.openxmlformats.org/officeDocument/2006/relationships/theme" Target="../theme/theme2.xml" /><Relationship Id="rId0" Type="http://schemas.openxmlformats.org/officeDocument/2006/relationships/slideLayout" Target="../slideLayouts/slideLayout13.xml"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solidFill>
          <a:schemeClr val="bg1"/>
        </a:solidFill>
      </p:bgPr>
    </p:bg>
    <p:spTree>
      <p:nvGrpSpPr>
        <p:cNvPr id="1" name=""/>
        <p:cNvGrpSpPr/>
        <p:nvPr/>
      </p:nvGrpSpPr>
      <p:grpSpPr>
        <a:xfrm>
          <a:off x="0" y="0"/>
          <a:ext cx="0" cy="0"/>
          <a:chOff x="0" y="0"/>
          <a:chExt cx="0" cy="0"/>
        </a:xfrm>
      </p:grpSpPr>
      <p:sp>
        <p:nvSpPr>
          <p:cNvPr id="2" name="标题占位符 1"/>
          <p:cNvSpPr>
            <a:spLocks noGrp="true"/>
          </p:cNvSpPr>
          <p:nvPr>
            <p:ph type="title"/>
          </p:nvPr>
        </p:nvSpPr>
        <p:spPr>
          <a:xfrm>
            <a:off x="838200" y="365125"/>
            <a:ext cx="10515600" cy="1325563"/>
          </a:xfrm>
          <a:prstGeom prst="rect"/>
        </p:spPr>
        <p:txBody>
          <a:bodyPr vert="horz" lIns="91440" tIns="45720" rIns="91440" bIns="45720" anchor="ctr">
            <a:normAutofit/>
          </a:bodyPr>
          <a:p>
            <a:pPr/>
            <a:r>
              <a:rPr lang="zh-CN"/>
              <a:t>单击此处编辑母版标题样式</a:t>
            </a:r>
            <a:endParaRPr/>
          </a:p>
        </p:txBody>
      </p:sp>
      <p:sp>
        <p:nvSpPr>
          <p:cNvPr id="3" name="文本占位符 2"/>
          <p:cNvSpPr>
            <a:spLocks noGrp="true"/>
          </p:cNvSpPr>
          <p:nvPr>
            <p:ph type="body" idx="1"/>
          </p:nvPr>
        </p:nvSpPr>
        <p:spPr>
          <a:xfrm>
            <a:off x="838200" y="1825625"/>
            <a:ext cx="10515600" cy="4351338"/>
          </a:xfrm>
          <a:prstGeom prst="rect"/>
        </p:spPr>
        <p:txBody>
          <a:bodyPr vert="horz" lIns="91440" tIns="45720" rIns="91440" bIns="45720">
            <a:normAutofit/>
          </a:bodyPr>
          <a:p>
            <a:pPr lvl="0"/>
            <a:r>
              <a:rPr lang="zh-CN"/>
              <a:t>单击此处编辑母版文本样式</a:t>
            </a:r>
            <a:endParaRPr/>
          </a:p>
          <a:p>
            <a:pPr lvl="1"/>
            <a:r>
              <a:rPr lang="zh-CN"/>
              <a:t>二级</a:t>
            </a:r>
            <a:endParaRPr/>
          </a:p>
          <a:p>
            <a:pPr lvl="2"/>
            <a:r>
              <a:rPr lang="zh-CN"/>
              <a:t>三级</a:t>
            </a:r>
            <a:endParaRPr/>
          </a:p>
          <a:p>
            <a:pPr lvl="3"/>
            <a:r>
              <a:rPr lang="zh-CN"/>
              <a:t>四级</a:t>
            </a:r>
            <a:endParaRPr/>
          </a:p>
          <a:p>
            <a:pPr lvl="4"/>
            <a:r>
              <a:rPr lang="zh-CN"/>
              <a:t>五级</a:t>
            </a:r>
            <a:endParaRPr/>
          </a:p>
        </p:txBody>
      </p:sp>
      <p:sp>
        <p:nvSpPr>
          <p:cNvPr id="4" name="日期占位符 3"/>
          <p:cNvSpPr>
            <a:spLocks noGrp="true"/>
          </p:cNvSpPr>
          <p:nvPr>
            <p:ph type="dt" idx="2"/>
          </p:nvPr>
        </p:nvSpPr>
        <p:spPr>
          <a:xfrm>
            <a:off x="838200" y="6356350"/>
            <a:ext cx="2743200" cy="365125"/>
          </a:xfrm>
          <a:prstGeom prst="rect"/>
        </p:spPr>
        <p:txBody>
          <a:bodyPr vert="horz" lIns="91440" tIns="45720" rIns="91440" bIns="45720" anchor="ctr"/>
          <a:lstStyle>
            <a:lvl1pPr lvl="0" algn="l">
              <a:defRPr sz="1200">
                <a:solidFill>
                  <a:schemeClr val="tx1">
                    <a:tint val="75000"/>
                  </a:schemeClr>
                </a:solidFill>
              </a:defRPr>
            </a:lvl1pPr>
          </a:lstStyle>
          <a:p>
            <a:pPr/>
            <a:fld id="{C14ADBE2-30DF-480B-A5CC-C216012A8DE2}" type="datetime1">
              <a:rPr lang="zh-CN"/>
              <a:t>2022/12/22</a:t>
            </a:fld>
            <a:endParaRPr lang="zh-CN"/>
          </a:p>
        </p:txBody>
      </p:sp>
      <p:sp>
        <p:nvSpPr>
          <p:cNvPr id="5" name="页脚占位符 4"/>
          <p:cNvSpPr>
            <a:spLocks noGrp="true"/>
          </p:cNvSpPr>
          <p:nvPr>
            <p:ph type="ftr" idx="3"/>
          </p:nvPr>
        </p:nvSpPr>
        <p:spPr>
          <a:xfrm>
            <a:off x="4038600" y="6356350"/>
            <a:ext cx="4114800" cy="365125"/>
          </a:xfrm>
          <a:prstGeom prst="rect"/>
        </p:spPr>
        <p:txBody>
          <a:bodyPr vert="horz" lIns="91440" tIns="45720" rIns="91440" bIns="45720" anchor="ctr"/>
          <a:lstStyle>
            <a:lvl1pPr lvl="0" algn="ctr">
              <a:defRPr sz="1200">
                <a:solidFill>
                  <a:schemeClr val="tx1">
                    <a:tint val="75000"/>
                  </a:schemeClr>
                </a:solidFill>
              </a:defRPr>
            </a:lvl1pPr>
          </a:lstStyle>
          <a:p>
            <a:pPr/>
            <a:endParaRPr lang="zh-CN"/>
          </a:p>
        </p:txBody>
      </p:sp>
      <p:sp>
        <p:nvSpPr>
          <p:cNvPr id="6" name="灯片编号占位符 5"/>
          <p:cNvSpPr>
            <a:spLocks noGrp="true"/>
          </p:cNvSpPr>
          <p:nvPr>
            <p:ph type="sldNum" idx="4"/>
          </p:nvPr>
        </p:nvSpPr>
        <p:spPr>
          <a:xfrm>
            <a:off x="8610600" y="6356350"/>
            <a:ext cx="2743200" cy="365125"/>
          </a:xfrm>
          <a:prstGeom prst="rect"/>
        </p:spPr>
        <p:txBody>
          <a:bodyPr vert="horz" lIns="91440" tIns="45720" rIns="91440" bIns="45720" anchor="ctr"/>
          <a:lstStyle>
            <a:lvl1pPr lvl="0" algn="r">
              <a:defRPr sz="1200">
                <a:solidFill>
                  <a:schemeClr val="tx1">
                    <a:tint val="75000"/>
                  </a:schemeClr>
                </a:solidFill>
              </a:defRPr>
            </a:lvl1pPr>
          </a:lstStyle>
          <a:p>
            <a:pPr/>
            <a:fld id="{DD09DED9-3562-4003-9ED4-F9F7C2DA97F0}" type="slidenum">
              <a:rPr lang="zh-CN"/>
              <a:t>‹#›</a:t>
            </a:fld>
            <a:endParaRPr lang="zh-CN"/>
          </a:p>
        </p:txBody>
      </p:sp>
    </p:spTree>
  </p:cSld>
  <p:clrMap bg1="lt1" tx1="dk1" bg2="lt2" tx2="dk2" accent1="accent1" accent2="accent2" accent3="accent3" accent4="accent4" accent5="accent5" accent6="accent6" hlink="hlink" folHlink="folHlink"/>
  <p:sldLayoutIdLst>
    <p:sldLayoutId id="2147483649" r:id="rId0"/>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lvl="0" algn="l" defTabSz="914400">
        <a:lnSpc>
          <a:spcPct val="130000"/>
        </a:lnSpc>
        <a:spcBef>
          <a:spcPct val="1"/>
        </a:spcBef>
        <a:buNone/>
        <a:defRPr sz="4400" kern="1200">
          <a:solidFill>
            <a:schemeClr val="tx1"/>
          </a:solidFill>
          <a:latin typeface="Arial"/>
          <a:ea typeface="Microsoft YaHei"/>
        </a:defRPr>
      </a:lvl1pPr>
    </p:titleStyle>
    <p:bodyStyle>
      <a:lvl1pPr marL="228600" lvl="0" indent="-228600" algn="l" defTabSz="914400">
        <a:lnSpc>
          <a:spcPct val="130000"/>
        </a:lnSpc>
        <a:spcBef>
          <a:spcPts val="1000"/>
        </a:spcBef>
        <a:buFont typeface="Arial" charset="0"/>
        <a:buChar char="•"/>
        <a:defRPr sz="2800" kern="1200">
          <a:solidFill>
            <a:schemeClr val="tx1"/>
          </a:solidFill>
          <a:latin typeface="Arial"/>
          <a:ea typeface="Microsoft YaHei"/>
        </a:defRPr>
      </a:lvl1pPr>
      <a:lvl2pPr marL="685800" lvl="1" indent="-228600" algn="l" defTabSz="914400">
        <a:lnSpc>
          <a:spcPct val="130000"/>
        </a:lnSpc>
        <a:spcBef>
          <a:spcPts val="500"/>
        </a:spcBef>
        <a:buFont typeface="Arial" charset="0"/>
        <a:buChar char="•"/>
        <a:defRPr sz="2400" kern="1200">
          <a:solidFill>
            <a:schemeClr val="tx1"/>
          </a:solidFill>
          <a:latin typeface="Arial"/>
          <a:ea typeface="Microsoft YaHei"/>
        </a:defRPr>
      </a:lvl2pPr>
      <a:lvl3pPr marL="1143000" lvl="2" indent="-228600" algn="l" defTabSz="914400">
        <a:lnSpc>
          <a:spcPct val="130000"/>
        </a:lnSpc>
        <a:spcBef>
          <a:spcPts val="500"/>
        </a:spcBef>
        <a:buFont typeface="Arial" charset="0"/>
        <a:buChar char="•"/>
        <a:defRPr sz="2000" kern="1200">
          <a:solidFill>
            <a:schemeClr val="tx1"/>
          </a:solidFill>
          <a:latin typeface="Arial"/>
          <a:ea typeface="Microsoft YaHei"/>
        </a:defRPr>
      </a:lvl3pPr>
      <a:lvl4pPr marL="1600200" lvl="3" indent="-228600" algn="l" defTabSz="914400">
        <a:lnSpc>
          <a:spcPct val="130000"/>
        </a:lnSpc>
        <a:spcBef>
          <a:spcPts val="500"/>
        </a:spcBef>
        <a:buFont typeface="Arial" charset="0"/>
        <a:buChar char="•"/>
        <a:defRPr sz="1800" kern="1200">
          <a:solidFill>
            <a:schemeClr val="tx1"/>
          </a:solidFill>
          <a:latin typeface="Arial"/>
          <a:ea typeface="Microsoft YaHei"/>
        </a:defRPr>
      </a:lvl4pPr>
      <a:lvl5pPr marL="2057400" lvl="4" indent="-228600" algn="l" defTabSz="914400">
        <a:lnSpc>
          <a:spcPct val="130000"/>
        </a:lnSpc>
        <a:spcBef>
          <a:spcPts val="500"/>
        </a:spcBef>
        <a:buFont typeface="Arial" charset="0"/>
        <a:buChar char="•"/>
        <a:defRPr sz="1800" kern="1200">
          <a:solidFill>
            <a:schemeClr val="tx1"/>
          </a:solidFill>
          <a:latin typeface="Arial"/>
          <a:ea typeface="Microsoft YaHei"/>
        </a:defRPr>
      </a:lvl5pPr>
      <a:lvl6pPr marL="2514600" lvl="5" indent="-228600" algn="l" defTabSz="914400">
        <a:lnSpc>
          <a:spcPct val="130000"/>
        </a:lnSpc>
        <a:spcBef>
          <a:spcPts val="500"/>
        </a:spcBef>
        <a:buFont typeface="Arial" charset="0"/>
        <a:buChar char="•"/>
        <a:defRPr sz="1800" kern="1200">
          <a:solidFill>
            <a:schemeClr val="tx1"/>
          </a:solidFill>
          <a:latin typeface="Arial"/>
          <a:ea typeface="Microsoft YaHei"/>
        </a:defRPr>
      </a:lvl6pPr>
      <a:lvl7pPr marL="2971800" lvl="6" indent="-228600" algn="l" defTabSz="914400">
        <a:lnSpc>
          <a:spcPct val="130000"/>
        </a:lnSpc>
        <a:spcBef>
          <a:spcPts val="500"/>
        </a:spcBef>
        <a:buFont typeface="Arial" charset="0"/>
        <a:buChar char="•"/>
        <a:defRPr sz="1800" kern="1200">
          <a:solidFill>
            <a:schemeClr val="tx1"/>
          </a:solidFill>
          <a:latin typeface="Arial"/>
          <a:ea typeface="Microsoft YaHei"/>
        </a:defRPr>
      </a:lvl7pPr>
      <a:lvl8pPr marL="3429000" lvl="7" indent="-228600" algn="l" defTabSz="914400">
        <a:lnSpc>
          <a:spcPct val="130000"/>
        </a:lnSpc>
        <a:spcBef>
          <a:spcPts val="500"/>
        </a:spcBef>
        <a:buFont typeface="Arial" charset="0"/>
        <a:buChar char="•"/>
        <a:defRPr sz="1800" kern="1200">
          <a:solidFill>
            <a:schemeClr val="tx1"/>
          </a:solidFill>
          <a:latin typeface="Arial"/>
          <a:ea typeface="Microsoft YaHei"/>
        </a:defRPr>
      </a:lvl8pPr>
      <a:lvl9pPr marL="3886200" lvl="8" indent="-228600" algn="l" defTabSz="914400">
        <a:lnSpc>
          <a:spcPct val="130000"/>
        </a:lnSpc>
        <a:spcBef>
          <a:spcPts val="500"/>
        </a:spcBef>
        <a:buFont typeface="Arial" charset="0"/>
        <a:buChar char="•"/>
        <a:defRPr sz="1800" kern="1200">
          <a:solidFill>
            <a:schemeClr val="tx1"/>
          </a:solidFill>
          <a:latin typeface="Arial"/>
          <a:ea typeface="Microsoft YaHei"/>
        </a:defRPr>
      </a:lvl9pPr>
    </p:bodyStyle>
    <p:otherStyle>
      <a:lvl1pPr marL="0" lvl="0" algn="l" defTabSz="914400">
        <a:lnSpc>
          <a:spcPct val="130000"/>
        </a:lnSpc>
        <a:defRPr sz="1800" kern="1200">
          <a:solidFill>
            <a:schemeClr val="tx1"/>
          </a:solidFill>
          <a:latin typeface="Arial"/>
          <a:ea typeface="Microsoft YaHei"/>
        </a:defRPr>
      </a:lvl1pPr>
      <a:lvl2pPr marL="457200" lvl="1" algn="l" defTabSz="914400">
        <a:lnSpc>
          <a:spcPct val="130000"/>
        </a:lnSpc>
        <a:defRPr sz="1800" kern="1200">
          <a:solidFill>
            <a:schemeClr val="tx1"/>
          </a:solidFill>
          <a:latin typeface="Arial"/>
          <a:ea typeface="Microsoft YaHei"/>
        </a:defRPr>
      </a:lvl2pPr>
      <a:lvl3pPr marL="914400" lvl="2" algn="l" defTabSz="914400">
        <a:lnSpc>
          <a:spcPct val="130000"/>
        </a:lnSpc>
        <a:defRPr sz="1800" kern="1200">
          <a:solidFill>
            <a:schemeClr val="tx1"/>
          </a:solidFill>
          <a:latin typeface="Arial"/>
          <a:ea typeface="Microsoft YaHei"/>
        </a:defRPr>
      </a:lvl3pPr>
      <a:lvl4pPr marL="1371600" lvl="3" algn="l" defTabSz="914400">
        <a:lnSpc>
          <a:spcPct val="130000"/>
        </a:lnSpc>
        <a:defRPr sz="1800" kern="1200">
          <a:solidFill>
            <a:schemeClr val="tx1"/>
          </a:solidFill>
          <a:latin typeface="Arial"/>
          <a:ea typeface="Microsoft YaHei"/>
        </a:defRPr>
      </a:lvl4pPr>
      <a:lvl5pPr marL="1828800" lvl="4" algn="l" defTabSz="914400">
        <a:lnSpc>
          <a:spcPct val="130000"/>
        </a:lnSpc>
        <a:defRPr sz="1800" kern="1200">
          <a:solidFill>
            <a:schemeClr val="tx1"/>
          </a:solidFill>
          <a:latin typeface="Arial"/>
          <a:ea typeface="Microsoft YaHei"/>
        </a:defRPr>
      </a:lvl5pPr>
      <a:lvl6pPr marL="2286000" lvl="5" algn="l" defTabSz="914400">
        <a:lnSpc>
          <a:spcPct val="130000"/>
        </a:lnSpc>
        <a:defRPr sz="1800" kern="1200">
          <a:solidFill>
            <a:schemeClr val="tx1"/>
          </a:solidFill>
          <a:latin typeface="Arial"/>
          <a:ea typeface="Microsoft YaHei"/>
        </a:defRPr>
      </a:lvl6pPr>
      <a:lvl7pPr marL="2743200" lvl="6" algn="l" defTabSz="914400">
        <a:lnSpc>
          <a:spcPct val="130000"/>
        </a:lnSpc>
        <a:defRPr sz="1800" kern="1200">
          <a:solidFill>
            <a:schemeClr val="tx1"/>
          </a:solidFill>
          <a:latin typeface="Arial"/>
          <a:ea typeface="Microsoft YaHei"/>
        </a:defRPr>
      </a:lvl7pPr>
      <a:lvl8pPr marL="3200400" lvl="7" algn="l" defTabSz="914400">
        <a:lnSpc>
          <a:spcPct val="130000"/>
        </a:lnSpc>
        <a:defRPr sz="1800" kern="1200">
          <a:solidFill>
            <a:schemeClr val="tx1"/>
          </a:solidFill>
          <a:latin typeface="Arial"/>
          <a:ea typeface="Microsoft YaHei"/>
        </a:defRPr>
      </a:lvl8pPr>
      <a:lvl9pPr marL="3657600" lvl="8" algn="l" defTabSz="914400">
        <a:lnSpc>
          <a:spcPct val="130000"/>
        </a:lnSpc>
        <a:defRPr sz="1800" kern="1200">
          <a:solidFill>
            <a:schemeClr val="tx1"/>
          </a:solidFill>
          <a:latin typeface="Arial"/>
          <a:ea typeface="Microsoft YaHei"/>
        </a:defRPr>
      </a:lvl9pPr>
    </p:otherStyle>
  </p:txStyles>
</p:sldMaster>
</file>

<file path=ppt/slideMasters/slideMaster2.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7"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2" r:id="rId0"/>
  </p:sldLayoutIdLst>
  <p:hf sldNum="false" hdr="false" ftr="false" dt="false"/>
  <p:txStyles>
    <p:titleStyle>
      <a:lvl1pPr algn="ctr" defTabSz="914400" rtl="false" eaLnBrk="true" latinLnBrk="false" hangingPunct="true">
        <a:spcBef>
          <a:spcPct val="1"/>
        </a:spcBef>
        <a:buNone/>
        <a:defRPr sz="4400" kern="1200">
          <a:solidFill>
            <a:schemeClr val="tx1"/>
          </a:solidFill>
          <a:latin typeface="+mj-lt"/>
          <a:ea typeface="+mj-ea"/>
          <a:cs typeface="+mj-cs"/>
        </a:defRPr>
      </a:lvl1pPr>
    </p:titleStyle>
    <p:bodyStyle>
      <a:lvl1pPr marL="342900" indent="-342900" algn="l" defTabSz="914400" rtl="false" eaLnBrk="true" latinLnBrk="false" hangingPunct="true">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false" eaLnBrk="true" latinLnBrk="false" hangingPunct="true">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false" eaLnBrk="true" latinLnBrk="false" hangingPunct="true">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false" eaLnBrk="true" latinLnBrk="false" hangingPunct="true">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false" eaLnBrk="true" latinLnBrk="false" hangingPunct="true">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false" eaLnBrk="true" latinLnBrk="false" hangingPunct="true">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false" eaLnBrk="true" latinLnBrk="false" hangingPunct="true">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false" eaLnBrk="true" latinLnBrk="false" hangingPunct="true">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false" eaLnBrk="true" latinLnBrk="false" hangingPunct="true">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false" eaLnBrk="true" latinLnBrk="false" hangingPunct="true">
        <a:defRPr sz="1800" kern="1200">
          <a:solidFill>
            <a:schemeClr val="tx1"/>
          </a:solidFill>
          <a:latin typeface="+mn-lt"/>
          <a:ea typeface="+mn-ea"/>
          <a:cs typeface="+mn-cs"/>
        </a:defRPr>
      </a:lvl1pPr>
      <a:lvl2pPr marL="457200" algn="l" defTabSz="914400" rtl="false" eaLnBrk="true" latinLnBrk="false" hangingPunct="true">
        <a:defRPr sz="1800" kern="1200">
          <a:solidFill>
            <a:schemeClr val="tx1"/>
          </a:solidFill>
          <a:latin typeface="+mn-lt"/>
          <a:ea typeface="+mn-ea"/>
          <a:cs typeface="+mn-cs"/>
        </a:defRPr>
      </a:lvl2pPr>
      <a:lvl3pPr marL="914400" algn="l" defTabSz="914400" rtl="false" eaLnBrk="true" latinLnBrk="false" hangingPunct="true">
        <a:defRPr sz="1800" kern="1200">
          <a:solidFill>
            <a:schemeClr val="tx1"/>
          </a:solidFill>
          <a:latin typeface="+mn-lt"/>
          <a:ea typeface="+mn-ea"/>
          <a:cs typeface="+mn-cs"/>
        </a:defRPr>
      </a:lvl3pPr>
      <a:lvl4pPr marL="1371600" algn="l" defTabSz="914400" rtl="false" eaLnBrk="true" latinLnBrk="false" hangingPunct="true">
        <a:defRPr sz="1800" kern="1200">
          <a:solidFill>
            <a:schemeClr val="tx1"/>
          </a:solidFill>
          <a:latin typeface="+mn-lt"/>
          <a:ea typeface="+mn-ea"/>
          <a:cs typeface="+mn-cs"/>
        </a:defRPr>
      </a:lvl4pPr>
      <a:lvl5pPr marL="1828800" algn="l" defTabSz="914400" rtl="false" eaLnBrk="true" latinLnBrk="false" hangingPunct="true">
        <a:defRPr sz="1800" kern="1200">
          <a:solidFill>
            <a:schemeClr val="tx1"/>
          </a:solidFill>
          <a:latin typeface="+mn-lt"/>
          <a:ea typeface="+mn-ea"/>
          <a:cs typeface="+mn-cs"/>
        </a:defRPr>
      </a:lvl5pPr>
      <a:lvl6pPr marL="2286000" algn="l" defTabSz="914400" rtl="false" eaLnBrk="true" latinLnBrk="false" hangingPunct="true">
        <a:defRPr sz="1800" kern="1200">
          <a:solidFill>
            <a:schemeClr val="tx1"/>
          </a:solidFill>
          <a:latin typeface="+mn-lt"/>
          <a:ea typeface="+mn-ea"/>
          <a:cs typeface="+mn-cs"/>
        </a:defRPr>
      </a:lvl6pPr>
      <a:lvl7pPr marL="2743200" algn="l" defTabSz="914400" rtl="false" eaLnBrk="true" latinLnBrk="false" hangingPunct="true">
        <a:defRPr sz="1800" kern="1200">
          <a:solidFill>
            <a:schemeClr val="tx1"/>
          </a:solidFill>
          <a:latin typeface="+mn-lt"/>
          <a:ea typeface="+mn-ea"/>
          <a:cs typeface="+mn-cs"/>
        </a:defRPr>
      </a:lvl7pPr>
      <a:lvl8pPr marL="3200400" algn="l" defTabSz="914400" rtl="false" eaLnBrk="true" latinLnBrk="false" hangingPunct="true">
        <a:defRPr sz="1800" kern="1200">
          <a:solidFill>
            <a:schemeClr val="tx1"/>
          </a:solidFill>
          <a:latin typeface="+mn-lt"/>
          <a:ea typeface="+mn-ea"/>
          <a:cs typeface="+mn-cs"/>
        </a:defRPr>
      </a:lvl8pPr>
      <a:lvl9pPr marL="3657600" algn="l" defTabSz="914400" rtl="false" eaLnBrk="true" latinLnBrk="false" hangingPunct="true">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5" Type="http://schemas.openxmlformats.org/officeDocument/2006/relationships/image" Target="media/image10.png" /><Relationship Id="rId4" Type="http://schemas.openxmlformats.org/officeDocument/2006/relationships/image" Target="media/image9.svg" /><Relationship Id="rId3" Type="http://schemas.openxmlformats.org/officeDocument/2006/relationships/image" Target="media/image8.png" /><Relationship Id="rId2" Type="http://schemas.openxmlformats.org/officeDocument/2006/relationships/image" Target="media/image7.jpg" /><Relationship Id="rId0" Type="http://schemas.openxmlformats.org/officeDocument/2006/relationships/slideLayout" Target="../slideLayouts/slideLayout7.xml" /><Relationship Id="rId1" Type="http://schemas.openxmlformats.org/officeDocument/2006/relationships/notesSlide" Target="../notesSlides/notesSlide10.xml" /></Relationships>
</file>

<file path=ppt/slides/_rels/slide2.xml.rels><?xml version="1.0" encoding="UTF-8" standalone="yes"?><Relationships xmlns="http://schemas.openxmlformats.org/package/2006/relationships"><Relationship Id="rId0" Type="http://schemas.openxmlformats.org/officeDocument/2006/relationships/slideLayout" Target="../slideLayouts/slideLayout7.xml" /></Relationships>
</file>

<file path=ppt/slides/_rels/slide3.xml.rels><?xml version="1.0" encoding="UTF-8" standalone="yes"?><Relationships xmlns="http://schemas.openxmlformats.org/package/2006/relationships"><Relationship Id="rId0" Type="http://schemas.openxmlformats.org/officeDocument/2006/relationships/slideLayout" Target="../slideLayouts/slideLayout7.xml" /></Relationships>
</file>

<file path=ppt/slides/_rels/slide4.xml.rels><?xml version="1.0" encoding="UTF-8" standalone="yes"?><Relationships xmlns="http://schemas.openxmlformats.org/package/2006/relationships"><Relationship Id="rId1" Type="http://schemas.openxmlformats.org/officeDocument/2006/relationships/image" Target="media/image37.png" /><Relationship Id="rId0" Type="http://schemas.openxmlformats.org/officeDocument/2006/relationships/slideLayout" Target="../slideLayouts/slideLayout7.xml" /></Relationships>
</file>

<file path=ppt/slides/_rels/slide5.xml.rels><?xml version="1.0" encoding="UTF-8" standalone="yes"?><Relationships xmlns="http://schemas.openxmlformats.org/package/2006/relationships"><Relationship Id="rId1" Type="http://schemas.openxmlformats.org/officeDocument/2006/relationships/image" Target="media/image44.png" /><Relationship Id="rId0" Type="http://schemas.openxmlformats.org/officeDocument/2006/relationships/slideLayout" Target="../slideLayouts/slideLayout7.xml" /></Relationships>
</file>

<file path=ppt/slides/_rels/slide6.xml.rels><?xml version="1.0" encoding="UTF-8" standalone="yes"?><Relationships xmlns="http://schemas.openxmlformats.org/package/2006/relationships"><Relationship Id="rId1" Type="http://schemas.openxmlformats.org/officeDocument/2006/relationships/image" Target="media/image45.png" /><Relationship Id="rId0" Type="http://schemas.openxmlformats.org/officeDocument/2006/relationships/slideLayout" Target="../slideLayouts/slideLayout7.xml" /></Relationships>
</file>

<file path=ppt/slides/_rels/slide7.xml.rels><?xml version="1.0" encoding="UTF-8" standalone="yes"?><Relationships xmlns="http://schemas.openxmlformats.org/package/2006/relationships"><Relationship Id="rId1" Type="http://schemas.openxmlformats.org/officeDocument/2006/relationships/image" Target="media/image48.png" /><Relationship Id="rId0" Type="http://schemas.openxmlformats.org/officeDocument/2006/relationships/slideLayout" Target="../slideLayouts/slideLayout7.xml" /></Relationships>
</file>

<file path=ppt/slides/_rels/slide8.xml.rels><?xml version="1.0" encoding="UTF-8" standalone="yes"?><Relationships xmlns="http://schemas.openxmlformats.org/package/2006/relationships"><Relationship Id="rId1" Type="http://schemas.openxmlformats.org/officeDocument/2006/relationships/notesSlide" Target="../notesSlides/notesSlide61.xml" /><Relationship Id="rId0" Type="http://schemas.openxmlformats.org/officeDocument/2006/relationships/slideLayout" Target="../slideLayouts/slideLayout7.xml" /></Relationships>
</file>

<file path=ppt/slides/_rels/slide9.xml.rels><?xml version="1.0" encoding="UTF-8" standalone="yes"?><Relationships xmlns="http://schemas.openxmlformats.org/package/2006/relationships"><Relationship Id="rId1" Type="http://schemas.openxmlformats.org/officeDocument/2006/relationships/notesSlide" Target="../notesSlides/notesSlide1.xml" /><Relationship Id="rId0" Type="http://schemas.openxmlformats.org/officeDocument/2006/relationships/slideLayout" Target="../slideLayouts/slideLayout7.xml" /></Relationships>
</file>

<file path=ppt/slides/_rels/slide10.xml.rels><?xml version="1.0" encoding="UTF-8" standalone="yes"?><Relationships xmlns="http://schemas.openxmlformats.org/package/2006/relationships"><Relationship Id="rId0" Type="http://schemas.openxmlformats.org/officeDocument/2006/relationships/slideLayout" Target="../slideLayouts/slideLayout7.xml" /></Relationships>
</file>

<file path=ppt/slides/_rels/slide11.xml.rels><?xml version="1.0" encoding="UTF-8" standalone="yes"?><Relationships xmlns="http://schemas.openxmlformats.org/package/2006/relationships"><Relationship Id="rId1" Type="http://schemas.openxmlformats.org/officeDocument/2006/relationships/notesSlide" Target="../notesSlides/notesSlide2.xml" /><Relationship Id="rId0" Type="http://schemas.openxmlformats.org/officeDocument/2006/relationships/slideLayout" Target="../slideLayouts/slideLayout7.xml" /></Relationships>
</file>

<file path=ppt/slides/_rels/slide12.xml.rels><?xml version="1.0" encoding="UTF-8" standalone="yes"?><Relationships xmlns="http://schemas.openxmlformats.org/package/2006/relationships"><Relationship Id="rId1" Type="http://schemas.openxmlformats.org/officeDocument/2006/relationships/notesSlide" Target="../notesSlides/notesSlide3.xml" /><Relationship Id="rId0" Type="http://schemas.openxmlformats.org/officeDocument/2006/relationships/slideLayout" Target="../slideLayouts/slideLayout7.xml" /></Relationships>
</file>

<file path=ppt/slides/_rels/slide13.xml.rels><?xml version="1.0" encoding="UTF-8" standalone="yes"?><Relationships xmlns="http://schemas.openxmlformats.org/package/2006/relationships"><Relationship Id="rId2" Type="http://schemas.openxmlformats.org/officeDocument/2006/relationships/image" Target="media/image2.png" /><Relationship Id="rId0" Type="http://schemas.openxmlformats.org/officeDocument/2006/relationships/slideLayout" Target="../slideLayouts/slideLayout7.xml" /><Relationship Id="rId1" Type="http://schemas.openxmlformats.org/officeDocument/2006/relationships/notesSlide" Target="../notesSlides/notesSlide4.xml" /></Relationships>
</file>

<file path=ppt/slides/_rels/slide14.xml.rels><?xml version="1.0" encoding="UTF-8" standalone="yes"?><Relationships xmlns="http://schemas.openxmlformats.org/package/2006/relationships"><Relationship Id="rId2" Type="http://schemas.openxmlformats.org/officeDocument/2006/relationships/image" Target="media/image3.png" /><Relationship Id="rId0" Type="http://schemas.openxmlformats.org/officeDocument/2006/relationships/slideLayout" Target="../slideLayouts/slideLayout7.xml" /><Relationship Id="rId1" Type="http://schemas.openxmlformats.org/officeDocument/2006/relationships/notesSlide" Target="../notesSlides/notesSlide5.xml" /></Relationships>
</file>

<file path=ppt/slides/_rels/slide15.xml.rels><?xml version="1.0" encoding="UTF-8" standalone="yes"?><Relationships xmlns="http://schemas.openxmlformats.org/package/2006/relationships"><Relationship Id="rId2" Type="http://schemas.openxmlformats.org/officeDocument/2006/relationships/image" Target="media/image4.png" /><Relationship Id="rId0" Type="http://schemas.openxmlformats.org/officeDocument/2006/relationships/slideLayout" Target="../slideLayouts/slideLayout7.xml" /><Relationship Id="rId1" Type="http://schemas.openxmlformats.org/officeDocument/2006/relationships/notesSlide" Target="../notesSlides/notesSlide6.xml" /></Relationships>
</file>

<file path=ppt/slides/_rels/slide16.xml.rels><?xml version="1.0" encoding="UTF-8" standalone="yes"?><Relationships xmlns="http://schemas.openxmlformats.org/package/2006/relationships"><Relationship Id="rId2" Type="http://schemas.openxmlformats.org/officeDocument/2006/relationships/image" Target="media/image5.png" /><Relationship Id="rId0" Type="http://schemas.openxmlformats.org/officeDocument/2006/relationships/slideLayout" Target="../slideLayouts/slideLayout7.xml" /><Relationship Id="rId1" Type="http://schemas.openxmlformats.org/officeDocument/2006/relationships/notesSlide" Target="../notesSlides/notesSlide7.xml" /></Relationships>
</file>

<file path=ppt/slides/_rels/slide17.xml.rels><?xml version="1.0" encoding="UTF-8" standalone="yes"?><Relationships xmlns="http://schemas.openxmlformats.org/package/2006/relationships"><Relationship Id="rId2" Type="http://schemas.openxmlformats.org/officeDocument/2006/relationships/image" Target="media/image6.png" /><Relationship Id="rId0" Type="http://schemas.openxmlformats.org/officeDocument/2006/relationships/slideLayout" Target="../slideLayouts/slideLayout7.xml" /><Relationship Id="rId1" Type="http://schemas.openxmlformats.org/officeDocument/2006/relationships/notesSlide" Target="../notesSlides/notesSlide8.xml" /></Relationships>
</file>

<file path=ppt/slides/_rels/slide18.xml.rels><?xml version="1.0" encoding="UTF-8" standalone="yes"?><Relationships xmlns="http://schemas.openxmlformats.org/package/2006/relationships"><Relationship Id="rId1" Type="http://schemas.openxmlformats.org/officeDocument/2006/relationships/notesSlide" Target="../notesSlides/notesSlide9.xml" /><Relationship Id="rId0" Type="http://schemas.openxmlformats.org/officeDocument/2006/relationships/slideLayout" Target="../slideLayouts/slideLayout7.xml" /></Relationships>
</file>

<file path=ppt/slides/_rels/slide19.xml.rels><?xml version="1.0" encoding="UTF-8" standalone="yes"?><Relationships xmlns="http://schemas.openxmlformats.org/package/2006/relationships"><Relationship Id="rId0" Type="http://schemas.openxmlformats.org/officeDocument/2006/relationships/slideLayout" Target="../slideLayouts/slideLayout7.xml" /></Relationships>
</file>

<file path=ppt/slides/_rels/slide20.xml.rels><?xml version="1.0" encoding="UTF-8" standalone="yes"?><Relationships xmlns="http://schemas.openxmlformats.org/package/2006/relationships"><Relationship Id="rId0" Type="http://schemas.openxmlformats.org/officeDocument/2006/relationships/slideLayout" Target="../slideLayouts/slideLayout7.xml" /><Relationship Id="rId2" Type="http://schemas.openxmlformats.org/officeDocument/2006/relationships/image" Target="media/image11.png" /><Relationship Id="rId1" Type="http://schemas.openxmlformats.org/officeDocument/2006/relationships/notesSlide" Target="../notesSlides/notesSlide11.xml" /></Relationships>
</file>

<file path=ppt/slides/_rels/slide21.xml.rels><?xml version="1.0" encoding="UTF-8" standalone="yes"?><Relationships xmlns="http://schemas.openxmlformats.org/package/2006/relationships"><Relationship Id="rId2" Type="http://schemas.openxmlformats.org/officeDocument/2006/relationships/image" Target="media/image12.png" /><Relationship Id="rId0" Type="http://schemas.openxmlformats.org/officeDocument/2006/relationships/slideLayout" Target="../slideLayouts/slideLayout7.xml" /><Relationship Id="rId1" Type="http://schemas.openxmlformats.org/officeDocument/2006/relationships/notesSlide" Target="../notesSlides/notesSlide12.xml" /></Relationships>
</file>

<file path=ppt/slides/_rels/slide22.xml.rels><?xml version="1.0" encoding="UTF-8" standalone="yes"?><Relationships xmlns="http://schemas.openxmlformats.org/package/2006/relationships"><Relationship Id="rId2" Type="http://schemas.openxmlformats.org/officeDocument/2006/relationships/image" Target="media/image13.png" /><Relationship Id="rId0" Type="http://schemas.openxmlformats.org/officeDocument/2006/relationships/slideLayout" Target="../slideLayouts/slideLayout7.xml" /><Relationship Id="rId1" Type="http://schemas.openxmlformats.org/officeDocument/2006/relationships/notesSlide" Target="../notesSlides/notesSlide13.xml" /></Relationships>
</file>

<file path=ppt/slides/_rels/slide23.xml.rels><?xml version="1.0" encoding="UTF-8" standalone="yes"?><Relationships xmlns="http://schemas.openxmlformats.org/package/2006/relationships"><Relationship Id="rId2" Type="http://schemas.openxmlformats.org/officeDocument/2006/relationships/image" Target="media/image14.png" /><Relationship Id="rId0" Type="http://schemas.openxmlformats.org/officeDocument/2006/relationships/slideLayout" Target="../slideLayouts/slideLayout7.xml" /><Relationship Id="rId1" Type="http://schemas.openxmlformats.org/officeDocument/2006/relationships/notesSlide" Target="../notesSlides/notesSlide14.xml" /></Relationships>
</file>

<file path=ppt/slides/_rels/slide24.xml.rels><?xml version="1.0" encoding="UTF-8" standalone="yes"?><Relationships xmlns="http://schemas.openxmlformats.org/package/2006/relationships"><Relationship Id="rId2" Type="http://schemas.openxmlformats.org/officeDocument/2006/relationships/image" Target="media/image15.png" /><Relationship Id="rId0" Type="http://schemas.openxmlformats.org/officeDocument/2006/relationships/slideLayout" Target="../slideLayouts/slideLayout7.xml" /><Relationship Id="rId1" Type="http://schemas.openxmlformats.org/officeDocument/2006/relationships/notesSlide" Target="../notesSlides/notesSlide15.xml" /></Relationships>
</file>

<file path=ppt/slides/_rels/slide25.xml.rels><?xml version="1.0" encoding="UTF-8" standalone="yes"?><Relationships xmlns="http://schemas.openxmlformats.org/package/2006/relationships"><Relationship Id="rId2" Type="http://schemas.openxmlformats.org/officeDocument/2006/relationships/image" Target="media/image11.png" /><Relationship Id="rId0" Type="http://schemas.openxmlformats.org/officeDocument/2006/relationships/slideLayout" Target="../slideLayouts/slideLayout7.xml" /><Relationship Id="rId1" Type="http://schemas.openxmlformats.org/officeDocument/2006/relationships/notesSlide" Target="../notesSlides/notesSlide16.xml" /></Relationships>
</file>

<file path=ppt/slides/_rels/slide26.xml.rels><?xml version="1.0" encoding="UTF-8" standalone="yes"?><Relationships xmlns="http://schemas.openxmlformats.org/package/2006/relationships"><Relationship Id="rId2" Type="http://schemas.openxmlformats.org/officeDocument/2006/relationships/image" Target="media/image16.png" /><Relationship Id="rId0" Type="http://schemas.openxmlformats.org/officeDocument/2006/relationships/slideLayout" Target="../slideLayouts/slideLayout7.xml" /><Relationship Id="rId1" Type="http://schemas.openxmlformats.org/officeDocument/2006/relationships/notesSlide" Target="../notesSlides/notesSlide17.xml" /></Relationships>
</file>

<file path=ppt/slides/_rels/slide27.xml.rels><?xml version="1.0" encoding="UTF-8" standalone="yes"?><Relationships xmlns="http://schemas.openxmlformats.org/package/2006/relationships"><Relationship Id="rId2" Type="http://schemas.openxmlformats.org/officeDocument/2006/relationships/image" Target="media/image17.png" /><Relationship Id="rId0" Type="http://schemas.openxmlformats.org/officeDocument/2006/relationships/slideLayout" Target="../slideLayouts/slideLayout7.xml" /><Relationship Id="rId1" Type="http://schemas.openxmlformats.org/officeDocument/2006/relationships/notesSlide" Target="../notesSlides/notesSlide18.xml" /></Relationships>
</file>

<file path=ppt/slides/_rels/slide28.xml.rels><?xml version="1.0" encoding="UTF-8" standalone="yes"?><Relationships xmlns="http://schemas.openxmlformats.org/package/2006/relationships"><Relationship Id="rId0" Type="http://schemas.openxmlformats.org/officeDocument/2006/relationships/slideLayout" Target="../slideLayouts/slideLayout7.xml" /><Relationship Id="rId2" Type="http://schemas.openxmlformats.org/officeDocument/2006/relationships/image" Target="media/image18.png" /><Relationship Id="rId1" Type="http://schemas.openxmlformats.org/officeDocument/2006/relationships/notesSlide" Target="../notesSlides/notesSlide19.xml" /></Relationships>
</file>

<file path=ppt/slides/_rels/slide29.xml.rels><?xml version="1.0" encoding="UTF-8" standalone="yes"?><Relationships xmlns="http://schemas.openxmlformats.org/package/2006/relationships"><Relationship Id="rId2" Type="http://schemas.openxmlformats.org/officeDocument/2006/relationships/image" Target="media/image19.png" /><Relationship Id="rId0" Type="http://schemas.openxmlformats.org/officeDocument/2006/relationships/slideLayout" Target="../slideLayouts/slideLayout7.xml" /><Relationship Id="rId1" Type="http://schemas.openxmlformats.org/officeDocument/2006/relationships/notesSlide" Target="../notesSlides/notesSlide20.xml" /></Relationships>
</file>

<file path=ppt/slides/_rels/slide30.xml.rels><?xml version="1.0" encoding="UTF-8" standalone="yes"?><Relationships xmlns="http://schemas.openxmlformats.org/package/2006/relationships"><Relationship Id="rId2" Type="http://schemas.openxmlformats.org/officeDocument/2006/relationships/image" Target="media/image20.png" /><Relationship Id="rId0" Type="http://schemas.openxmlformats.org/officeDocument/2006/relationships/slideLayout" Target="../slideLayouts/slideLayout7.xml" /><Relationship Id="rId1" Type="http://schemas.openxmlformats.org/officeDocument/2006/relationships/notesSlide" Target="../notesSlides/notesSlide21.xml" /></Relationships>
</file>

<file path=ppt/slides/_rels/slide31.xml.rels><?xml version="1.0" encoding="UTF-8" standalone="yes"?><Relationships xmlns="http://schemas.openxmlformats.org/package/2006/relationships"><Relationship Id="rId2" Type="http://schemas.openxmlformats.org/officeDocument/2006/relationships/image" Target="media/image21.png" /><Relationship Id="rId0" Type="http://schemas.openxmlformats.org/officeDocument/2006/relationships/slideLayout" Target="../slideLayouts/slideLayout7.xml" /><Relationship Id="rId1" Type="http://schemas.openxmlformats.org/officeDocument/2006/relationships/notesSlide" Target="../notesSlides/notesSlide22.xml" /></Relationships>
</file>

<file path=ppt/slides/_rels/slide32.xml.rels><?xml version="1.0" encoding="UTF-8" standalone="yes"?><Relationships xmlns="http://schemas.openxmlformats.org/package/2006/relationships"><Relationship Id="rId2" Type="http://schemas.openxmlformats.org/officeDocument/2006/relationships/image" Target="media/image22.png" /><Relationship Id="rId0" Type="http://schemas.openxmlformats.org/officeDocument/2006/relationships/slideLayout" Target="../slideLayouts/slideLayout7.xml" /><Relationship Id="rId1" Type="http://schemas.openxmlformats.org/officeDocument/2006/relationships/notesSlide" Target="../notesSlides/notesSlide23.xml" /></Relationships>
</file>

<file path=ppt/slides/_rels/slide33.xml.rels><?xml version="1.0" encoding="UTF-8" standalone="yes"?><Relationships xmlns="http://schemas.openxmlformats.org/package/2006/relationships"><Relationship Id="rId2" Type="http://schemas.openxmlformats.org/officeDocument/2006/relationships/image" Target="media/image23.png" /><Relationship Id="rId0" Type="http://schemas.openxmlformats.org/officeDocument/2006/relationships/slideLayout" Target="../slideLayouts/slideLayout7.xml" /><Relationship Id="rId1" Type="http://schemas.openxmlformats.org/officeDocument/2006/relationships/notesSlide" Target="../notesSlides/notesSlide24.xml" /></Relationships>
</file>

<file path=ppt/slides/_rels/slide34.xml.rels><?xml version="1.0" encoding="UTF-8" standalone="yes"?><Relationships xmlns="http://schemas.openxmlformats.org/package/2006/relationships"><Relationship Id="rId2" Type="http://schemas.openxmlformats.org/officeDocument/2006/relationships/image" Target="media/image24.png" /><Relationship Id="rId0" Type="http://schemas.openxmlformats.org/officeDocument/2006/relationships/slideLayout" Target="../slideLayouts/slideLayout7.xml" /><Relationship Id="rId1" Type="http://schemas.openxmlformats.org/officeDocument/2006/relationships/notesSlide" Target="../notesSlides/notesSlide25.xml" /></Relationships>
</file>

<file path=ppt/slides/_rels/slide35.xml.rels><?xml version="1.0" encoding="UTF-8" standalone="yes"?><Relationships xmlns="http://schemas.openxmlformats.org/package/2006/relationships"><Relationship Id="rId2" Type="http://schemas.openxmlformats.org/officeDocument/2006/relationships/image" Target="media/image25.png" /><Relationship Id="rId0" Type="http://schemas.openxmlformats.org/officeDocument/2006/relationships/slideLayout" Target="../slideLayouts/slideLayout7.xml" /><Relationship Id="rId1" Type="http://schemas.openxmlformats.org/officeDocument/2006/relationships/notesSlide" Target="../notesSlides/notesSlide26.xml" /></Relationships>
</file>

<file path=ppt/slides/_rels/slide36.xml.rels><?xml version="1.0" encoding="UTF-8" standalone="yes"?><Relationships xmlns="http://schemas.openxmlformats.org/package/2006/relationships"><Relationship Id="rId0" Type="http://schemas.openxmlformats.org/officeDocument/2006/relationships/slideLayout" Target="../slideLayouts/slideLayout7.xml" /><Relationship Id="rId2" Type="http://schemas.openxmlformats.org/officeDocument/2006/relationships/image" Target="media/image26.png" /><Relationship Id="rId1" Type="http://schemas.openxmlformats.org/officeDocument/2006/relationships/notesSlide" Target="../notesSlides/notesSlide27.xml" /></Relationships>
</file>

<file path=ppt/slides/_rels/slide37.xml.rels><?xml version="1.0" encoding="UTF-8" standalone="yes"?><Relationships xmlns="http://schemas.openxmlformats.org/package/2006/relationships"><Relationship Id="rId2" Type="http://schemas.openxmlformats.org/officeDocument/2006/relationships/image" Target="media/image27.png" /><Relationship Id="rId0" Type="http://schemas.openxmlformats.org/officeDocument/2006/relationships/slideLayout" Target="../slideLayouts/slideLayout7.xml" /><Relationship Id="rId1" Type="http://schemas.openxmlformats.org/officeDocument/2006/relationships/notesSlide" Target="../notesSlides/notesSlide28.xml" /></Relationships>
</file>

<file path=ppt/slides/_rels/slide38.xml.rels><?xml version="1.0" encoding="UTF-8" standalone="yes"?><Relationships xmlns="http://schemas.openxmlformats.org/package/2006/relationships"><Relationship Id="rId2" Type="http://schemas.openxmlformats.org/officeDocument/2006/relationships/image" Target="media/image28.png" /><Relationship Id="rId0" Type="http://schemas.openxmlformats.org/officeDocument/2006/relationships/slideLayout" Target="../slideLayouts/slideLayout7.xml" /><Relationship Id="rId1" Type="http://schemas.openxmlformats.org/officeDocument/2006/relationships/notesSlide" Target="../notesSlides/notesSlide29.xml" /></Relationships>
</file>

<file path=ppt/slides/_rels/slide39.xml.rels><?xml version="1.0" encoding="UTF-8" standalone="yes"?><Relationships xmlns="http://schemas.openxmlformats.org/package/2006/relationships"><Relationship Id="rId1" Type="http://schemas.openxmlformats.org/officeDocument/2006/relationships/notesSlide" Target="../notesSlides/notesSlide30.xml" /><Relationship Id="rId0" Type="http://schemas.openxmlformats.org/officeDocument/2006/relationships/slideLayout" Target="../slideLayouts/slideLayout7.xml" /></Relationships>
</file>

<file path=ppt/slides/_rels/slide40.xml.rels><?xml version="1.0" encoding="UTF-8" standalone="yes"?><Relationships xmlns="http://schemas.openxmlformats.org/package/2006/relationships"><Relationship Id="rId1" Type="http://schemas.openxmlformats.org/officeDocument/2006/relationships/notesSlide" Target="../notesSlides/notesSlide31.xml" /><Relationship Id="rId0" Type="http://schemas.openxmlformats.org/officeDocument/2006/relationships/slideLayout" Target="../slideLayouts/slideLayout7.xml" /></Relationships>
</file>

<file path=ppt/slides/_rels/slide41.xml.rels><?xml version="1.0" encoding="UTF-8" standalone="yes"?><Relationships xmlns="http://schemas.openxmlformats.org/package/2006/relationships"><Relationship Id="rId3" Type="http://schemas.openxmlformats.org/officeDocument/2006/relationships/image" Target="media/image30.png" /><Relationship Id="rId2" Type="http://schemas.openxmlformats.org/officeDocument/2006/relationships/image" Target="media/image29.png" /><Relationship Id="rId0" Type="http://schemas.openxmlformats.org/officeDocument/2006/relationships/slideLayout" Target="../slideLayouts/slideLayout7.xml" /><Relationship Id="rId1" Type="http://schemas.openxmlformats.org/officeDocument/2006/relationships/notesSlide" Target="../notesSlides/notesSlide32.xml" /></Relationships>
</file>

<file path=ppt/slides/_rels/slide42.xml.rels><?xml version="1.0" encoding="UTF-8" standalone="yes"?><Relationships xmlns="http://schemas.openxmlformats.org/package/2006/relationships"><Relationship Id="rId0" Type="http://schemas.openxmlformats.org/officeDocument/2006/relationships/slideLayout" Target="../slideLayouts/slideLayout7.xml" /><Relationship Id="rId2" Type="http://schemas.openxmlformats.org/officeDocument/2006/relationships/image" Target="media/image31.png" /><Relationship Id="rId1" Type="http://schemas.openxmlformats.org/officeDocument/2006/relationships/notesSlide" Target="../notesSlides/notesSlide33.xml" /></Relationships>
</file>

<file path=ppt/slides/_rels/slide43.xml.rels><?xml version="1.0" encoding="UTF-8" standalone="yes"?><Relationships xmlns="http://schemas.openxmlformats.org/package/2006/relationships"><Relationship Id="rId2" Type="http://schemas.openxmlformats.org/officeDocument/2006/relationships/image" Target="media/image32.png" /><Relationship Id="rId0" Type="http://schemas.openxmlformats.org/officeDocument/2006/relationships/slideLayout" Target="../slideLayouts/slideLayout7.xml" /><Relationship Id="rId3" Type="http://schemas.openxmlformats.org/officeDocument/2006/relationships/image" Target="media/image33.png" /><Relationship Id="rId1" Type="http://schemas.openxmlformats.org/officeDocument/2006/relationships/notesSlide" Target="../notesSlides/notesSlide34.xml" /></Relationships>
</file>

<file path=ppt/slides/_rels/slide44.xml.rels><?xml version="1.0" encoding="UTF-8" standalone="yes"?><Relationships xmlns="http://schemas.openxmlformats.org/package/2006/relationships"><Relationship Id="rId2" Type="http://schemas.openxmlformats.org/officeDocument/2006/relationships/image" Target="media/image34.png" /><Relationship Id="rId0" Type="http://schemas.openxmlformats.org/officeDocument/2006/relationships/slideLayout" Target="../slideLayouts/slideLayout7.xml" /><Relationship Id="rId1" Type="http://schemas.openxmlformats.org/officeDocument/2006/relationships/notesSlide" Target="../notesSlides/notesSlide35.xml" /></Relationships>
</file>

<file path=ppt/slides/_rels/slide45.xml.rels><?xml version="1.0" encoding="UTF-8" standalone="yes"?><Relationships xmlns="http://schemas.openxmlformats.org/package/2006/relationships"><Relationship Id="rId1" Type="http://schemas.openxmlformats.org/officeDocument/2006/relationships/notesSlide" Target="../notesSlides/notesSlide36.xml" /><Relationship Id="rId0" Type="http://schemas.openxmlformats.org/officeDocument/2006/relationships/slideLayout" Target="../slideLayouts/slideLayout7.xml" /></Relationships>
</file>

<file path=ppt/slides/_rels/slide46.xml.rels><?xml version="1.0" encoding="UTF-8" standalone="yes"?><Relationships xmlns="http://schemas.openxmlformats.org/package/2006/relationships"><Relationship Id="rId1" Type="http://schemas.openxmlformats.org/officeDocument/2006/relationships/notesSlide" Target="../notesSlides/notesSlide37.xml" /><Relationship Id="rId0" Type="http://schemas.openxmlformats.org/officeDocument/2006/relationships/slideLayout" Target="../slideLayouts/slideLayout7.xml" /></Relationships>
</file>

<file path=ppt/slides/_rels/slide47.xml.rels><?xml version="1.0" encoding="UTF-8" standalone="yes"?><Relationships xmlns="http://schemas.openxmlformats.org/package/2006/relationships"><Relationship Id="rId2" Type="http://schemas.openxmlformats.org/officeDocument/2006/relationships/image" Target="media/image35.png" /><Relationship Id="rId0" Type="http://schemas.openxmlformats.org/officeDocument/2006/relationships/slideLayout" Target="../slideLayouts/slideLayout7.xml" /><Relationship Id="rId1" Type="http://schemas.openxmlformats.org/officeDocument/2006/relationships/notesSlide" Target="../notesSlides/notesSlide38.xml" /></Relationships>
</file>

<file path=ppt/slides/_rels/slide48.xml.rels><?xml version="1.0" encoding="UTF-8" standalone="yes"?><Relationships xmlns="http://schemas.openxmlformats.org/package/2006/relationships"><Relationship Id="rId2" Type="http://schemas.openxmlformats.org/officeDocument/2006/relationships/image" Target="media/image36.png" /><Relationship Id="rId0" Type="http://schemas.openxmlformats.org/officeDocument/2006/relationships/slideLayout" Target="../slideLayouts/slideLayout7.xml" /><Relationship Id="rId1" Type="http://schemas.openxmlformats.org/officeDocument/2006/relationships/notesSlide" Target="../notesSlides/notesSlide39.xml" /></Relationships>
</file>

<file path=ppt/slides/_rels/slide49.xml.rels><?xml version="1.0" encoding="UTF-8" standalone="yes"?><Relationships xmlns="http://schemas.openxmlformats.org/package/2006/relationships"><Relationship Id="rId2" Type="http://schemas.openxmlformats.org/officeDocument/2006/relationships/image" Target="media/image38.png" /><Relationship Id="rId0" Type="http://schemas.openxmlformats.org/officeDocument/2006/relationships/slideLayout" Target="../slideLayouts/slideLayout7.xml" /><Relationship Id="rId1" Type="http://schemas.openxmlformats.org/officeDocument/2006/relationships/notesSlide" Target="../notesSlides/notesSlide40.xml" /></Relationships>
</file>

<file path=ppt/slides/_rels/slide50.xml.rels><?xml version="1.0" encoding="UTF-8" standalone="yes"?><Relationships xmlns="http://schemas.openxmlformats.org/package/2006/relationships"><Relationship Id="rId2" Type="http://schemas.openxmlformats.org/officeDocument/2006/relationships/image" Target="media/image39.png" /><Relationship Id="rId0" Type="http://schemas.openxmlformats.org/officeDocument/2006/relationships/slideLayout" Target="../slideLayouts/slideLayout7.xml" /><Relationship Id="rId1" Type="http://schemas.openxmlformats.org/officeDocument/2006/relationships/notesSlide" Target="../notesSlides/notesSlide41.xml" /></Relationships>
</file>

<file path=ppt/slides/_rels/slide51.xml.rels><?xml version="1.0" encoding="UTF-8" standalone="yes"?><Relationships xmlns="http://schemas.openxmlformats.org/package/2006/relationships"><Relationship Id="rId2" Type="http://schemas.openxmlformats.org/officeDocument/2006/relationships/image" Target="media/image40.png" /><Relationship Id="rId0" Type="http://schemas.openxmlformats.org/officeDocument/2006/relationships/slideLayout" Target="../slideLayouts/slideLayout7.xml" /><Relationship Id="rId1" Type="http://schemas.openxmlformats.org/officeDocument/2006/relationships/notesSlide" Target="../notesSlides/notesSlide42.xml" /></Relationships>
</file>

<file path=ppt/slides/_rels/slide52.xml.rels><?xml version="1.0" encoding="UTF-8" standalone="yes"?><Relationships xmlns="http://schemas.openxmlformats.org/package/2006/relationships"><Relationship Id="rId2" Type="http://schemas.openxmlformats.org/officeDocument/2006/relationships/image" Target="media/image41.png" /><Relationship Id="rId0" Type="http://schemas.openxmlformats.org/officeDocument/2006/relationships/slideLayout" Target="../slideLayouts/slideLayout7.xml" /><Relationship Id="rId1" Type="http://schemas.openxmlformats.org/officeDocument/2006/relationships/notesSlide" Target="../notesSlides/notesSlide43.xml" /></Relationships>
</file>

<file path=ppt/slides/_rels/slide53.xml.rels><?xml version="1.0" encoding="UTF-8" standalone="yes"?><Relationships xmlns="http://schemas.openxmlformats.org/package/2006/relationships"><Relationship Id="rId2" Type="http://schemas.openxmlformats.org/officeDocument/2006/relationships/image" Target="media/image42.png" /><Relationship Id="rId0" Type="http://schemas.openxmlformats.org/officeDocument/2006/relationships/slideLayout" Target="../slideLayouts/slideLayout7.xml" /><Relationship Id="rId1" Type="http://schemas.openxmlformats.org/officeDocument/2006/relationships/notesSlide" Target="../notesSlides/notesSlide44.xml" /></Relationships>
</file>

<file path=ppt/slides/_rels/slide54.xml.rels><?xml version="1.0" encoding="UTF-8" standalone="yes"?><Relationships xmlns="http://schemas.openxmlformats.org/package/2006/relationships"><Relationship Id="rId1" Type="http://schemas.openxmlformats.org/officeDocument/2006/relationships/notesSlide" Target="../notesSlides/notesSlide45.xml" /><Relationship Id="rId0" Type="http://schemas.openxmlformats.org/officeDocument/2006/relationships/slideLayout" Target="../slideLayouts/slideLayout7.xml" /></Relationships>
</file>

<file path=ppt/slides/_rels/slide55.xml.rels><?xml version="1.0" encoding="UTF-8" standalone="yes"?><Relationships xmlns="http://schemas.openxmlformats.org/package/2006/relationships"><Relationship Id="rId2" Type="http://schemas.openxmlformats.org/officeDocument/2006/relationships/image" Target="media/image43.png" /><Relationship Id="rId0" Type="http://schemas.openxmlformats.org/officeDocument/2006/relationships/slideLayout" Target="../slideLayouts/slideLayout7.xml" /><Relationship Id="rId1" Type="http://schemas.openxmlformats.org/officeDocument/2006/relationships/notesSlide" Target="../notesSlides/notesSlide46.xml" /></Relationships>
</file>

<file path=ppt/slides/_rels/slide56.xml.rels><?xml version="1.0" encoding="UTF-8" standalone="yes"?><Relationships xmlns="http://schemas.openxmlformats.org/package/2006/relationships"><Relationship Id="rId2" Type="http://schemas.openxmlformats.org/officeDocument/2006/relationships/image" Target="media/image37.png" /><Relationship Id="rId0" Type="http://schemas.openxmlformats.org/officeDocument/2006/relationships/slideLayout" Target="../slideLayouts/slideLayout7.xml" /><Relationship Id="rId1" Type="http://schemas.openxmlformats.org/officeDocument/2006/relationships/notesSlide" Target="../notesSlides/notesSlide47.xml" /></Relationships>
</file>

<file path=ppt/slides/_rels/slide57.xml.rels><?xml version="1.0" encoding="UTF-8" standalone="yes"?><Relationships xmlns="http://schemas.openxmlformats.org/package/2006/relationships"><Relationship Id="rId2" Type="http://schemas.openxmlformats.org/officeDocument/2006/relationships/image" Target="media/image44.png" /><Relationship Id="rId0" Type="http://schemas.openxmlformats.org/officeDocument/2006/relationships/slideLayout" Target="../slideLayouts/slideLayout7.xml" /><Relationship Id="rId1" Type="http://schemas.openxmlformats.org/officeDocument/2006/relationships/notesSlide" Target="../notesSlides/notesSlide48.xml" /></Relationships>
</file>

<file path=ppt/slides/_rels/slide58.xml.rels><?xml version="1.0" encoding="UTF-8" standalone="yes"?><Relationships xmlns="http://schemas.openxmlformats.org/package/2006/relationships"><Relationship Id="rId2" Type="http://schemas.openxmlformats.org/officeDocument/2006/relationships/image" Target="media/image45.png" /><Relationship Id="rId0" Type="http://schemas.openxmlformats.org/officeDocument/2006/relationships/slideLayout" Target="../slideLayouts/slideLayout7.xml" /><Relationship Id="rId1" Type="http://schemas.openxmlformats.org/officeDocument/2006/relationships/notesSlide" Target="../notesSlides/notesSlide49.xml" /></Relationships>
</file>

<file path=ppt/slides/_rels/slide59.xml.rels><?xml version="1.0" encoding="UTF-8" standalone="yes"?><Relationships xmlns="http://schemas.openxmlformats.org/package/2006/relationships"><Relationship Id="rId2" Type="http://schemas.openxmlformats.org/officeDocument/2006/relationships/image" Target="media/image46.png" /><Relationship Id="rId0" Type="http://schemas.openxmlformats.org/officeDocument/2006/relationships/slideLayout" Target="../slideLayouts/slideLayout7.xml" /><Relationship Id="rId1" Type="http://schemas.openxmlformats.org/officeDocument/2006/relationships/notesSlide" Target="../notesSlides/notesSlide50.xml" /></Relationships>
</file>

<file path=ppt/slides/_rels/slide60.xml.rels><?xml version="1.0" encoding="UTF-8" standalone="yes"?><Relationships xmlns="http://schemas.openxmlformats.org/package/2006/relationships"><Relationship Id="rId1" Type="http://schemas.openxmlformats.org/officeDocument/2006/relationships/notesSlide" Target="../notesSlides/notesSlide51.xml" /><Relationship Id="rId0" Type="http://schemas.openxmlformats.org/officeDocument/2006/relationships/slideLayout" Target="../slideLayouts/slideLayout7.xml" /></Relationships>
</file>

<file path=ppt/slides/_rels/slide61.xml.rels><?xml version="1.0" encoding="UTF-8" standalone="yes"?><Relationships xmlns="http://schemas.openxmlformats.org/package/2006/relationships"><Relationship Id="rId1" Type="http://schemas.openxmlformats.org/officeDocument/2006/relationships/notesSlide" Target="../notesSlides/notesSlide52.xml" /><Relationship Id="rId0" Type="http://schemas.openxmlformats.org/officeDocument/2006/relationships/slideLayout" Target="../slideLayouts/slideLayout7.xml" /></Relationships>
</file>

<file path=ppt/slides/_rels/slide62.xml.rels><?xml version="1.0" encoding="UTF-8" standalone="yes"?><Relationships xmlns="http://schemas.openxmlformats.org/package/2006/relationships"><Relationship Id="rId1" Type="http://schemas.openxmlformats.org/officeDocument/2006/relationships/notesSlide" Target="../notesSlides/notesSlide53.xml" /><Relationship Id="rId0" Type="http://schemas.openxmlformats.org/officeDocument/2006/relationships/slideLayout" Target="../slideLayouts/slideLayout7.xml" /></Relationships>
</file>

<file path=ppt/slides/_rels/slide63.xml.rels><?xml version="1.0" encoding="UTF-8" standalone="yes"?><Relationships xmlns="http://schemas.openxmlformats.org/package/2006/relationships"><Relationship Id="rId1" Type="http://schemas.openxmlformats.org/officeDocument/2006/relationships/notesSlide" Target="../notesSlides/notesSlide54.xml" /><Relationship Id="rId0" Type="http://schemas.openxmlformats.org/officeDocument/2006/relationships/slideLayout" Target="../slideLayouts/slideLayout7.xml" /></Relationships>
</file>

<file path=ppt/slides/_rels/slide64.xml.rels><?xml version="1.0" encoding="UTF-8" standalone="yes"?><Relationships xmlns="http://schemas.openxmlformats.org/package/2006/relationships"><Relationship Id="rId1" Type="http://schemas.openxmlformats.org/officeDocument/2006/relationships/notesSlide" Target="../notesSlides/notesSlide55.xml" /><Relationship Id="rId0" Type="http://schemas.openxmlformats.org/officeDocument/2006/relationships/slideLayout" Target="../slideLayouts/slideLayout7.xml" /></Relationships>
</file>

<file path=ppt/slides/_rels/slide65.xml.rels><?xml version="1.0" encoding="UTF-8" standalone="yes"?><Relationships xmlns="http://schemas.openxmlformats.org/package/2006/relationships"><Relationship Id="rId1" Type="http://schemas.openxmlformats.org/officeDocument/2006/relationships/notesSlide" Target="../notesSlides/notesSlide56.xml" /><Relationship Id="rId0" Type="http://schemas.openxmlformats.org/officeDocument/2006/relationships/slideLayout" Target="../slideLayouts/slideLayout7.xml" /></Relationships>
</file>

<file path=ppt/slides/_rels/slide66.xml.rels><?xml version="1.0" encoding="UTF-8" standalone="yes"?><Relationships xmlns="http://schemas.openxmlformats.org/package/2006/relationships"><Relationship Id="rId1" Type="http://schemas.openxmlformats.org/officeDocument/2006/relationships/notesSlide" Target="../notesSlides/notesSlide57.xml" /><Relationship Id="rId0" Type="http://schemas.openxmlformats.org/officeDocument/2006/relationships/slideLayout" Target="../slideLayouts/slideLayout7.xml" /></Relationships>
</file>

<file path=ppt/slides/_rels/slide67.xml.rels><?xml version="1.0" encoding="UTF-8" standalone="yes"?><Relationships xmlns="http://schemas.openxmlformats.org/package/2006/relationships"><Relationship Id="rId1" Type="http://schemas.openxmlformats.org/officeDocument/2006/relationships/notesSlide" Target="../notesSlides/notesSlide58.xml" /><Relationship Id="rId0" Type="http://schemas.openxmlformats.org/officeDocument/2006/relationships/slideLayout" Target="../slideLayouts/slideLayout7.xml" /></Relationships>
</file>

<file path=ppt/slides/_rels/slide68.xml.rels><?xml version="1.0" encoding="UTF-8" standalone="yes"?><Relationships xmlns="http://schemas.openxmlformats.org/package/2006/relationships"><Relationship Id="rId2" Type="http://schemas.openxmlformats.org/officeDocument/2006/relationships/image" Target="media/image47.png" /><Relationship Id="rId0" Type="http://schemas.openxmlformats.org/officeDocument/2006/relationships/slideLayout" Target="../slideLayouts/slideLayout7.xml" /><Relationship Id="rId1" Type="http://schemas.openxmlformats.org/officeDocument/2006/relationships/notesSlide" Target="../notesSlides/notesSlide59.xml" /></Relationships>
</file>

<file path=ppt/slides/_rels/slide69.xml.rels><?xml version="1.0" encoding="UTF-8" standalone="yes"?><Relationships xmlns="http://schemas.openxmlformats.org/package/2006/relationships"><Relationship Id="rId5" Type="http://schemas.openxmlformats.org/officeDocument/2006/relationships/image" Target="media/image10.png" /><Relationship Id="rId4" Type="http://schemas.openxmlformats.org/officeDocument/2006/relationships/image" Target="media/image9.svg" /><Relationship Id="rId3" Type="http://schemas.openxmlformats.org/officeDocument/2006/relationships/image" Target="media/image8.png" /><Relationship Id="rId2" Type="http://schemas.openxmlformats.org/officeDocument/2006/relationships/image" Target="media/image7.jpg" /><Relationship Id="rId0" Type="http://schemas.openxmlformats.org/officeDocument/2006/relationships/slideLayout" Target="../slideLayouts/slideLayout7.xml" /><Relationship Id="rId1" Type="http://schemas.openxmlformats.org/officeDocument/2006/relationships/notesSlide" Target="../notesSlides/notesSlide60.xml" /></Relationships>
</file>

<file path=ppt/slides/slide1.xml><?xml version="1.0" encoding="utf-8"?>
<p:sld xmlns:a14="http://schemas.microsoft.com/office/drawing/2010/main" xmlns:a="http://schemas.openxmlformats.org/drawingml/2006/main" xmlns:asvg="http://schemas.microsoft.com/office/drawing/2016/SVG/main" xmlns:p="http://schemas.openxmlformats.org/presentationml/2006/main" xmlns:r="http://schemas.openxmlformats.org/officeDocument/2006/relationships" xmlns:mc="http://schemas.openxmlformats.org/markup-compatibility/2006" mc:Ignorable="a14 asvg">
  <p:cSld>
    <p:spTree>
      <p:nvGrpSpPr>
        <p:cNvPr id="32" name=""/>
        <p:cNvGrpSpPr/>
        <p:nvPr/>
      </p:nvGrpSpPr>
      <p:grpSpPr>
        <a:xfrm>
          <a:off x="0" y="0"/>
          <a:ext cx="0" cy="0"/>
          <a:chOff x="0" y="0"/>
          <a:chExt cx="0" cy="0"/>
        </a:xfrm>
      </p:grpSpPr>
      <p:pic>
        <p:nvPicPr>
          <p:cNvPr id="33" name="Picture 2"/>
          <p:cNvPicPr>
            <a:picLocks noChangeAspect="true" noChangeArrowheads="true"/>
          </p:cNvPicPr>
          <p:nvPr/>
        </p:nvPicPr>
        <p:blipFill rotWithShape="true">
          <a:blip r:embed="rId2">
            <a:extLst>
              <a:ext uri="{28A0092B-C50C-407E-A947-70E740481C1C}"/>
            </a:extLst>
          </a:blip>
          <a:srcRect b="23680"/>
          <a:stretch>
            <a:fillRect/>
          </a:stretch>
        </p:blipFill>
        <p:spPr bwMode="auto">
          <a:xfrm rot="0" flipH="false" flipV="false">
            <a:off x="0" y="0"/>
            <a:ext cx="12191999" cy="6857999"/>
          </a:xfrm>
          <a:prstGeom prst="rect">
            <a:avLst/>
          </a:prstGeom>
          <a:noFill/>
          <a:extLst>
            <a:ext uri="{909E8E84-426E-40DD-AFC4-6F175D3DCCD1}"/>
          </a:extLst>
        </p:spPr>
      </p:pic>
      <p:sp>
        <p:nvSpPr>
          <p:cNvPr id="34" name="Rectangle 14"/>
          <p:cNvSpPr/>
          <p:nvPr/>
        </p:nvSpPr>
        <p:spPr>
          <a:xfrm>
            <a:off x="0" y="1937359"/>
            <a:ext cx="12192000" cy="3640899"/>
          </a:xfrm>
          <a:prstGeom prst="rect">
            <a:avLst/>
          </a:prstGeom>
          <a:solidFill>
            <a:srgbClr val="000000">
              <a:alpha val="6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false" anchor="ctr"/>
          <a:lstStyle/>
          <a:p>
            <a:pPr algn="ctr"/>
            <a:endParaRPr lang="en-US" sz="2400">
              <a:latin typeface="PingFang SC"/>
              <a:ea typeface="PingFang SC"/>
            </a:endParaRPr>
          </a:p>
        </p:txBody>
      </p:sp>
      <p:pic>
        <p:nvPicPr>
          <p:cNvPr id="35" name="Graphic 16"/>
          <p:cNvPicPr>
            <a:picLocks noChangeAspect="true"/>
          </p:cNvPicPr>
          <p:nvPr/>
        </p:nvPicPr>
        <p:blipFill>
          <a:blip r:embed="rId3">
            <a:alphaModFix amt="100000"/>
            <a:extLst>
              <a:ext uri="">
                <a14:imgProps>
                  <a14:imgLayer>
                    <a14:imgEffect>
                      <a14:brightnessContrast bright="0" contrast="0"/>
                      <a14:colorTemperature colorTemp="6500"/>
                      <a14:saturation sat="100000"/>
                      <a14:sharpenSoften amount="0"/>
                    </a14:imgEffect>
                  </a14:imgLayer>
                </a14:imgProps>
              </a:ext>
              <a:ext uri="{96DAC541-7B7A-43D3-8B79-37D633B846F1}">
                <asvg:svgBlip r:embed="rId4"/>
              </a:ext>
            </a:extLst>
          </a:blip>
          <a:stretch>
            <a:fillRect/>
          </a:stretch>
        </p:blipFill>
        <p:spPr>
          <a:xfrm rot="0" flipH="false" flipV="false">
            <a:off x="9987419" y="5916142"/>
            <a:ext cx="1774172" cy="603973"/>
          </a:xfrm>
          <a:prstGeom prst="rect">
            <a:avLst/>
          </a:prstGeom>
          <a:noFill/>
          <a:ln w="0"/>
        </p:spPr>
      </p:pic>
      <p:sp>
        <p:nvSpPr>
          <p:cNvPr id="36" name="TextBox 21"/>
          <p:cNvSpPr txBox="true"/>
          <p:nvPr/>
        </p:nvSpPr>
        <p:spPr>
          <a:xfrm>
            <a:off x="456396" y="2322319"/>
            <a:ext cx="9607550" cy="1041400"/>
          </a:xfrm>
          <a:prstGeom prst="rect">
            <a:avLst/>
          </a:prstGeom>
          <a:noFill/>
        </p:spPr>
        <p:txBody>
          <a:bodyPr wrap="none" rtlCol="false">
            <a:spAutoFit/>
          </a:bodyPr>
          <a:lstStyle/>
          <a:p>
            <a:pPr/>
            <a:r>
              <a:rPr lang="en-US" sz="4800" b="true">
                <a:solidFill>
                  <a:schemeClr val="bg1">
                    <a:alpha val="100000"/>
                  </a:schemeClr>
                </a:solidFill>
                <a:latin typeface="PingFang SC"/>
                <a:ea typeface="PingFang SC"/>
              </a:rPr>
              <a:t>Valkey Dual Channel Replication</a:t>
            </a:r>
            <a:endParaRPr>
              <a:latin typeface="PingFang SC"/>
              <a:ea typeface="PingFang SC"/>
            </a:endParaRPr>
          </a:p>
        </p:txBody>
      </p:sp>
      <p:sp>
        <p:nvSpPr>
          <p:cNvPr id="37" name="TextBox 22"/>
          <p:cNvSpPr txBox="true"/>
          <p:nvPr/>
        </p:nvSpPr>
        <p:spPr>
          <a:xfrm>
            <a:off x="549055" y="4503413"/>
            <a:ext cx="3708400" cy="723900"/>
          </a:xfrm>
          <a:prstGeom prst="rect">
            <a:avLst/>
          </a:prstGeom>
          <a:noFill/>
        </p:spPr>
        <p:txBody>
          <a:bodyPr wrap="none" rtlCol="false">
            <a:spAutoFit/>
          </a:bodyPr>
          <a:lstStyle/>
          <a:p>
            <a:pPr/>
            <a:r>
              <a:rPr lang="en-US" sz="1867" b="true">
                <a:solidFill>
                  <a:schemeClr val="bg1">
                    <a:alpha val="100000"/>
                  </a:schemeClr>
                </a:solidFill>
                <a:latin typeface="PingFang SC"/>
                <a:ea typeface="PingFang SC"/>
              </a:rPr>
              <a:t>binbinzhu(</a:t>
            </a:r>
            <a:r>
              <a:rPr lang="zh-CN" sz="1867" b="true">
                <a:solidFill>
                  <a:schemeClr val="bg1">
                    <a:alpha val="100000"/>
                  </a:schemeClr>
                </a:solidFill>
                <a:latin typeface="PingFang SC"/>
                <a:ea typeface="PingFang SC"/>
              </a:rPr>
              <a:t>朱彬彬</a:t>
            </a:r>
            <a:r>
              <a:rPr lang="en-US" sz="1867" b="true">
                <a:solidFill>
                  <a:schemeClr val="bg1">
                    <a:alpha val="100000"/>
                  </a:schemeClr>
                </a:solidFill>
                <a:latin typeface="PingFang SC"/>
                <a:ea typeface="PingFang SC"/>
              </a:rPr>
              <a:t>) | 2025/12/13
</a:t>
            </a:r>
            <a:r>
              <a:rPr lang="zh-CN" sz="1333" b="true">
                <a:solidFill>
                  <a:schemeClr val="bg1">
                    <a:alpha val="100000"/>
                  </a:schemeClr>
                </a:solidFill>
                <a:latin typeface="PingFang SC"/>
                <a:ea typeface="PingFang SC"/>
              </a:rPr>
              <a:t>腾讯云研发，</a:t>
            </a:r>
            <a:r>
              <a:rPr lang="en-US" sz="1333" b="true">
                <a:solidFill>
                  <a:schemeClr val="bg1">
                    <a:alpha val="100000"/>
                  </a:schemeClr>
                </a:solidFill>
                <a:latin typeface="PingFang SC"/>
                <a:ea typeface="PingFang SC"/>
              </a:rPr>
              <a:t>Valkey TSC Member</a:t>
            </a:r>
            <a:endParaRPr>
              <a:latin typeface="PingFang SC"/>
              <a:ea typeface="PingFang SC"/>
            </a:endParaRPr>
          </a:p>
        </p:txBody>
      </p:sp>
      <p:pic>
        <p:nvPicPr>
          <p:cNvPr id="38" name="Picture 4" descr="Keyspace Beijing 北京"/>
          <p:cNvPicPr>
            <a:picLocks noChangeAspect="true" noChangeArrowheads="true"/>
          </p:cNvPicPr>
          <p:nvPr/>
        </p:nvPicPr>
        <p:blipFill>
          <a:blip r:embed="rId5">
            <a:extLst>
              <a:ext uri="{28A0092B-C50C-407E-A947-70E740481C1C}"/>
            </a:extLst>
          </a:blip>
          <a:srcRect/>
          <a:stretch>
            <a:fillRect/>
          </a:stretch>
        </p:blipFill>
        <p:spPr bwMode="auto">
          <a:xfrm>
            <a:off x="567343" y="733027"/>
            <a:ext cx="4114800" cy="705394"/>
          </a:xfrm>
          <a:prstGeom prst="rect">
            <a:avLst/>
          </a:prstGeom>
          <a:noFill/>
          <a:extLst>
            <a:ext uri="{909E8E84-426E-40DD-AFC4-6F175D3DCCD1}"/>
          </a:extLst>
        </p:spPr>
      </p:pic>
      <p:sp>
        <p:nvSpPr>
          <p:cNvPr id="39" name="TextBox 25"/>
          <p:cNvSpPr txBox="true"/>
          <p:nvPr/>
        </p:nvSpPr>
        <p:spPr>
          <a:xfrm>
            <a:off x="549055" y="6483540"/>
            <a:ext cx="6096000" cy="222250"/>
          </a:xfrm>
          <a:prstGeom prst="rect">
            <a:avLst/>
          </a:prstGeom>
          <a:noFill/>
        </p:spPr>
        <p:txBody>
          <a:bodyPr wrap="none" rtlCol="false">
            <a:spAutoFit/>
          </a:bodyPr>
          <a:lstStyle/>
          <a:p>
            <a:pPr/>
            <a:r>
              <a:rPr sz="667" i="true">
                <a:solidFill>
                  <a:schemeClr val="bg1">
                    <a:alpha val="100000"/>
                  </a:schemeClr>
                </a:solidFill>
                <a:latin typeface="PingFang SC"/>
                <a:ea typeface="PingFang SC"/>
                <a:cs typeface="Futura Medium"/>
              </a:rPr>
              <a:t>Background The Horsehead Nebula and its surroundings. The reflection nebula NGC 2023 in the bottom left corner. / </a:t>
            </a:r>
            <a:r>
              <a:rPr sz="667" i="true">
                <a:solidFill>
                  <a:schemeClr val="bg1">
                    <a:alpha val="100000"/>
                  </a:schemeClr>
                </a:solidFill>
                <a:latin typeface="PingFang SC"/>
                <a:ea typeface="PingFang SC"/>
                <a:cs typeface="Futura Medium"/>
              </a:rPr>
              <a:t>Stephanh</a:t>
            </a:r>
            <a:r>
              <a:rPr sz="667" i="true">
                <a:solidFill>
                  <a:schemeClr val="bg1">
                    <a:alpha val="100000"/>
                  </a:schemeClr>
                </a:solidFill>
                <a:latin typeface="PingFang SC"/>
                <a:ea typeface="PingFang SC"/>
                <a:cs typeface="Futura Medium"/>
              </a:rPr>
              <a:t> / License: CC BY 4.0</a:t>
            </a:r>
            <a:endParaRPr>
              <a:latin typeface="PingFang SC"/>
              <a:ea typeface="PingFang SC"/>
            </a:endParaRPr>
          </a:p>
        </p:txBody>
      </p:sp>
    </p:spTree>
  </p:cSld>
  <p:clrMapOvr>
    <a:masterClrMapping/>
  </p:clrMapOvr>
</p:sld>
</file>

<file path=ppt/slides/slide2.xml><?xml version="1.0" encoding="utf-8"?>
<p:sld xmlns:a="http://schemas.openxmlformats.org/drawingml/2006/main" xmlns:p="http://schemas.openxmlformats.org/presentationml/2006/main">
  <p:cSld>
    <p:spTree>
      <p:nvGrpSpPr>
        <p:cNvPr id="70" name=""/>
        <p:cNvGrpSpPr/>
        <p:nvPr/>
      </p:nvGrpSpPr>
      <p:grpSpPr>
        <a:xfrm>
          <a:off x="0" y="0"/>
          <a:ext cx="0" cy="0"/>
          <a:chOff x="0" y="0"/>
          <a:chExt cx="0" cy="0"/>
        </a:xfrm>
      </p:grpSpPr>
      <p:sp>
        <p:nvSpPr>
          <p:cNvPr id="71" name=""/>
          <p:cNvSpPr txBox="true"/>
          <p:nvPr/>
        </p:nvSpPr>
        <p:spPr>
          <a:xfrm rot="0" flipH="false" flipV="false">
            <a:off x="791839" y="1314898"/>
            <a:ext cx="8329909" cy="2590800"/>
          </a:xfrm>
          <a:prstGeom prst="rect">
            <a:avLst/>
          </a:prstGeom>
          <a:ln w="6350">
            <a:prstDash val="solid"/>
          </a:ln>
        </p:spPr>
        <p:txBody>
          <a:bodyPr wrap="square">
            <a:spAutoFit/>
          </a:bodyPr>
          <a:lstStyle/>
          <a:p>
            <a:pPr marL="285750" indent="-285750">
              <a:buFont typeface="Arial" charset="0"/>
              <a:buChar char="•"/>
            </a:pPr>
            <a:r>
              <a:rPr lang="en-US">
                <a:solidFill>
                  <a:srgbClr val="000000">
                    <a:alpha val="100000"/>
                  </a:srgbClr>
                </a:solidFill>
                <a:latin typeface="PingFang SC"/>
                <a:ea typeface="PingFang SC"/>
              </a:rPr>
              <a:t>2021 - 2024 Redis committer</a:t>
            </a:r>
            <a:endParaRPr>
              <a:latin typeface="PingFang SC"/>
              <a:ea typeface="PingFang SC"/>
            </a:endParaRPr>
          </a:p>
          <a:p>
            <a:pPr marL="285750" indent="-285750">
              <a:buFont typeface="Arial" charset="0"/>
              <a:buChar char="•"/>
            </a:pPr>
            <a:r>
              <a:rPr lang="en-US">
                <a:solidFill>
                  <a:srgbClr val="000000">
                    <a:alpha val="100000"/>
                  </a:srgbClr>
                </a:solidFill>
                <a:latin typeface="PingFang SC"/>
                <a:ea typeface="PingFang SC"/>
              </a:rPr>
              <a:t>2024 - now</a:t>
            </a:r>
            <a:r>
              <a:rPr lang="en-US">
                <a:solidFill>
                  <a:srgbClr val="000000">
                    <a:alpha val="100000"/>
                  </a:srgbClr>
                </a:solidFill>
                <a:latin typeface="PingFang SC"/>
                <a:ea typeface="PingFang SC"/>
              </a:rPr>
              <a:t>  Valkey TSC member</a:t>
            </a:r>
            <a:endParaRPr>
              <a:latin typeface="PingFang SC"/>
              <a:ea typeface="PingFang SC"/>
            </a:endParaRPr>
          </a:p>
          <a:p>
            <a:pPr marL="285750" indent="-285750">
              <a:buFont typeface="Arial" charset="0"/>
              <a:buChar char="•"/>
            </a:pPr>
            <a:r>
              <a:rPr lang="en-US">
                <a:solidFill>
                  <a:srgbClr val="000000">
                    <a:alpha val="100000"/>
                  </a:srgbClr>
                </a:solidFill>
                <a:latin typeface="PingFang SC"/>
                <a:ea typeface="PingFang SC"/>
              </a:rPr>
              <a:t>Software engineer at Tencent Cloud</a:t>
            </a:r>
            <a:endParaRPr>
              <a:latin typeface="PingFang SC"/>
              <a:ea typeface="PingFang SC"/>
            </a:endParaRPr>
          </a:p>
          <a:p>
            <a:pPr marL="285750" indent="-285750">
              <a:buFont typeface="Arial" charset="0"/>
              <a:buChar char="•"/>
            </a:pPr>
            <a:r>
              <a:rPr lang="en-US">
                <a:solidFill>
                  <a:srgbClr val="000000">
                    <a:alpha val="100000"/>
                  </a:srgbClr>
                </a:solidFill>
                <a:latin typeface="PingFang SC"/>
                <a:ea typeface="PingFang SC"/>
              </a:rPr>
              <a:t>Github: github.com/enjoy-binbin</a:t>
            </a:r>
            <a:endParaRPr>
              <a:latin typeface="PingFang SC"/>
              <a:ea typeface="PingFang SC"/>
            </a:endParaRPr>
          </a:p>
          <a:p>
            <a:pPr marL="285750" indent="-285750">
              <a:buFont typeface="Arial" charset="0"/>
              <a:buChar char="•"/>
            </a:pPr>
            <a:r>
              <a:rPr lang="en-US">
                <a:solidFill>
                  <a:srgbClr val="000000">
                    <a:alpha val="100000"/>
                  </a:srgbClr>
                </a:solidFill>
                <a:latin typeface="PingFang SC"/>
                <a:ea typeface="PingFang SC"/>
              </a:rPr>
              <a:t>Email: binloveplay1314@qq.com</a:t>
            </a:r>
            <a:endParaRPr>
              <a:latin typeface="PingFang SC"/>
              <a:ea typeface="PingFang SC"/>
            </a:endParaRPr>
          </a:p>
          <a:p>
            <a:pPr marL="285750" indent="-285750">
              <a:buFont typeface="Arial" charset="0"/>
              <a:buChar char="•"/>
            </a:pPr>
            <a:r>
              <a:rPr lang="en-US">
                <a:solidFill>
                  <a:srgbClr val="000000">
                    <a:alpha val="100000"/>
                  </a:srgbClr>
                </a:solidFill>
                <a:latin typeface="PingFang SC"/>
                <a:ea typeface="PingFang SC"/>
              </a:rPr>
              <a:t>https://github.com/enjoy-binbin/enjoy-binbin/tree/main/2025-12-13-Valkey_Keyspace_2025_Beijing</a:t>
            </a:r>
            <a:endParaRPr/>
          </a:p>
        </p:txBody>
      </p:sp>
      <p:sp>
        <p:nvSpPr>
          <p:cNvPr id="72"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About me</a:t>
            </a:r>
            <a:endParaRPr lang="zh-CN">
              <a:latin typeface="PingFang SC"/>
              <a:ea typeface="PingFang SC"/>
            </a:endParaRPr>
          </a:p>
        </p:txBody>
      </p:sp>
    </p:spTree>
  </p:cSld>
  <p:clrMapOvr>
    <a:masterClrMapping/>
  </p:clrMapOvr>
</p:sld>
</file>

<file path=ppt/slides/slide3.xml><?xml version="1.0" encoding="utf-8"?>
<p:sld xmlns:a="http://schemas.openxmlformats.org/drawingml/2006/main" xmlns:p="http://schemas.openxmlformats.org/presentationml/2006/main">
  <p:cSld>
    <p:spTree>
      <p:nvGrpSpPr>
        <p:cNvPr id="103" name=""/>
        <p:cNvGrpSpPr/>
        <p:nvPr/>
      </p:nvGrpSpPr>
      <p:grpSpPr>
        <a:xfrm>
          <a:off x="0" y="0"/>
          <a:ext cx="0" cy="0"/>
          <a:chOff x="0" y="0"/>
          <a:chExt cx="0" cy="0"/>
        </a:xfrm>
      </p:grpSpPr>
      <p:sp>
        <p:nvSpPr>
          <p:cNvPr id="104" name=""/>
          <p:cNvSpPr txBox="true"/>
          <p:nvPr/>
        </p:nvSpPr>
        <p:spPr>
          <a:xfrm rot="0" flipH="false" flipV="false">
            <a:off x="791839" y="1314898"/>
            <a:ext cx="5918200" cy="2946400"/>
          </a:xfrm>
          <a:prstGeom prst="rect">
            <a:avLst/>
          </a:prstGeom>
          <a:ln w="6350">
            <a:prstDash val="solid"/>
          </a:ln>
        </p:spPr>
        <p:txBody>
          <a:bodyPr wrap="square">
            <a:spAutoFit/>
          </a:bodyPr>
          <a:lstStyle/>
          <a:p>
            <a:pPr marL="285750" indent="-285750">
              <a:buFont typeface="Arial" charset="0"/>
              <a:buChar char="•"/>
            </a:pPr>
            <a:r>
              <a:rPr lang="en-US">
                <a:solidFill>
                  <a:srgbClr val="000000">
                    <a:alpha val="100000"/>
                  </a:srgbClr>
                </a:solidFill>
                <a:latin typeface="PingFang SC"/>
                <a:ea typeface="PingFang SC"/>
              </a:rPr>
              <a:t>Introducing replication</a:t>
            </a:r>
            <a:endParaRPr>
              <a:latin typeface="PingFang SC"/>
              <a:ea typeface="PingFang SC"/>
            </a:endParaRPr>
          </a:p>
          <a:p>
            <a:pPr marL="285750" indent="-285750">
              <a:buFont typeface="Arial" charset="0"/>
              <a:buChar char="•"/>
            </a:pPr>
            <a:r>
              <a:rPr lang="en-US">
                <a:solidFill>
                  <a:srgbClr val="000000">
                    <a:alpha val="100000"/>
                  </a:srgbClr>
                </a:solidFill>
                <a:latin typeface="PingFang SC"/>
                <a:ea typeface="PingFang SC"/>
              </a:rPr>
              <a:t>Full sync &amp;&amp; Psync</a:t>
            </a:r>
            <a:endParaRPr>
              <a:latin typeface="PingFang SC"/>
              <a:ea typeface="PingFang SC"/>
            </a:endParaRPr>
          </a:p>
          <a:p>
            <a:pPr marL="285750" indent="-285750">
              <a:buFont typeface="Arial" charset="0"/>
              <a:buChar char="•"/>
            </a:pPr>
            <a:r>
              <a:rPr lang="en-US">
                <a:solidFill>
                  <a:srgbClr val="000000">
                    <a:alpha val="100000"/>
                  </a:srgbClr>
                </a:solidFill>
                <a:latin typeface="PingFang SC"/>
                <a:ea typeface="PingFang SC"/>
              </a:rPr>
              <a:t>Replication backlog</a:t>
            </a:r>
            <a:endParaRPr>
              <a:latin typeface="PingFang SC"/>
              <a:ea typeface="PingFang SC"/>
            </a:endParaRPr>
          </a:p>
          <a:p>
            <a:pPr marL="285750" indent="-285750">
              <a:buFont typeface="Arial" charset="0"/>
              <a:buChar char="•"/>
            </a:pPr>
            <a:r>
              <a:rPr lang="en-US">
                <a:solidFill>
                  <a:srgbClr val="000000">
                    <a:alpha val="100000"/>
                  </a:srgbClr>
                </a:solidFill>
                <a:latin typeface="PingFang SC"/>
                <a:ea typeface="PingFang SC"/>
              </a:rPr>
              <a:t>Replica client output buffer</a:t>
            </a:r>
            <a:endParaRPr>
              <a:latin typeface="PingFang SC"/>
              <a:ea typeface="PingFang SC"/>
            </a:endParaRPr>
          </a:p>
          <a:p>
            <a:pPr marL="285750" indent="-285750">
              <a:buFont typeface="Arial" charset="0"/>
              <a:buChar char="•"/>
            </a:pPr>
            <a:r>
              <a:rPr lang="en-US">
                <a:solidFill>
                  <a:srgbClr val="000000">
                    <a:alpha val="100000"/>
                  </a:srgbClr>
                </a:solidFill>
                <a:latin typeface="PingFang SC"/>
                <a:ea typeface="PingFang SC"/>
              </a:rPr>
              <a:t>Replication memory usage</a:t>
            </a:r>
            <a:endParaRPr>
              <a:latin typeface="PingFang SC"/>
              <a:ea typeface="PingFang SC"/>
            </a:endParaRPr>
          </a:p>
          <a:p>
            <a:pPr marL="285750" indent="-285750">
              <a:buFont typeface="Arial" charset="0"/>
              <a:buChar char="•"/>
            </a:pPr>
            <a:r>
              <a:rPr lang="en-US">
                <a:solidFill>
                  <a:srgbClr val="000000">
                    <a:alpha val="100000"/>
                  </a:srgbClr>
                </a:solidFill>
                <a:latin typeface="PingFang SC"/>
                <a:ea typeface="PingFang SC"/>
              </a:rPr>
              <a:t>Replication memory issue</a:t>
            </a:r>
            <a:endParaRPr>
              <a:latin typeface="PingFang SC"/>
              <a:ea typeface="PingFang SC"/>
            </a:endParaRPr>
          </a:p>
          <a:p>
            <a:pPr marL="285750" indent="-285750">
              <a:buFont typeface="Arial" charset="0"/>
              <a:buChar char="•"/>
            </a:pPr>
            <a:r>
              <a:rPr lang="en-US">
                <a:solidFill>
                  <a:srgbClr val="000000">
                    <a:alpha val="100000"/>
                  </a:srgbClr>
                </a:solidFill>
                <a:latin typeface="PingFang SC"/>
                <a:ea typeface="PingFang SC"/>
              </a:rPr>
              <a:t>Dual channel replication</a:t>
            </a:r>
            <a:endParaRPr>
              <a:latin typeface="PingFang SC"/>
              <a:ea typeface="PingFang SC"/>
            </a:endParaRPr>
          </a:p>
          <a:p>
            <a:pPr marL="285750" indent="-285750">
              <a:buFont typeface="Arial" charset="0"/>
              <a:buChar char="•"/>
            </a:pPr>
            <a:r>
              <a:rPr lang="en-US">
                <a:solidFill>
                  <a:srgbClr val="000000">
                    <a:alpha val="100000"/>
                  </a:srgbClr>
                </a:solidFill>
                <a:latin typeface="PingFang SC"/>
                <a:ea typeface="PingFang SC"/>
              </a:rPr>
              <a:t>Make valkey great together</a:t>
            </a:r>
            <a:endParaRPr>
              <a:latin typeface="PingFang SC"/>
              <a:ea typeface="PingFang SC"/>
            </a:endParaRPr>
          </a:p>
        </p:txBody>
      </p:sp>
      <p:sp>
        <p:nvSpPr>
          <p:cNvPr id="105"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Agenda</a:t>
            </a:r>
            <a:endParaRPr lang="zh-CN">
              <a:latin typeface="PingFang SC"/>
              <a:ea typeface="PingFang SC"/>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39" name=""/>
        <p:cNvGrpSpPr/>
        <p:nvPr/>
      </p:nvGrpSpPr>
      <p:grpSpPr>
        <a:xfrm>
          <a:off x="0" y="0"/>
          <a:ext cx="0" cy="0"/>
          <a:chOff x="0" y="0"/>
          <a:chExt cx="0" cy="0"/>
        </a:xfrm>
      </p:grpSpPr>
      <p:sp>
        <p:nvSpPr>
          <p:cNvPr id="140"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Dual channel replication overview - 1</a:t>
            </a:r>
            <a:endParaRPr lang="zh-CN">
              <a:latin typeface="PingFang SC"/>
              <a:ea typeface="PingFang SC"/>
            </a:endParaRPr>
          </a:p>
        </p:txBody>
      </p:sp>
      <p:pic>
        <p:nvPicPr>
          <p:cNvPr id="141" name=""/>
          <p:cNvPicPr>
            <a:picLocks noChangeAspect="true"/>
          </p:cNvPicPr>
          <p:nvPr/>
        </p:nvPicPr>
        <p:blipFill>
          <a:blip r:embed="rId1"/>
          <a:stretch>
            <a:fillRect/>
          </a:stretch>
        </p:blipFill>
        <p:spPr>
          <a:xfrm>
            <a:off x="1835150" y="2012950"/>
            <a:ext cx="8521700" cy="2832100"/>
          </a:xfrm>
          <a:prstGeom prst="rect"/>
          <a:ln w="9525">
            <a:solidFill>
              <a:srgbClr val="2f528f">
                <a:alpha val="100000"/>
              </a:srgbClr>
            </a:solidFill>
            <a:prstDash val="solid"/>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73" name=""/>
        <p:cNvGrpSpPr/>
        <p:nvPr/>
      </p:nvGrpSpPr>
      <p:grpSpPr>
        <a:xfrm>
          <a:off x="0" y="0"/>
          <a:ext cx="0" cy="0"/>
          <a:chOff x="0" y="0"/>
          <a:chExt cx="0" cy="0"/>
        </a:xfrm>
      </p:grpSpPr>
      <p:sp>
        <p:nvSpPr>
          <p:cNvPr id="174"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Dual channel replication overview - 2</a:t>
            </a:r>
            <a:endParaRPr lang="zh-CN">
              <a:latin typeface="PingFang SC"/>
              <a:ea typeface="PingFang SC"/>
            </a:endParaRPr>
          </a:p>
        </p:txBody>
      </p:sp>
      <p:pic>
        <p:nvPicPr>
          <p:cNvPr id="175" name=""/>
          <p:cNvPicPr>
            <a:picLocks noChangeAspect="true"/>
          </p:cNvPicPr>
          <p:nvPr/>
        </p:nvPicPr>
        <p:blipFill>
          <a:blip r:embed="rId1"/>
          <a:stretch>
            <a:fillRect/>
          </a:stretch>
        </p:blipFill>
        <p:spPr>
          <a:xfrm>
            <a:off x="1879600" y="1962150"/>
            <a:ext cx="8432800" cy="2933700"/>
          </a:xfrm>
          <a:prstGeom prst="rect"/>
          <a:ln w="9525">
            <a:solidFill>
              <a:srgbClr val="2f528f">
                <a:alpha val="100000"/>
              </a:srgbClr>
            </a:solidFill>
            <a:prstDash val="solid"/>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208" name=""/>
        <p:cNvGrpSpPr/>
        <p:nvPr/>
      </p:nvGrpSpPr>
      <p:grpSpPr>
        <a:xfrm>
          <a:off x="0" y="0"/>
          <a:ext cx="0" cy="0"/>
          <a:chOff x="0" y="0"/>
          <a:chExt cx="0" cy="0"/>
        </a:xfrm>
      </p:grpSpPr>
      <p:sp>
        <p:nvSpPr>
          <p:cNvPr id="209"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Dual channel replication overview - 3</a:t>
            </a:r>
            <a:endParaRPr lang="zh-CN">
              <a:latin typeface="PingFang SC"/>
              <a:ea typeface="PingFang SC"/>
            </a:endParaRPr>
          </a:p>
        </p:txBody>
      </p:sp>
      <p:pic>
        <p:nvPicPr>
          <p:cNvPr id="210" name=""/>
          <p:cNvPicPr>
            <a:picLocks noChangeAspect="true"/>
          </p:cNvPicPr>
          <p:nvPr/>
        </p:nvPicPr>
        <p:blipFill>
          <a:blip r:embed="rId1"/>
          <a:stretch>
            <a:fillRect/>
          </a:stretch>
        </p:blipFill>
        <p:spPr>
          <a:xfrm>
            <a:off x="1968500" y="1981200"/>
            <a:ext cx="8255000" cy="2895600"/>
          </a:xfrm>
          <a:prstGeom prst="rect"/>
          <a:ln w="9525">
            <a:solidFill>
              <a:srgbClr val="2F528F">
                <a:alpha val="100000"/>
              </a:srgbClr>
            </a:solidFill>
            <a:prstDash val="solid"/>
          </a:ln>
        </p:spPr>
      </p:pic>
      <p:sp>
        <p:nvSpPr>
          <p:cNvPr id="211" name="文本框 2"/>
          <p:cNvSpPr txBox="true"/>
          <p:nvPr/>
        </p:nvSpPr>
        <p:spPr>
          <a:xfrm rot="0" flipH="false" flipV="false">
            <a:off x="2174577" y="5509858"/>
            <a:ext cx="9086850" cy="450850"/>
          </a:xfrm>
          <a:prstGeom prst="rect">
            <a:avLst/>
          </a:prstGeom>
          <a:noFill/>
        </p:spPr>
        <p:txBody>
          <a:bodyPr wrap="square" lIns="0" rIns="0" rtlCol="false">
            <a:spAutoFit/>
          </a:bodyPr>
          <a:lstStyle/>
          <a:p>
            <a:pPr/>
            <a:r>
              <a:rPr lang="en-US" sz="1800">
                <a:solidFill>
                  <a:srgbClr val="000000">
                    <a:alpha val="100000"/>
                  </a:srgbClr>
                </a:solidFill>
                <a:latin typeface="PingFang SC"/>
                <a:ea typeface="PingFang SC"/>
              </a:rPr>
              <a:t>Dual channel replication #60 - https://github.com/valkey-io/valkey/pull/60</a:t>
            </a:r>
            <a:endParaRPr>
              <a:latin typeface="PingFang SC"/>
              <a:ea typeface="PingFang SC"/>
            </a:endParaR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220" name=""/>
        <p:cNvGrpSpPr/>
        <p:nvPr/>
      </p:nvGrpSpPr>
      <p:grpSpPr>
        <a:xfrm>
          <a:off x="0" y="0"/>
          <a:ext cx="0" cy="0"/>
          <a:chOff x="0" y="0"/>
          <a:chExt cx="0" cy="0"/>
        </a:xfrm>
      </p:grpSpPr>
      <p:sp>
        <p:nvSpPr>
          <p:cNvPr id="221"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Replication Basic</a:t>
            </a:r>
            <a:endParaRPr lang="zh-CN">
              <a:latin typeface="PingFang SC"/>
              <a:ea typeface="PingFang SC"/>
            </a:endParaRPr>
          </a:p>
        </p:txBody>
      </p:sp>
      <p:pic>
        <p:nvPicPr>
          <p:cNvPr id="222" name=""/>
          <p:cNvPicPr>
            <a:picLocks noChangeAspect="true"/>
          </p:cNvPicPr>
          <p:nvPr/>
        </p:nvPicPr>
        <p:blipFill>
          <a:blip r:embed="rId1"/>
          <a:stretch>
            <a:fillRect/>
          </a:stretch>
        </p:blipFill>
        <p:spPr>
          <a:xfrm>
            <a:off x="1885950" y="1600200"/>
            <a:ext cx="8420100" cy="3657600"/>
          </a:xfrm>
          <a:prstGeom prst="rect"/>
          <a:ln w="9525">
            <a:solidFill>
              <a:srgbClr val="2f528f">
                <a:alpha val="100000"/>
              </a:srgbClr>
            </a:solidFill>
            <a:prstDash val="solid"/>
          </a:ln>
        </p:spPr>
      </p:pic>
      <p:sp>
        <p:nvSpPr>
          <p:cNvPr id="223" name=""/>
          <p:cNvSpPr txBox="true"/>
          <p:nvPr/>
        </p:nvSpPr>
        <p:spPr>
          <a:xfrm rot="0">
            <a:off x="3599315" y="5995073"/>
            <a:ext cx="4013200" cy="450850"/>
          </a:xfrm>
          <a:prstGeom prst="rect">
            <a:avLst/>
          </a:prstGeom>
          <a:ln w="6350">
            <a:prstDash val="solid"/>
          </a:ln>
        </p:spPr>
        <p:txBody>
          <a:bodyPr wrap="none">
            <a:spAutoFit/>
          </a:bodyPr>
          <a:p>
            <a:pPr/>
            <a:r>
              <a:rPr lang="en-US">
                <a:latin typeface="PingFang SC"/>
                <a:ea typeface="PingFang SC"/>
              </a:rPr>
              <a:t>https://valkey.io/topics/replication/</a:t>
            </a:r>
            <a:endParaRPr>
              <a:latin typeface="PingFang SC"/>
              <a:ea typeface="PingFang SC"/>
            </a:endParaRPr>
          </a:p>
        </p:txBody>
      </p:sp>
    </p:spTree>
  </p:cSld>
  <p:clrMapOvr>
    <a:masterClrMapping/>
  </p:clrMapOvr>
</p:sld>
</file>

<file path=ppt/slides/slide8.xml><?xml version="1.0" encoding="utf-8"?>
<p:sld xmlns:a="http://schemas.openxmlformats.org/drawingml/2006/main" xmlns:p="http://schemas.openxmlformats.org/presentationml/2006/main">
  <p:cSld>
    <p:spTree>
      <p:nvGrpSpPr>
        <p:cNvPr id="224" name=""/>
        <p:cNvGrpSpPr/>
        <p:nvPr/>
      </p:nvGrpSpPr>
      <p:grpSpPr>
        <a:xfrm>
          <a:off x="0" y="0"/>
          <a:ext cx="0" cy="0"/>
          <a:chOff x="0" y="0"/>
          <a:chExt cx="0" cy="0"/>
        </a:xfrm>
      </p:grpSpPr>
      <p:sp>
        <p:nvSpPr>
          <p:cNvPr id="225"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Replication Key Points</a:t>
            </a:r>
            <a:endParaRPr lang="zh-CN">
              <a:latin typeface="PingFang SC"/>
              <a:ea typeface="PingFang SC"/>
            </a:endParaRPr>
          </a:p>
        </p:txBody>
      </p:sp>
      <p:sp>
        <p:nvSpPr>
          <p:cNvPr id="226" name=""/>
          <p:cNvSpPr txBox="true"/>
          <p:nvPr/>
        </p:nvSpPr>
        <p:spPr>
          <a:xfrm rot="0" flipH="false" flipV="false">
            <a:off x="839121" y="1512490"/>
            <a:ext cx="6407150" cy="4013200"/>
          </a:xfrm>
          <a:prstGeom prst="rect">
            <a:avLst/>
          </a:prstGeom>
          <a:ln w="6350">
            <a:prstDash val="solid"/>
          </a:ln>
        </p:spPr>
        <p:txBody>
          <a:bodyPr wrap="none">
            <a:spAutoFit/>
          </a:bodyPr>
          <a:p>
            <a:pPr marL="285750" indent="-285750">
              <a:buFont typeface="Arial" charset="0"/>
              <a:buChar char="•"/>
            </a:pPr>
            <a:r>
              <a:rPr lang="zh-CN">
                <a:solidFill>
                  <a:srgbClr val="000000">
                    <a:alpha val="100000"/>
                  </a:srgbClr>
                </a:solidFill>
                <a:latin typeface="PingFang SC"/>
                <a:ea typeface="PingFang SC"/>
              </a:rPr>
              <a:t>主从复制是异步的</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副本与主服务器之间会异步确认复制偏移量</a:t>
            </a:r>
            <a:endParaRPr>
              <a:latin typeface="PingFang SC"/>
              <a:ea typeface="PingFang SC"/>
            </a:endParaRPr>
          </a:p>
          <a:p>
            <a:pPr marL="285750" indent="-285750">
              <a:buFont typeface="Arial" charset="0"/>
              <a:buChar char="•"/>
            </a:pPr>
            <a:r>
              <a:rPr lang="zh-CN">
                <a:solidFill>
                  <a:srgbClr val="000000">
                    <a:alpha val="100000"/>
                  </a:srgbClr>
                </a:solidFill>
                <a:latin typeface="PingFang SC"/>
                <a:ea typeface="PingFang SC"/>
              </a:rPr>
              <a:t>主从复制在主节点侧是非阻塞的</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主节点不会等待副本节点完成同步</a:t>
            </a:r>
            <a:endParaRPr>
              <a:latin typeface="PingFang SC"/>
              <a:ea typeface="PingFang SC"/>
            </a:endParaRPr>
          </a:p>
          <a:p>
            <a:pPr marL="285750" indent="-285750">
              <a:buFont typeface="Arial" charset="0"/>
              <a:buChar char="•"/>
            </a:pPr>
            <a:r>
              <a:rPr lang="zh-CN">
                <a:solidFill>
                  <a:srgbClr val="000000">
                    <a:alpha val="100000"/>
                  </a:srgbClr>
                </a:solidFill>
                <a:latin typeface="PingFang SC"/>
                <a:ea typeface="PingFang SC"/>
              </a:rPr>
              <a:t>主从复制在副本节点侧是可能阻塞的</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副本节点视角里主节点客户端和普通客户端没太多区别</a:t>
            </a:r>
            <a:endParaRPr>
              <a:latin typeface="PingFang SC"/>
              <a:ea typeface="PingFang SC"/>
            </a:endParaRPr>
          </a:p>
          <a:p>
            <a:pPr marL="285750" indent="-285750">
              <a:buFont typeface="Arial" charset="0"/>
              <a:buChar char="•"/>
            </a:pPr>
            <a:r>
              <a:rPr lang="zh-CN">
                <a:solidFill>
                  <a:srgbClr val="000000">
                    <a:alpha val="100000"/>
                  </a:srgbClr>
                </a:solidFill>
                <a:latin typeface="PingFang SC"/>
                <a:ea typeface="PingFang SC"/>
              </a:rPr>
              <a:t>主节点可以拥有任意数量的副本节点</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主节点视角里副本节点客户端和普通客户端没太多区别</a:t>
            </a:r>
            <a:endParaRPr>
              <a:latin typeface="PingFang SC"/>
              <a:ea typeface="PingFang SC"/>
            </a:endParaRPr>
          </a:p>
          <a:p>
            <a:pPr marL="285750" indent="-285750">
              <a:buFont typeface="Arial" charset="0"/>
              <a:buChar char="•"/>
            </a:pPr>
            <a:r>
              <a:rPr lang="zh-CN">
                <a:solidFill>
                  <a:srgbClr val="000000">
                    <a:alpha val="100000"/>
                  </a:srgbClr>
                </a:solidFill>
                <a:latin typeface="PingFang SC"/>
                <a:ea typeface="PingFang SC"/>
              </a:rPr>
              <a:t>通常副本节点是只读的</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标准版模式下可配置可写副本</a:t>
            </a:r>
            <a:endParaRPr>
              <a:latin typeface="PingFang SC"/>
              <a:ea typeface="PingFang SC"/>
            </a:endParaRPr>
          </a:p>
          <a:p>
            <a:pPr marL="285750" indent="-285750">
              <a:buFont typeface="Arial" charset="0"/>
              <a:buChar char="•"/>
            </a:pPr>
            <a:r>
              <a:rPr lang="zh-CN">
                <a:solidFill>
                  <a:srgbClr val="000000">
                    <a:alpha val="100000"/>
                  </a:srgbClr>
                </a:solidFill>
                <a:latin typeface="PingFang SC"/>
                <a:ea typeface="PingFang SC"/>
              </a:rPr>
              <a:t>在标准版模式下，副本也可以是别的副本的主节点</a:t>
            </a:r>
            <a:endParaRPr>
              <a:latin typeface="PingFang SC"/>
              <a:ea typeface="PingFang SC"/>
            </a:endParaRPr>
          </a:p>
        </p:txBody>
      </p:sp>
    </p:spTree>
  </p:cSld>
  <p:clrMapOvr>
    <a:masterClrMapping/>
  </p:clrMapOvr>
</p:sld>
</file>

<file path=ppt/slides/slide9.xml><?xml version="1.0" encoding="utf-8"?>
<p:sld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Need for Replication</a:t>
            </a:r>
            <a:endParaRPr lang="zh-CN">
              <a:latin typeface="PingFang SC"/>
              <a:ea typeface="PingFang SC"/>
            </a:endParaRPr>
          </a:p>
        </p:txBody>
      </p:sp>
      <p:sp>
        <p:nvSpPr>
          <p:cNvPr id="3" name=""/>
          <p:cNvSpPr txBox="true"/>
          <p:nvPr/>
        </p:nvSpPr>
        <p:spPr>
          <a:xfrm rot="0" flipH="false" flipV="false">
            <a:off x="839121" y="1512490"/>
            <a:ext cx="5264150" cy="2946400"/>
          </a:xfrm>
          <a:prstGeom prst="rect">
            <a:avLst/>
          </a:prstGeom>
          <a:ln w="6350">
            <a:prstDash val="solid"/>
          </a:ln>
        </p:spPr>
        <p:txBody>
          <a:bodyPr wrap="none">
            <a:spAutoFit/>
          </a:bodyPr>
          <a:p>
            <a:pPr marL="285750" indent="-285750">
              <a:buFont typeface="Arial" charset="0"/>
              <a:buChar char="•"/>
            </a:pPr>
            <a:r>
              <a:rPr lang="zh-CN">
                <a:solidFill>
                  <a:srgbClr val="000000">
                    <a:alpha val="100000"/>
                  </a:srgbClr>
                </a:solidFill>
                <a:latin typeface="PingFang SC"/>
                <a:ea typeface="PingFang SC"/>
              </a:rPr>
              <a:t>高可用</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主节点宕机时有副本节点顶上恢复服务</a:t>
            </a:r>
            <a:endParaRPr>
              <a:latin typeface="PingFang SC"/>
              <a:ea typeface="PingFang SC"/>
            </a:endParaRPr>
          </a:p>
          <a:p>
            <a:pPr marL="285750" indent="-285750">
              <a:buFont typeface="Arial" charset="0"/>
              <a:buChar char="•"/>
            </a:pPr>
            <a:r>
              <a:rPr lang="zh-CN">
                <a:solidFill>
                  <a:srgbClr val="000000">
                    <a:alpha val="100000"/>
                  </a:srgbClr>
                </a:solidFill>
                <a:latin typeface="PingFang SC"/>
                <a:ea typeface="PingFang SC"/>
              </a:rPr>
              <a:t>扩展实例的读性能</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读写分离将读请求打到副本节点上</a:t>
            </a:r>
            <a:endParaRPr>
              <a:latin typeface="PingFang SC"/>
              <a:ea typeface="PingFang SC"/>
            </a:endParaRPr>
          </a:p>
          <a:p>
            <a:pPr marL="285750" indent="-285750">
              <a:buFont typeface="Arial" charset="0"/>
              <a:buChar char="•"/>
            </a:pPr>
            <a:r>
              <a:rPr lang="zh-CN">
                <a:solidFill>
                  <a:srgbClr val="000000">
                    <a:alpha val="100000"/>
                  </a:srgbClr>
                </a:solidFill>
                <a:latin typeface="PingFang SC"/>
                <a:ea typeface="PingFang SC"/>
              </a:rPr>
              <a:t>提高数据安全性</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主节点宕机时有副本节点顶上恢复数据</a:t>
            </a:r>
            <a:endParaRPr>
              <a:latin typeface="PingFang SC"/>
              <a:ea typeface="PingFang SC"/>
            </a:endParaRPr>
          </a:p>
          <a:p>
            <a:pPr marL="285750" indent="-285750">
              <a:buFont typeface="Arial" charset="0"/>
              <a:buChar char="•"/>
            </a:pPr>
            <a:r>
              <a:rPr lang="zh-CN">
                <a:solidFill>
                  <a:srgbClr val="000000">
                    <a:alpha val="100000"/>
                  </a:srgbClr>
                </a:solidFill>
                <a:latin typeface="PingFang SC"/>
                <a:ea typeface="PingFang SC"/>
              </a:rPr>
              <a:t>另一种方式的持久化</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主节点不配置持久化，副本节点配置持久化</a:t>
            </a:r>
            <a:endParaRPr>
              <a:latin typeface="PingFang SC"/>
              <a:ea typeface="PingFang SC"/>
            </a:endParaRPr>
          </a:p>
        </p:txBody>
      </p:sp>
    </p:spTree>
  </p:cSld>
  <p:clrMapOvr>
    <a:masterClrMapping/>
  </p:clrMapOvr>
</p:sld>
</file>

<file path=ppt/slides/slide10.xml><?xml version="1.0" encoding="utf-8"?>
<p:sld xmlns:a="http://schemas.openxmlformats.org/drawingml/2006/main" xmlns:p="http://schemas.openxmlformats.org/presentationml/2006/main">
  <p:cSld>
    <p:spTree>
      <p:nvGrpSpPr>
        <p:cNvPr id="4" name=""/>
        <p:cNvGrpSpPr/>
        <p:nvPr/>
      </p:nvGrpSpPr>
      <p:grpSpPr>
        <a:xfrm>
          <a:off x="0" y="0"/>
          <a:ext cx="0" cy="0"/>
          <a:chOff x="0" y="0"/>
          <a:chExt cx="0" cy="0"/>
        </a:xfrm>
      </p:grpSpPr>
      <p:sp>
        <p:nvSpPr>
          <p:cNvPr id="5"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Type of Replication</a:t>
            </a:r>
            <a:endParaRPr lang="zh-CN">
              <a:latin typeface="PingFang SC"/>
              <a:ea typeface="PingFang SC"/>
            </a:endParaRPr>
          </a:p>
        </p:txBody>
      </p:sp>
      <p:sp>
        <p:nvSpPr>
          <p:cNvPr id="6" name=""/>
          <p:cNvSpPr txBox="true"/>
          <p:nvPr/>
        </p:nvSpPr>
        <p:spPr>
          <a:xfrm rot="0" flipH="false" flipV="false">
            <a:off x="839121" y="1512490"/>
            <a:ext cx="4032250" cy="1873250"/>
          </a:xfrm>
          <a:prstGeom prst="rect">
            <a:avLst/>
          </a:prstGeom>
          <a:ln w="6350">
            <a:prstDash val="solid"/>
          </a:ln>
        </p:spPr>
        <p:txBody>
          <a:bodyPr wrap="none">
            <a:spAutoFit/>
          </a:bodyPr>
          <a:p>
            <a:pPr marL="285750" lvl="0" indent="-285750">
              <a:buFont typeface="Arial" charset="0"/>
              <a:buChar char="•"/>
            </a:pPr>
            <a:r>
              <a:rPr lang="en-US">
                <a:solidFill>
                  <a:srgbClr val="000000">
                    <a:alpha val="100000"/>
                  </a:srgbClr>
                </a:solidFill>
                <a:latin typeface="PingFang SC"/>
                <a:ea typeface="PingFang SC"/>
              </a:rPr>
              <a:t>full sync (full synchronization)</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全量同步</a:t>
            </a:r>
            <a:endParaRPr>
              <a:latin typeface="PingFang SC"/>
              <a:ea typeface="PingFang SC"/>
            </a:endParaRPr>
          </a:p>
          <a:p>
            <a:pPr lvl="1" indent="0">
              <a:buNone/>
            </a:pPr>
            <a:endParaRPr lang="en-US">
              <a:solidFill>
                <a:srgbClr val="000000">
                  <a:alpha val="100000"/>
                </a:srgbClr>
              </a:solidFill>
              <a:latin typeface="PingFang SC"/>
              <a:ea typeface="PingFang SC"/>
            </a:endParaRPr>
          </a:p>
          <a:p>
            <a:pPr marL="285750" lvl="0" indent="-285750">
              <a:buFont typeface="Arial" charset="0"/>
              <a:buChar char="•"/>
            </a:pPr>
            <a:r>
              <a:rPr lang="en-US">
                <a:solidFill>
                  <a:srgbClr val="000000">
                    <a:alpha val="100000"/>
                  </a:srgbClr>
                </a:solidFill>
                <a:latin typeface="PingFang SC"/>
                <a:ea typeface="PingFang SC"/>
              </a:rPr>
              <a:t>psync (partial resynchronizations)</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部分重新同步</a:t>
            </a:r>
            <a:r>
              <a:rPr lang="en-US">
                <a:solidFill>
                  <a:srgbClr val="000000">
                    <a:alpha val="100000"/>
                  </a:srgbClr>
                </a:solidFill>
                <a:latin typeface="PingFang SC"/>
                <a:ea typeface="PingFang SC"/>
              </a:rPr>
              <a:t> / </a:t>
            </a:r>
            <a:r>
              <a:rPr lang="zh-CN">
                <a:solidFill>
                  <a:srgbClr val="000000">
                    <a:alpha val="100000"/>
                  </a:srgbClr>
                </a:solidFill>
                <a:latin typeface="PingFang SC"/>
                <a:ea typeface="PingFang SC"/>
              </a:rPr>
              <a:t>增量同步</a:t>
            </a:r>
            <a:endParaRPr>
              <a:latin typeface="PingFang SC"/>
              <a:ea typeface="PingFang SC"/>
            </a:endParaRPr>
          </a:p>
        </p:txBody>
      </p:sp>
    </p:spTree>
  </p:cSld>
  <p:clrMapOvr>
    <a:masterClrMapping/>
  </p:clrMapOvr>
</p:sld>
</file>

<file path=ppt/slides/slide11.xml><?xml version="1.0" encoding="utf-8"?>
<p:sld xmlns:a="http://schemas.openxmlformats.org/drawingml/2006/main" xmlns:p="http://schemas.openxmlformats.org/presentationml/2006/main">
  <p:cSld>
    <p:spTree>
      <p:nvGrpSpPr>
        <p:cNvPr id="7" name=""/>
        <p:cNvGrpSpPr/>
        <p:nvPr/>
      </p:nvGrpSpPr>
      <p:grpSpPr>
        <a:xfrm>
          <a:off x="0" y="0"/>
          <a:ext cx="0" cy="0"/>
          <a:chOff x="0" y="0"/>
          <a:chExt cx="0" cy="0"/>
        </a:xfrm>
      </p:grpSpPr>
      <p:sp>
        <p:nvSpPr>
          <p:cNvPr id="8"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Full sync</a:t>
            </a:r>
            <a:endParaRPr lang="zh-CN">
              <a:latin typeface="PingFang SC"/>
              <a:ea typeface="PingFang SC"/>
            </a:endParaRPr>
          </a:p>
        </p:txBody>
      </p:sp>
      <p:sp>
        <p:nvSpPr>
          <p:cNvPr id="9" name=""/>
          <p:cNvSpPr txBox="true"/>
          <p:nvPr/>
        </p:nvSpPr>
        <p:spPr>
          <a:xfrm rot="0" flipH="false" flipV="false">
            <a:off x="638629" y="1103735"/>
            <a:ext cx="10617200" cy="5797550"/>
          </a:xfrm>
          <a:prstGeom prst="rect">
            <a:avLst/>
          </a:prstGeom>
          <a:ln w="6350">
            <a:prstDash val="solid"/>
          </a:ln>
        </p:spPr>
        <p:txBody>
          <a:bodyPr wrap="square">
            <a:spAutoFit/>
          </a:bodyPr>
          <a:lstStyle/>
          <a:p>
            <a:pPr marL="285750" lvl="0" indent="-285750">
              <a:buFont typeface="Arial" charset="0"/>
              <a:buChar char="•"/>
            </a:pPr>
            <a:r>
              <a:rPr lang="en-US">
                <a:solidFill>
                  <a:srgbClr val="000000">
                    <a:alpha val="100000"/>
                  </a:srgbClr>
                </a:solidFill>
                <a:latin typeface="PingFang SC"/>
                <a:ea typeface="PingFang SC"/>
              </a:rPr>
              <a:t>full sync (full synchronization / full resynchronization)</a:t>
            </a:r>
            <a:endParaRPr sz="1800">
              <a:solidFill>
                <a:schemeClr val="tx1">
                  <a:alpha val="100000"/>
                </a:schemeClr>
              </a:solidFill>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顾名思义，就是将主节点上的全部数据同步给副本节点</a:t>
            </a:r>
            <a:endParaRPr>
              <a:latin typeface="PingFang SC"/>
              <a:ea typeface="PingFang SC"/>
            </a:endParaRPr>
          </a:p>
          <a:p>
            <a:pPr marL="285750" lvl="0" indent="-285750">
              <a:buFont typeface="Arial" charset="0"/>
              <a:buChar char="•"/>
            </a:pPr>
            <a:endParaRPr lang="en-US">
              <a:solidFill>
                <a:srgbClr val="000000">
                  <a:alpha val="100000"/>
                </a:srgbClr>
              </a:solidFill>
              <a:latin typeface="PingFang SC"/>
              <a:ea typeface="PingFang SC"/>
            </a:endParaRPr>
          </a:p>
          <a:p>
            <a:pPr marL="285750" lvl="0" indent="-285750">
              <a:buFont typeface="Arial" charset="0"/>
              <a:buChar char="•"/>
            </a:pPr>
            <a:r>
              <a:rPr lang="en-US">
                <a:solidFill>
                  <a:srgbClr val="000000">
                    <a:alpha val="100000"/>
                  </a:srgbClr>
                </a:solidFill>
                <a:latin typeface="PingFang SC"/>
                <a:ea typeface="PingFang SC"/>
              </a:rPr>
              <a:t>full sync </a:t>
            </a:r>
            <a:r>
              <a:rPr lang="zh-CN">
                <a:solidFill>
                  <a:srgbClr val="000000">
                    <a:alpha val="100000"/>
                  </a:srgbClr>
                </a:solidFill>
                <a:latin typeface="PingFang SC"/>
                <a:ea typeface="PingFang SC"/>
              </a:rPr>
              <a:t>是怎么在不影响客户端访问下实现的</a:t>
            </a:r>
            <a:r>
              <a:rPr lang="zh-CN">
                <a:solidFill>
                  <a:srgbClr val="000000">
                    <a:alpha val="100000"/>
                  </a:srgbClr>
                </a:solidFill>
                <a:latin typeface="PingFang SC"/>
                <a:ea typeface="PingFang SC"/>
              </a:rPr>
              <a:t>？</a:t>
            </a:r>
            <a:endParaRPr/>
          </a:p>
          <a:p>
            <a:pPr marL="742950" lvl="1" indent="-285750">
              <a:buFont typeface="Arial" charset="0"/>
              <a:buChar char="•"/>
            </a:pPr>
            <a:r>
              <a:rPr lang="en-US">
                <a:solidFill>
                  <a:srgbClr val="000000">
                    <a:alpha val="100000"/>
                  </a:srgbClr>
                </a:solidFill>
                <a:latin typeface="PingFang SC"/>
                <a:ea typeface="PingFang SC"/>
              </a:rPr>
              <a:t>fork </a:t>
            </a:r>
            <a:r>
              <a:rPr lang="zh-CN">
                <a:solidFill>
                  <a:srgbClr val="000000">
                    <a:alpha val="100000"/>
                  </a:srgbClr>
                </a:solidFill>
                <a:latin typeface="PingFang SC"/>
                <a:ea typeface="PingFang SC"/>
              </a:rPr>
              <a:t>子进程生成数据快照</a:t>
            </a:r>
            <a:endParaRPr>
              <a:latin typeface="PingFang SC"/>
              <a:ea typeface="PingFang SC"/>
            </a:endParaRPr>
          </a:p>
          <a:p>
            <a:pPr marL="742950" lvl="1" indent="-285750">
              <a:buFont typeface="Arial" charset="0"/>
              <a:buChar char="•"/>
            </a:pPr>
            <a:r>
              <a:rPr lang="en-US">
                <a:solidFill>
                  <a:srgbClr val="000000">
                    <a:alpha val="100000"/>
                  </a:srgbClr>
                </a:solidFill>
                <a:latin typeface="PingFang SC"/>
                <a:ea typeface="PingFang SC"/>
              </a:rPr>
              <a:t>replica client output buffer </a:t>
            </a:r>
            <a:r>
              <a:rPr lang="zh-CN">
                <a:solidFill>
                  <a:srgbClr val="000000">
                    <a:alpha val="100000"/>
                  </a:srgbClr>
                </a:solidFill>
                <a:latin typeface="PingFang SC"/>
                <a:ea typeface="PingFang SC"/>
              </a:rPr>
              <a:t>传输增量变更</a:t>
            </a:r>
            <a:endParaRPr>
              <a:latin typeface="PingFang SC"/>
              <a:ea typeface="PingFang SC"/>
            </a:endParaRPr>
          </a:p>
          <a:p>
            <a:pPr marL="285750" lvl="0" indent="-285750">
              <a:buFont typeface="Arial" charset="0"/>
              <a:buChar char="•"/>
            </a:pPr>
            <a:endParaRPr lang="en-US">
              <a:solidFill>
                <a:srgbClr val="000000">
                  <a:alpha val="100000"/>
                </a:srgbClr>
              </a:solidFill>
              <a:latin typeface="PingFang SC"/>
              <a:ea typeface="PingFang SC"/>
            </a:endParaRPr>
          </a:p>
          <a:p>
            <a:pPr marL="285750" lvl="0" indent="-285750">
              <a:buFont typeface="Arial" charset="0"/>
              <a:buChar char="•"/>
            </a:pPr>
            <a:r>
              <a:rPr lang="zh-CN">
                <a:solidFill>
                  <a:srgbClr val="000000">
                    <a:alpha val="100000"/>
                  </a:srgbClr>
                </a:solidFill>
                <a:latin typeface="PingFang SC"/>
                <a:ea typeface="PingFang SC"/>
              </a:rPr>
              <a:t>怎么传输</a:t>
            </a:r>
            <a:r>
              <a:rPr lang="en-US">
                <a:solidFill>
                  <a:srgbClr val="000000">
                    <a:alpha val="100000"/>
                  </a:srgbClr>
                </a:solidFill>
                <a:latin typeface="PingFang SC"/>
                <a:ea typeface="PingFang SC"/>
              </a:rPr>
              <a:t> RDB </a:t>
            </a:r>
            <a:r>
              <a:rPr lang="zh-CN">
                <a:solidFill>
                  <a:srgbClr val="000000">
                    <a:alpha val="100000"/>
                  </a:srgbClr>
                </a:solidFill>
                <a:latin typeface="PingFang SC"/>
                <a:ea typeface="PingFang SC"/>
              </a:rPr>
              <a:t>快照？</a:t>
            </a:r>
            <a:endParaRPr sz="1800">
              <a:solidFill>
                <a:schemeClr val="tx1">
                  <a:alpha val="100000"/>
                </a:schemeClr>
              </a:solidFill>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有盘复制：子进程生成</a:t>
            </a:r>
            <a:r>
              <a:rPr lang="en-US">
                <a:solidFill>
                  <a:srgbClr val="000000">
                    <a:alpha val="100000"/>
                  </a:srgbClr>
                </a:solidFill>
                <a:latin typeface="PingFang SC"/>
                <a:ea typeface="PingFang SC"/>
              </a:rPr>
              <a:t> RDB </a:t>
            </a:r>
            <a:r>
              <a:rPr lang="zh-CN">
                <a:solidFill>
                  <a:srgbClr val="000000">
                    <a:alpha val="100000"/>
                  </a:srgbClr>
                </a:solidFill>
                <a:latin typeface="PingFang SC"/>
                <a:ea typeface="PingFang SC"/>
              </a:rPr>
              <a:t>文件，主进程发送</a:t>
            </a:r>
            <a:r>
              <a:rPr lang="en-US">
                <a:solidFill>
                  <a:srgbClr val="000000">
                    <a:alpha val="100000"/>
                  </a:srgbClr>
                </a:solidFill>
                <a:latin typeface="PingFang SC"/>
                <a:ea typeface="PingFang SC"/>
              </a:rPr>
              <a:t> RDB </a:t>
            </a:r>
            <a:r>
              <a:rPr lang="zh-CN">
                <a:solidFill>
                  <a:srgbClr val="000000">
                    <a:alpha val="100000"/>
                  </a:srgbClr>
                </a:solidFill>
                <a:latin typeface="PingFang SC"/>
                <a:ea typeface="PingFang SC"/>
              </a:rPr>
              <a:t>文件给副本节点</a:t>
            </a:r>
            <a:endParaRPr sz="1800">
              <a:solidFill>
                <a:schemeClr val="tx1">
                  <a:alpha val="100000"/>
                </a:schemeClr>
              </a:solidFill>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无盘复制（</a:t>
            </a:r>
            <a:r>
              <a:rPr lang="en-US">
                <a:solidFill>
                  <a:srgbClr val="000000">
                    <a:alpha val="100000"/>
                  </a:srgbClr>
                </a:solidFill>
                <a:latin typeface="PingFang SC"/>
                <a:ea typeface="PingFang SC"/>
              </a:rPr>
              <a:t>&lt; 6.0</a:t>
            </a:r>
            <a:r>
              <a:rPr lang="zh-CN">
                <a:solidFill>
                  <a:srgbClr val="000000">
                    <a:alpha val="100000"/>
                  </a:srgbClr>
                </a:solidFill>
                <a:latin typeface="PingFang SC"/>
                <a:ea typeface="PingFang SC"/>
              </a:rPr>
              <a:t>）：子进程边生成</a:t>
            </a:r>
            <a:r>
              <a:rPr lang="en-US">
                <a:solidFill>
                  <a:srgbClr val="000000">
                    <a:alpha val="100000"/>
                  </a:srgbClr>
                </a:solidFill>
                <a:latin typeface="PingFang SC"/>
                <a:ea typeface="PingFang SC"/>
              </a:rPr>
              <a:t> RDB </a:t>
            </a:r>
            <a:r>
              <a:rPr lang="zh-CN">
                <a:solidFill>
                  <a:srgbClr val="000000">
                    <a:alpha val="100000"/>
                  </a:srgbClr>
                </a:solidFill>
                <a:latin typeface="PingFang SC"/>
                <a:ea typeface="PingFang SC"/>
              </a:rPr>
              <a:t>快照边将内容发送给副本节点</a:t>
            </a:r>
            <a:endParaRPr sz="1800">
              <a:solidFill>
                <a:schemeClr val="tx1">
                  <a:alpha val="100000"/>
                </a:schemeClr>
              </a:solidFill>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无盘复制（</a:t>
            </a:r>
            <a:r>
              <a:rPr lang="en-US">
                <a:solidFill>
                  <a:srgbClr val="000000">
                    <a:alpha val="100000"/>
                  </a:srgbClr>
                </a:solidFill>
                <a:latin typeface="PingFang SC"/>
                <a:ea typeface="PingFang SC"/>
              </a:rPr>
              <a:t>&gt;= 6.0</a:t>
            </a:r>
            <a:r>
              <a:rPr lang="zh-CN">
                <a:solidFill>
                  <a:srgbClr val="000000">
                    <a:alpha val="100000"/>
                  </a:srgbClr>
                </a:solidFill>
                <a:latin typeface="PingFang SC"/>
                <a:ea typeface="PingFang SC"/>
              </a:rPr>
              <a:t>）：子进程边生成</a:t>
            </a:r>
            <a:r>
              <a:rPr lang="en-US">
                <a:solidFill>
                  <a:srgbClr val="000000">
                    <a:alpha val="100000"/>
                  </a:srgbClr>
                </a:solidFill>
                <a:latin typeface="PingFang SC"/>
                <a:ea typeface="PingFang SC"/>
              </a:rPr>
              <a:t> RDB </a:t>
            </a:r>
            <a:r>
              <a:rPr lang="zh-CN">
                <a:solidFill>
                  <a:srgbClr val="000000">
                    <a:alpha val="100000"/>
                  </a:srgbClr>
                </a:solidFill>
                <a:latin typeface="PingFang SC"/>
                <a:ea typeface="PingFang SC"/>
              </a:rPr>
              <a:t>快照边将内容通过匿名管道发送给主进程，主进程边接收边将内容发送给副本节点</a:t>
            </a:r>
            <a:endParaRPr sz="1800">
              <a:solidFill>
                <a:schemeClr val="tx1">
                  <a:alpha val="100000"/>
                </a:schemeClr>
              </a:solidFill>
              <a:latin typeface="PingFang SC"/>
              <a:ea typeface="PingFang SC"/>
            </a:endParaRPr>
          </a:p>
          <a:p>
            <a:pPr marL="285750" lvl="0" indent="-285750">
              <a:buFont typeface="Arial" charset="0"/>
              <a:buChar char="•"/>
            </a:pPr>
            <a:endParaRPr lang="en-US">
              <a:solidFill>
                <a:srgbClr val="000000">
                  <a:alpha val="100000"/>
                </a:srgbClr>
              </a:solidFill>
              <a:latin typeface="PingFang SC"/>
              <a:ea typeface="PingFang SC"/>
            </a:endParaRPr>
          </a:p>
          <a:p>
            <a:pPr marL="285750" lvl="0" indent="-285750">
              <a:buFont typeface="Arial" charset="0"/>
              <a:buChar char="•"/>
            </a:pPr>
            <a:r>
              <a:rPr lang="zh-CN">
                <a:solidFill>
                  <a:srgbClr val="000000">
                    <a:alpha val="100000"/>
                  </a:srgbClr>
                </a:solidFill>
                <a:latin typeface="PingFang SC"/>
                <a:ea typeface="PingFang SC"/>
              </a:rPr>
              <a:t>什么情况下会发生</a:t>
            </a:r>
            <a:r>
              <a:rPr lang="en-US">
                <a:solidFill>
                  <a:srgbClr val="000000">
                    <a:alpha val="100000"/>
                  </a:srgbClr>
                </a:solidFill>
                <a:latin typeface="PingFang SC"/>
                <a:ea typeface="PingFang SC"/>
              </a:rPr>
              <a:t> full sync</a:t>
            </a:r>
            <a:r>
              <a:rPr lang="zh-CN">
                <a:solidFill>
                  <a:srgbClr val="000000">
                    <a:alpha val="100000"/>
                  </a:srgbClr>
                </a:solidFill>
                <a:latin typeface="PingFang SC"/>
                <a:ea typeface="PingFang SC"/>
              </a:rPr>
              <a:t>？</a:t>
            </a:r>
            <a:endParaRPr sz="1800">
              <a:solidFill>
                <a:schemeClr val="tx1">
                  <a:alpha val="100000"/>
                </a:schemeClr>
              </a:solidFill>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添加一个新副本</a:t>
            </a:r>
            <a:endParaRPr sz="1800">
              <a:solidFill>
                <a:schemeClr val="tx1">
                  <a:alpha val="100000"/>
                </a:schemeClr>
              </a:solidFill>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现有副本重连后没办法做</a:t>
            </a:r>
            <a:r>
              <a:rPr lang="en-US">
                <a:solidFill>
                  <a:srgbClr val="000000">
                    <a:alpha val="100000"/>
                  </a:srgbClr>
                </a:solidFill>
                <a:latin typeface="PingFang SC"/>
                <a:ea typeface="PingFang SC"/>
              </a:rPr>
              <a:t> psync</a:t>
            </a:r>
            <a:endParaRPr sz="1800">
              <a:solidFill>
                <a:schemeClr val="tx1">
                  <a:alpha val="100000"/>
                </a:schemeClr>
              </a:solidFill>
              <a:latin typeface="PingFang SC"/>
              <a:ea typeface="PingFang SC"/>
            </a:endParaRPr>
          </a:p>
        </p:txBody>
      </p:sp>
    </p:spTree>
  </p:cSld>
  <p:clrMapOvr>
    <a:masterClrMapping/>
  </p:clrMapOvr>
</p:sld>
</file>

<file path=ppt/slides/slide12.xml><?xml version="1.0" encoding="utf-8"?>
<p:sld xmlns:a="http://schemas.openxmlformats.org/drawingml/2006/main" xmlns:p="http://schemas.openxmlformats.org/presentationml/2006/main">
  <p:cSld>
    <p:spTree>
      <p:nvGrpSpPr>
        <p:cNvPr id="10" name=""/>
        <p:cNvGrpSpPr/>
        <p:nvPr/>
      </p:nvGrpSpPr>
      <p:grpSpPr>
        <a:xfrm>
          <a:off x="0" y="0"/>
          <a:ext cx="0" cy="0"/>
          <a:chOff x="0" y="0"/>
          <a:chExt cx="0" cy="0"/>
        </a:xfrm>
      </p:grpSpPr>
      <p:sp>
        <p:nvSpPr>
          <p:cNvPr id="11"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Psync</a:t>
            </a:r>
            <a:endParaRPr lang="zh-CN">
              <a:latin typeface="PingFang SC"/>
              <a:ea typeface="PingFang SC"/>
            </a:endParaRPr>
          </a:p>
        </p:txBody>
      </p:sp>
      <p:sp>
        <p:nvSpPr>
          <p:cNvPr id="12" name=""/>
          <p:cNvSpPr txBox="true"/>
          <p:nvPr/>
        </p:nvSpPr>
        <p:spPr>
          <a:xfrm rot="0" flipH="false" flipV="false">
            <a:off x="638629" y="1060450"/>
            <a:ext cx="10236200" cy="5441950"/>
          </a:xfrm>
          <a:prstGeom prst="rect">
            <a:avLst/>
          </a:prstGeom>
          <a:ln w="6350">
            <a:prstDash val="solid"/>
          </a:ln>
        </p:spPr>
        <p:txBody>
          <a:bodyPr wrap="square">
            <a:spAutoFit/>
          </a:bodyPr>
          <a:lstStyle/>
          <a:p>
            <a:pPr marL="285750" indent="-285750">
              <a:buFont typeface="Arial" charset="0"/>
              <a:buChar char="•"/>
            </a:pPr>
            <a:r>
              <a:rPr lang="en-US">
                <a:solidFill>
                  <a:srgbClr val="000000">
                    <a:alpha val="100000"/>
                  </a:srgbClr>
                </a:solidFill>
                <a:latin typeface="PingFang SC"/>
                <a:ea typeface="PingFang SC"/>
              </a:rPr>
              <a:t>psync (partial sync / </a:t>
            </a:r>
            <a:r>
              <a:rPr>
                <a:latin typeface="PingFang SC"/>
                <a:ea typeface="PingFang SC"/>
              </a:rPr>
              <a:t>partial resynchronizations</a:t>
            </a:r>
            <a:r>
              <a:rPr lang="en-US">
                <a:solidFill>
                  <a:srgbClr val="000000">
                    <a:alpha val="100000"/>
                  </a:srgbClr>
                </a:solidFill>
                <a:latin typeface="PingFang SC"/>
                <a:ea typeface="PingFang SC"/>
              </a:rPr>
              <a:t>)</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副本在断连重连时，会尝试使用复制偏移量信息以进行部分全同步，以避免全量同步</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主节点在副本重连后，会尝试使用复制积压缓冲区传输副本缺失的数据，以避免全量同步</a:t>
            </a:r>
            <a:endParaRPr>
              <a:latin typeface="PingFang SC"/>
              <a:ea typeface="PingFang SC"/>
            </a:endParaRPr>
          </a:p>
          <a:p>
            <a:pPr marL="285750" indent="-285750">
              <a:buFont typeface="Arial" charset="0"/>
              <a:buChar char="•"/>
            </a:pPr>
            <a:endParaRPr lang="en-US">
              <a:solidFill>
                <a:srgbClr val="000000">
                  <a:alpha val="100000"/>
                </a:srgbClr>
              </a:solidFill>
              <a:latin typeface="PingFang SC"/>
              <a:ea typeface="PingFang SC"/>
            </a:endParaRPr>
          </a:p>
          <a:p>
            <a:pPr marL="285750" indent="-285750">
              <a:buFont typeface="Arial" charset="0"/>
              <a:buChar char="•"/>
            </a:pPr>
            <a:r>
              <a:rPr lang="en-US">
                <a:solidFill>
                  <a:srgbClr val="000000">
                    <a:alpha val="100000"/>
                  </a:srgbClr>
                </a:solidFill>
                <a:latin typeface="PingFang SC"/>
                <a:ea typeface="PingFang SC"/>
              </a:rPr>
              <a:t>Replication backlog</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复制积压缓冲区，固定大小，缓存追踪最近的增量更新</a:t>
            </a:r>
            <a:endParaRPr>
              <a:latin typeface="PingFang SC"/>
              <a:ea typeface="PingFang SC"/>
            </a:endParaRPr>
          </a:p>
          <a:p>
            <a:pPr marL="285750" indent="-285750">
              <a:buFont typeface="Arial" charset="0"/>
              <a:buChar char="•"/>
            </a:pPr>
            <a:endParaRPr lang="en-US">
              <a:solidFill>
                <a:srgbClr val="000000">
                  <a:alpha val="100000"/>
                </a:srgbClr>
              </a:solidFill>
              <a:latin typeface="PingFang SC"/>
              <a:ea typeface="PingFang SC"/>
            </a:endParaRPr>
          </a:p>
          <a:p>
            <a:pPr marL="285750" indent="-285750">
              <a:buFont typeface="Arial" charset="0"/>
              <a:buChar char="•"/>
            </a:pPr>
            <a:r>
              <a:rPr lang="en-US">
                <a:solidFill>
                  <a:srgbClr val="000000">
                    <a:alpha val="100000"/>
                  </a:srgbClr>
                </a:solidFill>
                <a:latin typeface="PingFang SC"/>
                <a:ea typeface="PingFang SC"/>
              </a:rPr>
              <a:t>Replication offset</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复制偏移量，逻辑下标对应每一个字节。复制偏移量和复制</a:t>
            </a:r>
            <a:r>
              <a:rPr lang="en-US">
                <a:solidFill>
                  <a:srgbClr val="000000">
                    <a:alpha val="100000"/>
                  </a:srgbClr>
                </a:solidFill>
                <a:latin typeface="PingFang SC"/>
                <a:ea typeface="PingFang SC"/>
              </a:rPr>
              <a:t> ID </a:t>
            </a:r>
            <a:r>
              <a:rPr lang="zh-CN">
                <a:solidFill>
                  <a:srgbClr val="000000">
                    <a:alpha val="100000"/>
                  </a:srgbClr>
                </a:solidFill>
                <a:latin typeface="PingFang SC"/>
                <a:ea typeface="PingFang SC"/>
              </a:rPr>
              <a:t>是密切相关的。</a:t>
            </a:r>
            <a:endParaRPr>
              <a:latin typeface="PingFang SC"/>
              <a:ea typeface="PingFang SC"/>
            </a:endParaRPr>
          </a:p>
          <a:p>
            <a:pPr marL="285750" indent="-285750">
              <a:buFont typeface="Arial" charset="0"/>
              <a:buChar char="•"/>
            </a:pPr>
            <a:endParaRPr lang="en-US">
              <a:solidFill>
                <a:srgbClr val="000000">
                  <a:alpha val="100000"/>
                </a:srgbClr>
              </a:solidFill>
              <a:latin typeface="PingFang SC"/>
              <a:ea typeface="PingFang SC"/>
            </a:endParaRPr>
          </a:p>
          <a:p>
            <a:pPr marL="285750" indent="-285750">
              <a:buFont typeface="Arial" charset="0"/>
              <a:buChar char="•"/>
            </a:pPr>
            <a:r>
              <a:rPr lang="en-US">
                <a:solidFill>
                  <a:srgbClr val="000000">
                    <a:alpha val="100000"/>
                  </a:srgbClr>
                </a:solidFill>
                <a:latin typeface="PingFang SC"/>
                <a:ea typeface="PingFang SC"/>
              </a:rPr>
              <a:t>Replication ID</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复制</a:t>
            </a:r>
            <a:r>
              <a:rPr lang="en-US">
                <a:solidFill>
                  <a:srgbClr val="000000">
                    <a:alpha val="100000"/>
                  </a:srgbClr>
                </a:solidFill>
                <a:latin typeface="PingFang SC"/>
                <a:ea typeface="PingFang SC"/>
              </a:rPr>
              <a:t> ID</a:t>
            </a:r>
            <a:r>
              <a:rPr lang="zh-CN">
                <a:solidFill>
                  <a:srgbClr val="000000">
                    <a:alpha val="100000"/>
                  </a:srgbClr>
                </a:solidFill>
                <a:latin typeface="PingFang SC"/>
                <a:ea typeface="PingFang SC"/>
              </a:rPr>
              <a:t>，用来标识复制历史</a:t>
            </a:r>
            <a:endParaRPr>
              <a:latin typeface="PingFang SC"/>
              <a:ea typeface="PingFang SC"/>
            </a:endParaRPr>
          </a:p>
          <a:p>
            <a:pPr marL="285750" indent="-285750">
              <a:buFont typeface="Arial" charset="0"/>
              <a:buChar char="•"/>
            </a:pPr>
            <a:endParaRPr lang="en-US">
              <a:solidFill>
                <a:srgbClr val="000000">
                  <a:alpha val="100000"/>
                </a:srgbClr>
              </a:solidFill>
              <a:latin typeface="PingFang SC"/>
              <a:ea typeface="PingFang SC"/>
            </a:endParaRPr>
          </a:p>
          <a:p>
            <a:pPr marL="285750" indent="-285750">
              <a:buFont typeface="Arial" charset="0"/>
              <a:buChar char="•"/>
            </a:pPr>
            <a:r>
              <a:rPr lang="en-US">
                <a:solidFill>
                  <a:srgbClr val="000000">
                    <a:alpha val="100000"/>
                  </a:srgbClr>
                </a:solidFill>
                <a:latin typeface="PingFang SC"/>
                <a:ea typeface="PingFang SC"/>
              </a:rPr>
              <a:t>Replica client output buffer</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副本客户端输出缓冲区，传输变更</a:t>
            </a:r>
            <a:endParaRPr>
              <a:latin typeface="PingFang SC"/>
              <a:ea typeface="PingFang SC"/>
            </a:endParaR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3" name=""/>
        <p:cNvGrpSpPr/>
        <p:nvPr/>
      </p:nvGrpSpPr>
      <p:grpSpPr>
        <a:xfrm>
          <a:off x="0" y="0"/>
          <a:ext cx="0" cy="0"/>
          <a:chOff x="0" y="0"/>
          <a:chExt cx="0" cy="0"/>
        </a:xfrm>
      </p:grpSpPr>
      <p:sp>
        <p:nvSpPr>
          <p:cNvPr id="14"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Putting it together - 1</a:t>
            </a:r>
            <a:endParaRPr lang="zh-CN">
              <a:latin typeface="PingFang SC"/>
              <a:ea typeface="PingFang SC"/>
            </a:endParaRPr>
          </a:p>
        </p:txBody>
      </p:sp>
      <p:pic>
        <p:nvPicPr>
          <p:cNvPr id="15" name=""/>
          <p:cNvPicPr>
            <a:picLocks noChangeAspect="true"/>
          </p:cNvPicPr>
          <p:nvPr/>
        </p:nvPicPr>
        <p:blipFill>
          <a:blip r:embed="rId2"/>
          <a:stretch>
            <a:fillRect/>
          </a:stretch>
        </p:blipFill>
        <p:spPr>
          <a:xfrm>
            <a:off x="1663700" y="1219200"/>
            <a:ext cx="8864600" cy="4419600"/>
          </a:xfrm>
          <a:prstGeom prst="rect"/>
          <a:ln w="9525">
            <a:solidFill>
              <a:srgbClr val="2f528f">
                <a:alpha val="100000"/>
              </a:srgbClr>
            </a:solidFill>
            <a:prstDash val="solid"/>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6" name=""/>
        <p:cNvGrpSpPr/>
        <p:nvPr/>
      </p:nvGrpSpPr>
      <p:grpSpPr>
        <a:xfrm>
          <a:off x="0" y="0"/>
          <a:ext cx="0" cy="0"/>
          <a:chOff x="0" y="0"/>
          <a:chExt cx="0" cy="0"/>
        </a:xfrm>
      </p:grpSpPr>
      <p:sp>
        <p:nvSpPr>
          <p:cNvPr id="17"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Putting it together - 2</a:t>
            </a:r>
            <a:endParaRPr lang="zh-CN">
              <a:latin typeface="PingFang SC"/>
              <a:ea typeface="PingFang SC"/>
            </a:endParaRPr>
          </a:p>
        </p:txBody>
      </p:sp>
      <p:pic>
        <p:nvPicPr>
          <p:cNvPr id="18" name=""/>
          <p:cNvPicPr>
            <a:picLocks noChangeAspect="true"/>
          </p:cNvPicPr>
          <p:nvPr/>
        </p:nvPicPr>
        <p:blipFill>
          <a:blip r:embed="rId2"/>
          <a:stretch>
            <a:fillRect/>
          </a:stretch>
        </p:blipFill>
        <p:spPr>
          <a:xfrm>
            <a:off x="1720850" y="1149350"/>
            <a:ext cx="8750300" cy="4559300"/>
          </a:xfrm>
          <a:prstGeom prst="rect"/>
          <a:ln w="9525">
            <a:solidFill>
              <a:srgbClr val="2f528f">
                <a:alpha val="100000"/>
              </a:srgbClr>
            </a:solidFill>
            <a:prstDash val="solid"/>
          </a:ln>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9" name=""/>
        <p:cNvGrpSpPr/>
        <p:nvPr/>
      </p:nvGrpSpPr>
      <p:grpSpPr>
        <a:xfrm>
          <a:off x="0" y="0"/>
          <a:ext cx="0" cy="0"/>
          <a:chOff x="0" y="0"/>
          <a:chExt cx="0" cy="0"/>
        </a:xfrm>
      </p:grpSpPr>
      <p:sp>
        <p:nvSpPr>
          <p:cNvPr id="20"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Putting it together - 3</a:t>
            </a:r>
            <a:endParaRPr lang="zh-CN">
              <a:latin typeface="PingFang SC"/>
              <a:ea typeface="PingFang SC"/>
            </a:endParaRPr>
          </a:p>
        </p:txBody>
      </p:sp>
      <p:pic>
        <p:nvPicPr>
          <p:cNvPr id="21" name=""/>
          <p:cNvPicPr>
            <a:picLocks noChangeAspect="true"/>
          </p:cNvPicPr>
          <p:nvPr/>
        </p:nvPicPr>
        <p:blipFill>
          <a:blip r:embed="rId2"/>
          <a:stretch>
            <a:fillRect/>
          </a:stretch>
        </p:blipFill>
        <p:spPr>
          <a:xfrm>
            <a:off x="1733550" y="1206500"/>
            <a:ext cx="8724900" cy="4445000"/>
          </a:xfrm>
          <a:prstGeom prst="rect"/>
          <a:ln w="9525">
            <a:solidFill>
              <a:srgbClr val="2f528f">
                <a:alpha val="100000"/>
              </a:srgbClr>
            </a:solidFill>
            <a:prstDash val="solid"/>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22" name=""/>
        <p:cNvGrpSpPr/>
        <p:nvPr/>
      </p:nvGrpSpPr>
      <p:grpSpPr>
        <a:xfrm>
          <a:off x="0" y="0"/>
          <a:ext cx="0" cy="0"/>
          <a:chOff x="0" y="0"/>
          <a:chExt cx="0" cy="0"/>
        </a:xfrm>
      </p:grpSpPr>
      <p:sp>
        <p:nvSpPr>
          <p:cNvPr id="23"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Putting it together - 4</a:t>
            </a:r>
            <a:endParaRPr lang="zh-CN">
              <a:latin typeface="PingFang SC"/>
              <a:ea typeface="PingFang SC"/>
            </a:endParaRPr>
          </a:p>
        </p:txBody>
      </p:sp>
      <p:pic>
        <p:nvPicPr>
          <p:cNvPr id="24" name=""/>
          <p:cNvPicPr>
            <a:picLocks noChangeAspect="true"/>
          </p:cNvPicPr>
          <p:nvPr/>
        </p:nvPicPr>
        <p:blipFill>
          <a:blip r:embed="rId2"/>
          <a:stretch>
            <a:fillRect/>
          </a:stretch>
        </p:blipFill>
        <p:spPr>
          <a:xfrm rot="0" flipH="false" flipV="false">
            <a:off x="1498600" y="1326459"/>
            <a:ext cx="9194800" cy="4660900"/>
          </a:xfrm>
          <a:prstGeom prst="rect"/>
          <a:ln w="9525">
            <a:solidFill>
              <a:srgbClr val="2f528f">
                <a:alpha val="100000"/>
              </a:srgbClr>
            </a:solidFill>
            <a:prstDash val="solid"/>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25" name=""/>
        <p:cNvGrpSpPr/>
        <p:nvPr/>
      </p:nvGrpSpPr>
      <p:grpSpPr>
        <a:xfrm>
          <a:off x="0" y="0"/>
          <a:ext cx="0" cy="0"/>
          <a:chOff x="0" y="0"/>
          <a:chExt cx="0" cy="0"/>
        </a:xfrm>
      </p:grpSpPr>
      <p:sp>
        <p:nvSpPr>
          <p:cNvPr id="26"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Putting it together - 5</a:t>
            </a:r>
            <a:endParaRPr lang="zh-CN">
              <a:latin typeface="PingFang SC"/>
              <a:ea typeface="PingFang SC"/>
            </a:endParaRPr>
          </a:p>
        </p:txBody>
      </p:sp>
      <p:pic>
        <p:nvPicPr>
          <p:cNvPr id="27" name=""/>
          <p:cNvPicPr>
            <a:picLocks noChangeAspect="true"/>
          </p:cNvPicPr>
          <p:nvPr/>
        </p:nvPicPr>
        <p:blipFill>
          <a:blip r:embed="rId2"/>
          <a:stretch>
            <a:fillRect/>
          </a:stretch>
        </p:blipFill>
        <p:spPr>
          <a:xfrm>
            <a:off x="1778000" y="1263650"/>
            <a:ext cx="8636000" cy="4330700"/>
          </a:xfrm>
          <a:prstGeom prst="rect"/>
          <a:ln w="9525">
            <a:solidFill>
              <a:srgbClr val="2f528f">
                <a:alpha val="100000"/>
              </a:srgbClr>
            </a:solidFill>
            <a:prstDash val="solid"/>
          </a:ln>
        </p:spPr>
      </p:pic>
      <p:sp>
        <p:nvSpPr>
          <p:cNvPr id="28" name=""/>
          <p:cNvSpPr txBox="true"/>
          <p:nvPr/>
        </p:nvSpPr>
        <p:spPr>
          <a:xfrm rot="0" flipH="false" flipV="false">
            <a:off x="1778000" y="5949494"/>
            <a:ext cx="8737600" cy="806450"/>
          </a:xfrm>
          <a:prstGeom prst="rect">
            <a:avLst/>
          </a:prstGeom>
          <a:ln w="6350">
            <a:prstDash val="solid"/>
          </a:ln>
        </p:spPr>
        <p:txBody>
          <a:bodyPr wrap="none">
            <a:spAutoFit/>
          </a:bodyPr>
          <a:p>
            <a:pPr/>
            <a:r>
              <a:rPr lang="en-US">
                <a:latin typeface="PingFang SC"/>
                <a:ea typeface="PingFang SC"/>
              </a:rPr>
              <a:t>Replication backlog and replicas use one global shared replication buffer #9166
https://github.com/redis/redis/pull/9166</a:t>
            </a:r>
            <a:endParaRPr>
              <a:latin typeface="PingFang SC"/>
              <a:ea typeface="PingFang SC"/>
            </a:endParaRPr>
          </a:p>
        </p:txBody>
      </p:sp>
    </p:spTree>
  </p:cSld>
  <p:clrMapOvr>
    <a:masterClrMapping/>
  </p:clrMapOvr>
</p:sld>
</file>

<file path=ppt/slides/slide18.xml><?xml version="1.0" encoding="utf-8"?>
<p:sld xmlns:a="http://schemas.openxmlformats.org/drawingml/2006/main" xmlns:p="http://schemas.openxmlformats.org/presentationml/2006/main">
  <p:cSld>
    <p:spTree>
      <p:nvGrpSpPr>
        <p:cNvPr id="29" name=""/>
        <p:cNvGrpSpPr/>
        <p:nvPr/>
      </p:nvGrpSpPr>
      <p:grpSpPr>
        <a:xfrm>
          <a:off x="0" y="0"/>
          <a:ext cx="0" cy="0"/>
          <a:chOff x="0" y="0"/>
          <a:chExt cx="0" cy="0"/>
        </a:xfrm>
      </p:grpSpPr>
      <p:sp>
        <p:nvSpPr>
          <p:cNvPr id="30"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Replica client output buffer</a:t>
            </a:r>
            <a:endParaRPr lang="zh-CN">
              <a:latin typeface="PingFang SC"/>
              <a:ea typeface="PingFang SC"/>
            </a:endParaRPr>
          </a:p>
        </p:txBody>
      </p:sp>
      <p:sp>
        <p:nvSpPr>
          <p:cNvPr id="31" name=""/>
          <p:cNvSpPr txBox="true"/>
          <p:nvPr/>
        </p:nvSpPr>
        <p:spPr>
          <a:xfrm rot="0" flipH="false" flipV="false">
            <a:off x="638629" y="1327849"/>
            <a:ext cx="10236200" cy="5441950"/>
          </a:xfrm>
          <a:prstGeom prst="rect">
            <a:avLst/>
          </a:prstGeom>
          <a:ln w="6350">
            <a:prstDash val="solid"/>
          </a:ln>
        </p:spPr>
        <p:txBody>
          <a:bodyPr wrap="square">
            <a:spAutoFit/>
          </a:bodyPr>
          <a:lstStyle/>
          <a:p>
            <a:pPr marL="285750" indent="-285750">
              <a:buFont typeface="Arial" charset="0"/>
              <a:buChar char="•"/>
            </a:pPr>
            <a:r>
              <a:rPr lang="en-US">
                <a:solidFill>
                  <a:srgbClr val="000000">
                    <a:alpha val="100000"/>
                  </a:srgbClr>
                </a:solidFill>
                <a:latin typeface="PingFang SC"/>
                <a:ea typeface="PingFang SC"/>
              </a:rPr>
              <a:t>Valkey </a:t>
            </a:r>
            <a:r>
              <a:rPr lang="zh-CN">
                <a:solidFill>
                  <a:srgbClr val="000000">
                    <a:alpha val="100000"/>
                  </a:srgbClr>
                </a:solidFill>
                <a:latin typeface="PingFang SC"/>
                <a:ea typeface="PingFang SC"/>
              </a:rPr>
              <a:t>是内存数据库</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所有数据都是存储在内存上</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从内存里读数据很快</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往网络里写数据很慢</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需要能处理变长响应</a:t>
            </a:r>
            <a:endParaRPr>
              <a:latin typeface="PingFang SC"/>
              <a:ea typeface="PingFang SC"/>
            </a:endParaRPr>
          </a:p>
          <a:p>
            <a:pPr indent="0">
              <a:buNone/>
            </a:pPr>
            <a:endParaRPr lang="en-US">
              <a:solidFill>
                <a:srgbClr val="000000">
                  <a:alpha val="100000"/>
                </a:srgbClr>
              </a:solidFill>
              <a:latin typeface="PingFang SC"/>
              <a:ea typeface="PingFang SC"/>
            </a:endParaRPr>
          </a:p>
          <a:p>
            <a:pPr marL="285750" indent="-285750">
              <a:buFont typeface="Arial" charset="0"/>
              <a:buChar char="•"/>
            </a:pPr>
            <a:r>
              <a:rPr lang="zh-CN">
                <a:solidFill>
                  <a:srgbClr val="000000">
                    <a:alpha val="100000"/>
                  </a:srgbClr>
                </a:solidFill>
                <a:latin typeface="PingFang SC"/>
                <a:ea typeface="PingFang SC"/>
              </a:rPr>
              <a:t>客户端输出缓冲区：</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要发送给客户端的数据会先写入到客户端对应的输出缓冲区中</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断连慢速客户端</a:t>
            </a:r>
            <a:endParaRPr>
              <a:latin typeface="PingFang SC"/>
              <a:ea typeface="PingFang SC"/>
            </a:endParaRPr>
          </a:p>
          <a:p>
            <a:pPr marL="742950" lvl="1" indent="-285750">
              <a:buFont typeface="Arial" charset="0"/>
              <a:buChar char="•"/>
            </a:pPr>
            <a:r>
              <a:rPr lang="en-US">
                <a:solidFill>
                  <a:srgbClr val="000000">
                    <a:alpha val="100000"/>
                  </a:srgbClr>
                </a:solidFill>
                <a:latin typeface="PingFang SC"/>
                <a:ea typeface="PingFang SC"/>
              </a:rPr>
              <a:t>client-output-buffer-limit normal &lt;hard limit&gt; &lt;soft limit&gt; &lt;soft seconds&gt;</a:t>
            </a:r>
            <a:endParaRPr>
              <a:latin typeface="PingFang SC"/>
              <a:ea typeface="PingFang SC"/>
            </a:endParaRPr>
          </a:p>
          <a:p>
            <a:pPr indent="0">
              <a:buNone/>
            </a:pPr>
            <a:endParaRPr lang="en-US">
              <a:solidFill>
                <a:srgbClr val="000000">
                  <a:alpha val="100000"/>
                </a:srgbClr>
              </a:solidFill>
              <a:latin typeface="PingFang SC"/>
              <a:ea typeface="PingFang SC"/>
            </a:endParaRPr>
          </a:p>
          <a:p>
            <a:pPr marL="285750" indent="-285750">
              <a:buFont typeface="Arial" charset="0"/>
              <a:buChar char="•"/>
            </a:pPr>
            <a:r>
              <a:rPr lang="zh-CN">
                <a:solidFill>
                  <a:srgbClr val="000000">
                    <a:alpha val="100000"/>
                  </a:srgbClr>
                </a:solidFill>
                <a:latin typeface="PingFang SC"/>
                <a:ea typeface="PingFang SC"/>
              </a:rPr>
              <a:t>副本客户端输出缓冲区：</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副本在主节点视角里也是一个客户端，主节点通过网络向副本客户端写入数据</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断连慢速副本客户端</a:t>
            </a:r>
            <a:endParaRPr>
              <a:latin typeface="PingFang SC"/>
              <a:ea typeface="PingFang SC"/>
            </a:endParaRPr>
          </a:p>
          <a:p>
            <a:pPr marL="742950" lvl="1" indent="-285750">
              <a:buFont typeface="Arial" charset="0"/>
              <a:buChar char="•"/>
            </a:pPr>
            <a:r>
              <a:rPr lang="en-US">
                <a:solidFill>
                  <a:srgbClr val="000000">
                    <a:alpha val="100000"/>
                  </a:srgbClr>
                </a:solidFill>
                <a:latin typeface="PingFang SC"/>
                <a:ea typeface="PingFang SC"/>
              </a:rPr>
              <a:t>client-output-buffer-limit replica </a:t>
            </a:r>
            <a:r>
              <a:rPr lang="en-US">
                <a:solidFill>
                  <a:srgbClr val="000000">
                    <a:alpha val="100000"/>
                  </a:srgbClr>
                </a:solidFill>
                <a:latin typeface="PingFang SC"/>
                <a:ea typeface="PingFang SC"/>
              </a:rPr>
              <a:t>&lt;hard limit&gt; &lt;soft limit&gt; &lt;soft seconds&gt;</a:t>
            </a:r>
            <a:endParaRPr>
              <a:latin typeface="PingFang SC"/>
              <a:ea typeface="PingFang SC"/>
            </a:endParaRPr>
          </a:p>
        </p:txBody>
      </p:sp>
    </p:spTree>
  </p:cSld>
  <p:clrMapOvr>
    <a:masterClrMapping/>
  </p:clrMapOvr>
</p:sld>
</file>

<file path=ppt/slides/slide19.xml><?xml version="1.0" encoding="utf-8"?>
<p:sld xmlns:a="http://schemas.openxmlformats.org/drawingml/2006/main" xmlns:p="http://schemas.openxmlformats.org/presentationml/2006/main">
  <p:cSld>
    <p:spTree>
      <p:nvGrpSpPr>
        <p:cNvPr id="40" name=""/>
        <p:cNvGrpSpPr/>
        <p:nvPr/>
      </p:nvGrpSpPr>
      <p:grpSpPr>
        <a:xfrm>
          <a:off x="0" y="0"/>
          <a:ext cx="0" cy="0"/>
          <a:chOff x="0" y="0"/>
          <a:chExt cx="0" cy="0"/>
        </a:xfrm>
      </p:grpSpPr>
      <p:sp>
        <p:nvSpPr>
          <p:cNvPr id="41"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Replication Backlog - 1</a:t>
            </a:r>
            <a:endParaRPr lang="zh-CN">
              <a:latin typeface="PingFang SC"/>
              <a:ea typeface="PingFang SC"/>
            </a:endParaRPr>
          </a:p>
        </p:txBody>
      </p:sp>
      <p:sp>
        <p:nvSpPr>
          <p:cNvPr id="42" name=""/>
          <p:cNvSpPr txBox="true"/>
          <p:nvPr/>
        </p:nvSpPr>
        <p:spPr>
          <a:xfrm rot="0" flipH="false" flipV="false">
            <a:off x="612775" y="1054100"/>
            <a:ext cx="10966450" cy="5797550"/>
          </a:xfrm>
          <a:prstGeom prst="rect">
            <a:avLst/>
          </a:prstGeom>
          <a:ln w="6350">
            <a:prstDash val="solid"/>
          </a:ln>
        </p:spPr>
        <p:txBody>
          <a:bodyPr wrap="square">
            <a:spAutoFit/>
          </a:bodyPr>
          <a:lstStyle/>
          <a:p>
            <a:pPr marL="285750" indent="-285750">
              <a:buFont typeface="Arial" charset="0"/>
              <a:buChar char="•"/>
            </a:pPr>
            <a:r>
              <a:rPr lang="en-US">
                <a:solidFill>
                  <a:srgbClr val="000000">
                    <a:alpha val="100000"/>
                  </a:srgbClr>
                </a:solidFill>
                <a:latin typeface="PingFang SC"/>
                <a:ea typeface="PingFang SC"/>
              </a:rPr>
              <a:t>replication backlog</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复制积压缓冲区</a:t>
            </a:r>
            <a:endParaRPr>
              <a:latin typeface="PingFang SC"/>
              <a:ea typeface="PingFang SC"/>
            </a:endParaRPr>
          </a:p>
          <a:p>
            <a:pPr lvl="1" indent="0">
              <a:buNone/>
            </a:pPr>
            <a:endParaRPr lang="en-US">
              <a:solidFill>
                <a:srgbClr val="000000">
                  <a:alpha val="100000"/>
                </a:srgbClr>
              </a:solidFill>
              <a:latin typeface="PingFang SC"/>
              <a:ea typeface="PingFang SC"/>
            </a:endParaRPr>
          </a:p>
          <a:p>
            <a:pPr marL="285750" indent="-285750">
              <a:buFont typeface="Arial" charset="0"/>
              <a:buChar char="•"/>
            </a:pPr>
            <a:r>
              <a:rPr lang="en-US">
                <a:solidFill>
                  <a:srgbClr val="000000">
                    <a:alpha val="100000"/>
                  </a:srgbClr>
                </a:solidFill>
                <a:latin typeface="PingFang SC"/>
                <a:ea typeface="PingFang SC"/>
              </a:rPr>
              <a:t>repl_backlog_size</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复制积压缓冲区可缓存的字节大小，通过配置项</a:t>
            </a:r>
            <a:r>
              <a:rPr lang="en-US">
                <a:solidFill>
                  <a:srgbClr val="000000">
                    <a:alpha val="100000"/>
                  </a:srgbClr>
                </a:solidFill>
                <a:latin typeface="PingFang SC"/>
                <a:ea typeface="PingFang SC"/>
              </a:rPr>
              <a:t> repl-backlog-size </a:t>
            </a:r>
            <a:r>
              <a:rPr lang="zh-CN">
                <a:solidFill>
                  <a:srgbClr val="000000">
                    <a:alpha val="100000"/>
                  </a:srgbClr>
                </a:solidFill>
                <a:latin typeface="PingFang SC"/>
                <a:ea typeface="PingFang SC"/>
              </a:rPr>
              <a:t>设置</a:t>
            </a:r>
            <a:endParaRPr>
              <a:latin typeface="PingFang SC"/>
              <a:ea typeface="PingFang SC"/>
            </a:endParaRPr>
          </a:p>
          <a:p>
            <a:pPr lvl="1" indent="0">
              <a:buNone/>
            </a:pPr>
            <a:endParaRPr lang="en-US">
              <a:solidFill>
                <a:srgbClr val="000000">
                  <a:alpha val="100000"/>
                </a:srgbClr>
              </a:solidFill>
              <a:latin typeface="PingFang SC"/>
              <a:ea typeface="PingFang SC"/>
            </a:endParaRPr>
          </a:p>
          <a:p>
            <a:pPr marL="285750" indent="-285750">
              <a:buFont typeface="Arial" charset="0"/>
              <a:buChar char="•"/>
            </a:pPr>
            <a:r>
              <a:rPr lang="en-US">
                <a:solidFill>
                  <a:srgbClr val="000000">
                    <a:alpha val="100000"/>
                  </a:srgbClr>
                </a:solidFill>
                <a:latin typeface="PingFang SC"/>
                <a:ea typeface="PingFang SC"/>
              </a:rPr>
              <a:t>master_repl_offset</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主节点的复制偏移量，从</a:t>
            </a:r>
            <a:r>
              <a:rPr lang="en-US">
                <a:solidFill>
                  <a:srgbClr val="000000">
                    <a:alpha val="100000"/>
                  </a:srgbClr>
                </a:solidFill>
                <a:latin typeface="PingFang SC"/>
                <a:ea typeface="PingFang SC"/>
              </a:rPr>
              <a:t> 0 </a:t>
            </a:r>
            <a:r>
              <a:rPr lang="zh-CN">
                <a:solidFill>
                  <a:srgbClr val="000000">
                    <a:alpha val="100000"/>
                  </a:srgbClr>
                </a:solidFill>
                <a:latin typeface="PingFang SC"/>
                <a:ea typeface="PingFang SC"/>
              </a:rPr>
              <a:t>开始，主节点写入的每一个字节，都会响应增加这个复制偏移量</a:t>
            </a:r>
            <a:endParaRPr>
              <a:latin typeface="PingFang SC"/>
              <a:ea typeface="PingFang SC"/>
            </a:endParaRPr>
          </a:p>
          <a:p>
            <a:pPr lvl="1" indent="0">
              <a:buNone/>
            </a:pPr>
            <a:endParaRPr lang="en-US">
              <a:solidFill>
                <a:srgbClr val="000000">
                  <a:alpha val="100000"/>
                </a:srgbClr>
              </a:solidFill>
              <a:latin typeface="PingFang SC"/>
              <a:ea typeface="PingFang SC"/>
            </a:endParaRPr>
          </a:p>
          <a:p>
            <a:pPr marL="285750" indent="-285750">
              <a:buFont typeface="Arial" charset="0"/>
              <a:buChar char="•"/>
            </a:pPr>
            <a:r>
              <a:rPr lang="en-US">
                <a:solidFill>
                  <a:srgbClr val="000000">
                    <a:alpha val="100000"/>
                  </a:srgbClr>
                </a:solidFill>
                <a:latin typeface="PingFang SC"/>
                <a:ea typeface="PingFang SC"/>
              </a:rPr>
              <a:t>repl_backlog_first_byte_offset</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复制积压缓冲区里第一个字节所对应的主节点复制偏移量。</a:t>
            </a:r>
            <a:r>
              <a:rPr lang="zh-CN">
                <a:solidFill>
                  <a:srgbClr val="000000">
                    <a:alpha val="100000"/>
                  </a:srgbClr>
                </a:solidFill>
                <a:latin typeface="PingFang SC"/>
                <a:ea typeface="PingFang SC"/>
              </a:rPr>
              <a:t>它从</a:t>
            </a:r>
            <a:r>
              <a:rPr lang="en-US">
                <a:solidFill>
                  <a:srgbClr val="000000">
                    <a:alpha val="100000"/>
                  </a:srgbClr>
                </a:solidFill>
                <a:latin typeface="PingFang SC"/>
                <a:ea typeface="PingFang SC"/>
              </a:rPr>
              <a:t> 1 </a:t>
            </a:r>
            <a:r>
              <a:rPr lang="zh-CN">
                <a:solidFill>
                  <a:srgbClr val="000000">
                    <a:alpha val="100000"/>
                  </a:srgbClr>
                </a:solidFill>
                <a:latin typeface="PingFang SC"/>
                <a:ea typeface="PingFang SC"/>
              </a:rPr>
              <a:t>开始，直到</a:t>
            </a:r>
            <a:r>
              <a:rPr lang="en-US">
                <a:solidFill>
                  <a:srgbClr val="000000">
                    <a:alpha val="100000"/>
                  </a:srgbClr>
                </a:solidFill>
                <a:latin typeface="PingFang SC"/>
                <a:ea typeface="PingFang SC"/>
              </a:rPr>
              <a:t> backlog </a:t>
            </a:r>
            <a:r>
              <a:rPr lang="zh-CN">
                <a:solidFill>
                  <a:srgbClr val="000000">
                    <a:alpha val="100000"/>
                  </a:srgbClr>
                </a:solidFill>
                <a:latin typeface="PingFang SC"/>
                <a:ea typeface="PingFang SC"/>
              </a:rPr>
              <a:t>被填满，当在</a:t>
            </a:r>
            <a:r>
              <a:rPr lang="en-US">
                <a:solidFill>
                  <a:srgbClr val="000000">
                    <a:alpha val="100000"/>
                  </a:srgbClr>
                </a:solidFill>
                <a:latin typeface="PingFang SC"/>
                <a:ea typeface="PingFang SC"/>
              </a:rPr>
              <a:t> backlog </a:t>
            </a:r>
            <a:r>
              <a:rPr lang="zh-CN">
                <a:solidFill>
                  <a:srgbClr val="000000">
                    <a:alpha val="100000"/>
                  </a:srgbClr>
                </a:solidFill>
                <a:latin typeface="PingFang SC"/>
                <a:ea typeface="PingFang SC"/>
              </a:rPr>
              <a:t>里产生覆盖写时，它的值才会开始增加</a:t>
            </a:r>
            <a:endParaRPr>
              <a:latin typeface="PingFang SC"/>
              <a:ea typeface="PingFang SC"/>
            </a:endParaRPr>
          </a:p>
          <a:p>
            <a:pPr lvl="1" indent="0">
              <a:buNone/>
            </a:pPr>
            <a:endParaRPr lang="en-US">
              <a:solidFill>
                <a:srgbClr val="000000">
                  <a:alpha val="100000"/>
                </a:srgbClr>
              </a:solidFill>
              <a:latin typeface="PingFang SC"/>
              <a:ea typeface="PingFang SC"/>
            </a:endParaRPr>
          </a:p>
          <a:p>
            <a:pPr marL="285750" indent="-285750">
              <a:buFont typeface="Arial" charset="0"/>
              <a:buChar char="•"/>
            </a:pPr>
            <a:r>
              <a:rPr lang="en-US">
                <a:solidFill>
                  <a:srgbClr val="000000">
                    <a:alpha val="100000"/>
                  </a:srgbClr>
                </a:solidFill>
                <a:latin typeface="PingFang SC"/>
                <a:ea typeface="PingFang SC"/>
              </a:rPr>
              <a:t>repl_backlog_histlen</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当前复制积压缓冲区的积累的数据字节大小，或者就复制积压缓冲区里实际的</a:t>
            </a:r>
            <a:r>
              <a:rPr lang="en-US">
                <a:solidFill>
                  <a:srgbClr val="000000">
                    <a:alpha val="100000"/>
                  </a:srgbClr>
                </a:solidFill>
                <a:latin typeface="PingFang SC"/>
                <a:ea typeface="PingFang SC"/>
              </a:rPr>
              <a:t>/</a:t>
            </a:r>
            <a:r>
              <a:rPr lang="zh-CN">
                <a:solidFill>
                  <a:srgbClr val="000000">
                    <a:alpha val="100000"/>
                  </a:srgbClr>
                </a:solidFill>
                <a:latin typeface="PingFang SC"/>
                <a:ea typeface="PingFang SC"/>
              </a:rPr>
              <a:t>有效的数据长度</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有效数据始终位于第一个字节偏移量和主节点复制偏移量之间</a:t>
            </a:r>
            <a:endParaRPr>
              <a:latin typeface="PingFang SC"/>
              <a:ea typeface="PingFang SC"/>
            </a:endParaR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43" name=""/>
        <p:cNvGrpSpPr/>
        <p:nvPr/>
      </p:nvGrpSpPr>
      <p:grpSpPr>
        <a:xfrm>
          <a:off x="0" y="0"/>
          <a:ext cx="0" cy="0"/>
          <a:chOff x="0" y="0"/>
          <a:chExt cx="0" cy="0"/>
        </a:xfrm>
      </p:grpSpPr>
      <p:sp>
        <p:nvSpPr>
          <p:cNvPr id="44"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Replication Backlog - 2</a:t>
            </a:r>
            <a:endParaRPr lang="zh-CN">
              <a:latin typeface="PingFang SC"/>
              <a:ea typeface="PingFang SC"/>
            </a:endParaRPr>
          </a:p>
        </p:txBody>
      </p:sp>
      <p:pic>
        <p:nvPicPr>
          <p:cNvPr id="45" name=""/>
          <p:cNvPicPr>
            <a:picLocks noChangeAspect="true"/>
          </p:cNvPicPr>
          <p:nvPr/>
        </p:nvPicPr>
        <p:blipFill>
          <a:blip r:embed="rId2"/>
          <a:stretch>
            <a:fillRect/>
          </a:stretch>
        </p:blipFill>
        <p:spPr>
          <a:xfrm>
            <a:off x="3644900" y="2628900"/>
            <a:ext cx="4902200" cy="1600200"/>
          </a:xfrm>
          <a:prstGeom prst="rect"/>
          <a:ln w="9525">
            <a:solidFill>
              <a:srgbClr val="2f528f">
                <a:alpha val="100000"/>
              </a:srgbClr>
            </a:solidFill>
            <a:prstDash val="solid"/>
          </a:ln>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46" name=""/>
        <p:cNvGrpSpPr/>
        <p:nvPr/>
      </p:nvGrpSpPr>
      <p:grpSpPr>
        <a:xfrm>
          <a:off x="0" y="0"/>
          <a:ext cx="0" cy="0"/>
          <a:chOff x="0" y="0"/>
          <a:chExt cx="0" cy="0"/>
        </a:xfrm>
      </p:grpSpPr>
      <p:sp>
        <p:nvSpPr>
          <p:cNvPr id="47"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Replication Backlog - 3</a:t>
            </a:r>
            <a:endParaRPr lang="zh-CN">
              <a:latin typeface="PingFang SC"/>
              <a:ea typeface="PingFang SC"/>
            </a:endParaRPr>
          </a:p>
        </p:txBody>
      </p:sp>
      <p:pic>
        <p:nvPicPr>
          <p:cNvPr id="48" name=""/>
          <p:cNvPicPr>
            <a:picLocks noChangeAspect="true"/>
          </p:cNvPicPr>
          <p:nvPr/>
        </p:nvPicPr>
        <p:blipFill>
          <a:blip r:embed="rId2"/>
          <a:stretch>
            <a:fillRect/>
          </a:stretch>
        </p:blipFill>
        <p:spPr>
          <a:xfrm>
            <a:off x="3117850" y="2584450"/>
            <a:ext cx="5956300" cy="1689100"/>
          </a:xfrm>
          <a:prstGeom prst="rect"/>
          <a:ln w="9525">
            <a:solidFill>
              <a:srgbClr val="2f528f">
                <a:alpha val="100000"/>
              </a:srgbClr>
            </a:solidFill>
            <a:prstDash val="solid"/>
          </a:ln>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49" name=""/>
        <p:cNvGrpSpPr/>
        <p:nvPr/>
      </p:nvGrpSpPr>
      <p:grpSpPr>
        <a:xfrm>
          <a:off x="0" y="0"/>
          <a:ext cx="0" cy="0"/>
          <a:chOff x="0" y="0"/>
          <a:chExt cx="0" cy="0"/>
        </a:xfrm>
      </p:grpSpPr>
      <p:sp>
        <p:nvSpPr>
          <p:cNvPr id="50"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Replication Backlog - 4</a:t>
            </a:r>
            <a:endParaRPr lang="zh-CN">
              <a:latin typeface="PingFang SC"/>
              <a:ea typeface="PingFang SC"/>
            </a:endParaRPr>
          </a:p>
        </p:txBody>
      </p:sp>
      <p:pic>
        <p:nvPicPr>
          <p:cNvPr id="51" name=""/>
          <p:cNvPicPr>
            <a:picLocks noChangeAspect="true"/>
          </p:cNvPicPr>
          <p:nvPr/>
        </p:nvPicPr>
        <p:blipFill>
          <a:blip r:embed="rId2"/>
          <a:stretch>
            <a:fillRect/>
          </a:stretch>
        </p:blipFill>
        <p:spPr>
          <a:xfrm>
            <a:off x="3136900" y="2527300"/>
            <a:ext cx="5918200" cy="1803400"/>
          </a:xfrm>
          <a:prstGeom prst="rect"/>
          <a:ln w="9525">
            <a:solidFill>
              <a:srgbClr val="2f528f">
                <a:alpha val="100000"/>
              </a:srgbClr>
            </a:solidFill>
            <a:prstDash val="solid"/>
          </a:ln>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52" name=""/>
        <p:cNvGrpSpPr/>
        <p:nvPr/>
      </p:nvGrpSpPr>
      <p:grpSpPr>
        <a:xfrm>
          <a:off x="0" y="0"/>
          <a:ext cx="0" cy="0"/>
          <a:chOff x="0" y="0"/>
          <a:chExt cx="0" cy="0"/>
        </a:xfrm>
      </p:grpSpPr>
      <p:sp>
        <p:nvSpPr>
          <p:cNvPr id="53"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Replication Backlog - 5</a:t>
            </a:r>
            <a:endParaRPr lang="zh-CN">
              <a:latin typeface="PingFang SC"/>
              <a:ea typeface="PingFang SC"/>
            </a:endParaRPr>
          </a:p>
        </p:txBody>
      </p:sp>
      <p:pic>
        <p:nvPicPr>
          <p:cNvPr id="54" name=""/>
          <p:cNvPicPr>
            <a:picLocks noChangeAspect="true"/>
          </p:cNvPicPr>
          <p:nvPr/>
        </p:nvPicPr>
        <p:blipFill>
          <a:blip r:embed="rId2"/>
          <a:stretch>
            <a:fillRect/>
          </a:stretch>
        </p:blipFill>
        <p:spPr>
          <a:xfrm>
            <a:off x="3314700" y="2514600"/>
            <a:ext cx="5562600" cy="1828800"/>
          </a:xfrm>
          <a:prstGeom prst="rect"/>
          <a:ln w="9525">
            <a:solidFill>
              <a:srgbClr val="2f528f">
                <a:alpha val="100000"/>
              </a:srgbClr>
            </a:solidFill>
            <a:prstDash val="solid"/>
          </a:ln>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55" name=""/>
        <p:cNvGrpSpPr/>
        <p:nvPr/>
      </p:nvGrpSpPr>
      <p:grpSpPr>
        <a:xfrm>
          <a:off x="0" y="0"/>
          <a:ext cx="0" cy="0"/>
          <a:chOff x="0" y="0"/>
          <a:chExt cx="0" cy="0"/>
        </a:xfrm>
      </p:grpSpPr>
      <p:sp>
        <p:nvSpPr>
          <p:cNvPr id="56"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Replication Backlog - 6</a:t>
            </a:r>
            <a:endParaRPr lang="zh-CN">
              <a:latin typeface="PingFang SC"/>
              <a:ea typeface="PingFang SC"/>
            </a:endParaRPr>
          </a:p>
        </p:txBody>
      </p:sp>
      <p:pic>
        <p:nvPicPr>
          <p:cNvPr id="57" name=""/>
          <p:cNvPicPr>
            <a:picLocks noChangeAspect="true"/>
          </p:cNvPicPr>
          <p:nvPr/>
        </p:nvPicPr>
        <p:blipFill>
          <a:blip r:embed="rId2"/>
          <a:stretch>
            <a:fillRect/>
          </a:stretch>
        </p:blipFill>
        <p:spPr>
          <a:xfrm>
            <a:off x="3155950" y="2355850"/>
            <a:ext cx="5880100" cy="2146300"/>
          </a:xfrm>
          <a:prstGeom prst="rect"/>
          <a:ln w="9525">
            <a:solidFill>
              <a:srgbClr val="2f528f">
                <a:alpha val="100000"/>
              </a:srgbClr>
            </a:solidFill>
            <a:prstDash val="solid"/>
          </a:ln>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58" name=""/>
        <p:cNvGrpSpPr/>
        <p:nvPr/>
      </p:nvGrpSpPr>
      <p:grpSpPr>
        <a:xfrm>
          <a:off x="0" y="0"/>
          <a:ext cx="0" cy="0"/>
          <a:chOff x="0" y="0"/>
          <a:chExt cx="0" cy="0"/>
        </a:xfrm>
      </p:grpSpPr>
      <p:sp>
        <p:nvSpPr>
          <p:cNvPr id="59"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Replication Backlog - 7</a:t>
            </a:r>
            <a:endParaRPr lang="zh-CN">
              <a:latin typeface="PingFang SC"/>
              <a:ea typeface="PingFang SC"/>
            </a:endParaRPr>
          </a:p>
        </p:txBody>
      </p:sp>
      <p:pic>
        <p:nvPicPr>
          <p:cNvPr id="60" name=""/>
          <p:cNvPicPr>
            <a:picLocks noChangeAspect="true"/>
          </p:cNvPicPr>
          <p:nvPr/>
        </p:nvPicPr>
        <p:blipFill>
          <a:blip r:embed="rId2"/>
          <a:stretch>
            <a:fillRect/>
          </a:stretch>
        </p:blipFill>
        <p:spPr>
          <a:xfrm>
            <a:off x="3644900" y="2628900"/>
            <a:ext cx="4902200" cy="1600200"/>
          </a:xfrm>
          <a:prstGeom prst="rect"/>
          <a:ln w="9525">
            <a:solidFill>
              <a:srgbClr val="2f528f">
                <a:alpha val="100000"/>
              </a:srgbClr>
            </a:solidFill>
            <a:prstDash val="solid"/>
          </a:ln>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61" name=""/>
        <p:cNvGrpSpPr/>
        <p:nvPr/>
      </p:nvGrpSpPr>
      <p:grpSpPr>
        <a:xfrm>
          <a:off x="0" y="0"/>
          <a:ext cx="0" cy="0"/>
          <a:chOff x="0" y="0"/>
          <a:chExt cx="0" cy="0"/>
        </a:xfrm>
      </p:grpSpPr>
      <p:sp>
        <p:nvSpPr>
          <p:cNvPr id="62"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Replication Backlog - 8</a:t>
            </a:r>
            <a:endParaRPr lang="zh-CN">
              <a:latin typeface="PingFang SC"/>
              <a:ea typeface="PingFang SC"/>
            </a:endParaRPr>
          </a:p>
        </p:txBody>
      </p:sp>
      <p:pic>
        <p:nvPicPr>
          <p:cNvPr id="63" name=""/>
          <p:cNvPicPr>
            <a:picLocks noChangeAspect="true"/>
          </p:cNvPicPr>
          <p:nvPr/>
        </p:nvPicPr>
        <p:blipFill>
          <a:blip r:embed="rId2"/>
          <a:stretch>
            <a:fillRect/>
          </a:stretch>
        </p:blipFill>
        <p:spPr>
          <a:xfrm>
            <a:off x="3676650" y="2489200"/>
            <a:ext cx="4838700" cy="1879600"/>
          </a:xfrm>
          <a:prstGeom prst="rect"/>
          <a:ln w="9525">
            <a:solidFill>
              <a:srgbClr val="2f528f">
                <a:alpha val="100000"/>
              </a:srgbClr>
            </a:solidFill>
            <a:prstDash val="solid"/>
          </a:ln>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64" name=""/>
        <p:cNvGrpSpPr/>
        <p:nvPr/>
      </p:nvGrpSpPr>
      <p:grpSpPr>
        <a:xfrm>
          <a:off x="0" y="0"/>
          <a:ext cx="0" cy="0"/>
          <a:chOff x="0" y="0"/>
          <a:chExt cx="0" cy="0"/>
        </a:xfrm>
      </p:grpSpPr>
      <p:sp>
        <p:nvSpPr>
          <p:cNvPr id="65"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Replication Backlog - 9</a:t>
            </a:r>
            <a:endParaRPr lang="zh-CN">
              <a:latin typeface="PingFang SC"/>
              <a:ea typeface="PingFang SC"/>
            </a:endParaRPr>
          </a:p>
        </p:txBody>
      </p:sp>
      <p:pic>
        <p:nvPicPr>
          <p:cNvPr id="66" name=""/>
          <p:cNvPicPr>
            <a:picLocks noChangeAspect="true"/>
          </p:cNvPicPr>
          <p:nvPr/>
        </p:nvPicPr>
        <p:blipFill>
          <a:blip r:embed="rId2"/>
          <a:stretch>
            <a:fillRect/>
          </a:stretch>
        </p:blipFill>
        <p:spPr>
          <a:xfrm>
            <a:off x="1479550" y="1784350"/>
            <a:ext cx="9232900" cy="3289300"/>
          </a:xfrm>
          <a:prstGeom prst="rect"/>
          <a:ln w="9525">
            <a:solidFill>
              <a:srgbClr val="2f528f">
                <a:alpha val="100000"/>
              </a:srgbClr>
            </a:solidFill>
            <a:prstDash val="solid"/>
          </a:ln>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67" name=""/>
        <p:cNvGrpSpPr/>
        <p:nvPr/>
      </p:nvGrpSpPr>
      <p:grpSpPr>
        <a:xfrm>
          <a:off x="0" y="0"/>
          <a:ext cx="0" cy="0"/>
          <a:chOff x="0" y="0"/>
          <a:chExt cx="0" cy="0"/>
        </a:xfrm>
      </p:grpSpPr>
      <p:sp>
        <p:nvSpPr>
          <p:cNvPr id="68"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Replication Backlog - 10</a:t>
            </a:r>
            <a:endParaRPr lang="zh-CN">
              <a:latin typeface="PingFang SC"/>
              <a:ea typeface="PingFang SC"/>
            </a:endParaRPr>
          </a:p>
        </p:txBody>
      </p:sp>
      <p:pic>
        <p:nvPicPr>
          <p:cNvPr id="69" name=""/>
          <p:cNvPicPr>
            <a:picLocks noChangeAspect="true"/>
          </p:cNvPicPr>
          <p:nvPr/>
        </p:nvPicPr>
        <p:blipFill>
          <a:blip r:embed="rId2"/>
          <a:stretch>
            <a:fillRect/>
          </a:stretch>
        </p:blipFill>
        <p:spPr>
          <a:xfrm>
            <a:off x="1454150" y="1835150"/>
            <a:ext cx="9283700" cy="3187700"/>
          </a:xfrm>
          <a:prstGeom prst="rect"/>
          <a:ln w="9525">
            <a:solidFill>
              <a:srgbClr val="2f528f">
                <a:alpha val="100000"/>
              </a:srgbClr>
            </a:solidFill>
            <a:prstDash val="solid"/>
          </a:ln>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73" name=""/>
        <p:cNvGrpSpPr/>
        <p:nvPr/>
      </p:nvGrpSpPr>
      <p:grpSpPr>
        <a:xfrm>
          <a:off x="0" y="0"/>
          <a:ext cx="0" cy="0"/>
          <a:chOff x="0" y="0"/>
          <a:chExt cx="0" cy="0"/>
        </a:xfrm>
      </p:grpSpPr>
      <p:sp>
        <p:nvSpPr>
          <p:cNvPr id="74"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replicaof host port</a:t>
            </a:r>
            <a:endParaRPr lang="zh-CN">
              <a:latin typeface="PingFang SC"/>
              <a:ea typeface="PingFang SC"/>
            </a:endParaRPr>
          </a:p>
        </p:txBody>
      </p:sp>
      <p:pic>
        <p:nvPicPr>
          <p:cNvPr id="75" name=""/>
          <p:cNvPicPr>
            <a:picLocks noChangeAspect="true"/>
          </p:cNvPicPr>
          <p:nvPr/>
        </p:nvPicPr>
        <p:blipFill>
          <a:blip r:embed="rId2"/>
          <a:stretch>
            <a:fillRect/>
          </a:stretch>
        </p:blipFill>
        <p:spPr>
          <a:xfrm>
            <a:off x="996950" y="1708150"/>
            <a:ext cx="10198100" cy="3441700"/>
          </a:xfrm>
          <a:prstGeom prst="rect"/>
          <a:ln w="9525">
            <a:solidFill>
              <a:srgbClr val="2f528f">
                <a:alpha val="100000"/>
              </a:srgbClr>
            </a:solidFill>
            <a:prstDash val="solid"/>
          </a:ln>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76" name=""/>
        <p:cNvGrpSpPr/>
        <p:nvPr/>
      </p:nvGrpSpPr>
      <p:grpSpPr>
        <a:xfrm>
          <a:off x="0" y="0"/>
          <a:ext cx="0" cy="0"/>
          <a:chOff x="0" y="0"/>
          <a:chExt cx="0" cy="0"/>
        </a:xfrm>
      </p:grpSpPr>
      <p:sp>
        <p:nvSpPr>
          <p:cNvPr id="77"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Full sync</a:t>
            </a:r>
            <a:endParaRPr lang="zh-CN">
              <a:latin typeface="PingFang SC"/>
              <a:ea typeface="PingFang SC"/>
            </a:endParaRPr>
          </a:p>
        </p:txBody>
      </p:sp>
      <p:pic>
        <p:nvPicPr>
          <p:cNvPr id="78" name=""/>
          <p:cNvPicPr>
            <a:picLocks noChangeAspect="true"/>
          </p:cNvPicPr>
          <p:nvPr/>
        </p:nvPicPr>
        <p:blipFill>
          <a:blip r:embed="rId2"/>
          <a:stretch>
            <a:fillRect/>
          </a:stretch>
        </p:blipFill>
        <p:spPr>
          <a:xfrm>
            <a:off x="1936750" y="1701800"/>
            <a:ext cx="8318500" cy="3454400"/>
          </a:xfrm>
          <a:prstGeom prst="rect"/>
          <a:ln w="9525">
            <a:solidFill>
              <a:srgbClr val="2f528f">
                <a:alpha val="100000"/>
              </a:srgbClr>
            </a:solidFill>
            <a:prstDash val="solid"/>
          </a:ln>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79" name=""/>
        <p:cNvGrpSpPr/>
        <p:nvPr/>
      </p:nvGrpSpPr>
      <p:grpSpPr>
        <a:xfrm>
          <a:off x="0" y="0"/>
          <a:ext cx="0" cy="0"/>
          <a:chOff x="0" y="0"/>
          <a:chExt cx="0" cy="0"/>
        </a:xfrm>
      </p:grpSpPr>
      <p:sp>
        <p:nvSpPr>
          <p:cNvPr id="80"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Disconnect</a:t>
            </a:r>
            <a:endParaRPr lang="zh-CN">
              <a:latin typeface="PingFang SC"/>
              <a:ea typeface="PingFang SC"/>
            </a:endParaRPr>
          </a:p>
        </p:txBody>
      </p:sp>
      <p:pic>
        <p:nvPicPr>
          <p:cNvPr id="81" name=""/>
          <p:cNvPicPr>
            <a:picLocks noChangeAspect="true"/>
          </p:cNvPicPr>
          <p:nvPr/>
        </p:nvPicPr>
        <p:blipFill>
          <a:blip r:embed="rId2"/>
          <a:stretch>
            <a:fillRect/>
          </a:stretch>
        </p:blipFill>
        <p:spPr>
          <a:xfrm>
            <a:off x="2101850" y="1708150"/>
            <a:ext cx="7988300" cy="3441700"/>
          </a:xfrm>
          <a:prstGeom prst="rect"/>
          <a:ln w="9525">
            <a:solidFill>
              <a:srgbClr val="2f528f">
                <a:alpha val="100000"/>
              </a:srgbClr>
            </a:solidFill>
            <a:prstDash val="solid"/>
          </a:ln>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82" name=""/>
        <p:cNvGrpSpPr/>
        <p:nvPr/>
      </p:nvGrpSpPr>
      <p:grpSpPr>
        <a:xfrm>
          <a:off x="0" y="0"/>
          <a:ext cx="0" cy="0"/>
          <a:chOff x="0" y="0"/>
          <a:chExt cx="0" cy="0"/>
        </a:xfrm>
      </p:grpSpPr>
      <p:sp>
        <p:nvSpPr>
          <p:cNvPr id="83"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Psync</a:t>
            </a:r>
            <a:endParaRPr lang="zh-CN">
              <a:latin typeface="PingFang SC"/>
              <a:ea typeface="PingFang SC"/>
            </a:endParaRPr>
          </a:p>
        </p:txBody>
      </p:sp>
      <p:pic>
        <p:nvPicPr>
          <p:cNvPr id="84" name=""/>
          <p:cNvPicPr>
            <a:picLocks noChangeAspect="true"/>
          </p:cNvPicPr>
          <p:nvPr/>
        </p:nvPicPr>
        <p:blipFill>
          <a:blip r:embed="rId2"/>
          <a:stretch>
            <a:fillRect/>
          </a:stretch>
        </p:blipFill>
        <p:spPr>
          <a:xfrm>
            <a:off x="1905000" y="1771650"/>
            <a:ext cx="8382000" cy="3314700"/>
          </a:xfrm>
          <a:prstGeom prst="rect"/>
          <a:ln w="9525">
            <a:solidFill>
              <a:srgbClr val="2f528f">
                <a:alpha val="100000"/>
              </a:srgbClr>
            </a:solidFill>
            <a:prstDash val="solid"/>
          </a:ln>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85" name=""/>
        <p:cNvGrpSpPr/>
        <p:nvPr/>
      </p:nvGrpSpPr>
      <p:grpSpPr>
        <a:xfrm>
          <a:off x="0" y="0"/>
          <a:ext cx="0" cy="0"/>
          <a:chOff x="0" y="0"/>
          <a:chExt cx="0" cy="0"/>
        </a:xfrm>
      </p:grpSpPr>
      <p:sp>
        <p:nvSpPr>
          <p:cNvPr id="86"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How does psync work? - 1</a:t>
            </a:r>
            <a:endParaRPr lang="zh-CN">
              <a:latin typeface="PingFang SC"/>
              <a:ea typeface="PingFang SC"/>
            </a:endParaRPr>
          </a:p>
        </p:txBody>
      </p:sp>
      <p:pic>
        <p:nvPicPr>
          <p:cNvPr id="87" name=""/>
          <p:cNvPicPr>
            <a:picLocks noChangeAspect="true"/>
          </p:cNvPicPr>
          <p:nvPr/>
        </p:nvPicPr>
        <p:blipFill>
          <a:blip r:embed="rId2"/>
          <a:stretch>
            <a:fillRect/>
          </a:stretch>
        </p:blipFill>
        <p:spPr>
          <a:xfrm>
            <a:off x="463550" y="1339850"/>
            <a:ext cx="11264900" cy="4178300"/>
          </a:xfrm>
          <a:prstGeom prst="rect"/>
          <a:ln w="9525">
            <a:solidFill>
              <a:srgbClr val="2f528f">
                <a:alpha val="100000"/>
              </a:srgbClr>
            </a:solidFill>
            <a:prstDash val="solid"/>
          </a:ln>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88" name=""/>
        <p:cNvGrpSpPr/>
        <p:nvPr/>
      </p:nvGrpSpPr>
      <p:grpSpPr>
        <a:xfrm>
          <a:off x="0" y="0"/>
          <a:ext cx="0" cy="0"/>
          <a:chOff x="0" y="0"/>
          <a:chExt cx="0" cy="0"/>
        </a:xfrm>
      </p:grpSpPr>
      <p:sp>
        <p:nvSpPr>
          <p:cNvPr id="89"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How does psync work? - 2</a:t>
            </a:r>
            <a:endParaRPr lang="zh-CN">
              <a:latin typeface="PingFang SC"/>
              <a:ea typeface="PingFang SC"/>
            </a:endParaRPr>
          </a:p>
        </p:txBody>
      </p:sp>
      <p:pic>
        <p:nvPicPr>
          <p:cNvPr id="90" name=""/>
          <p:cNvPicPr>
            <a:picLocks noChangeAspect="true"/>
          </p:cNvPicPr>
          <p:nvPr/>
        </p:nvPicPr>
        <p:blipFill>
          <a:blip r:embed="rId2"/>
          <a:stretch>
            <a:fillRect/>
          </a:stretch>
        </p:blipFill>
        <p:spPr>
          <a:xfrm rot="0" flipH="false" flipV="false">
            <a:off x="381000" y="1309347"/>
            <a:ext cx="11430000" cy="4889500"/>
          </a:xfrm>
          <a:prstGeom prst="rect"/>
          <a:ln w="9525">
            <a:solidFill>
              <a:srgbClr val="2f528f">
                <a:alpha val="100000"/>
              </a:srgbClr>
            </a:solidFill>
            <a:prstDash val="solid"/>
          </a:ln>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91" name=""/>
        <p:cNvGrpSpPr/>
        <p:nvPr/>
      </p:nvGrpSpPr>
      <p:grpSpPr>
        <a:xfrm>
          <a:off x="0" y="0"/>
          <a:ext cx="0" cy="0"/>
          <a:chOff x="0" y="0"/>
          <a:chExt cx="0" cy="0"/>
        </a:xfrm>
      </p:grpSpPr>
      <p:sp>
        <p:nvSpPr>
          <p:cNvPr id="92"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How does psync work? - 3</a:t>
            </a:r>
            <a:endParaRPr lang="zh-CN">
              <a:latin typeface="PingFang SC"/>
              <a:ea typeface="PingFang SC"/>
            </a:endParaRPr>
          </a:p>
        </p:txBody>
      </p:sp>
      <p:pic>
        <p:nvPicPr>
          <p:cNvPr id="93" name=""/>
          <p:cNvPicPr>
            <a:picLocks noChangeAspect="true"/>
          </p:cNvPicPr>
          <p:nvPr/>
        </p:nvPicPr>
        <p:blipFill>
          <a:blip r:embed="rId2"/>
          <a:stretch>
            <a:fillRect/>
          </a:stretch>
        </p:blipFill>
        <p:spPr>
          <a:xfrm>
            <a:off x="635000" y="1384300"/>
            <a:ext cx="10922000" cy="4089400"/>
          </a:xfrm>
          <a:prstGeom prst="rect"/>
          <a:ln w="9525">
            <a:solidFill>
              <a:srgbClr val="2f528f">
                <a:alpha val="100000"/>
              </a:srgbClr>
            </a:solidFill>
            <a:prstDash val="solid"/>
          </a:ln>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94" name=""/>
        <p:cNvGrpSpPr/>
        <p:nvPr/>
      </p:nvGrpSpPr>
      <p:grpSpPr>
        <a:xfrm>
          <a:off x="0" y="0"/>
          <a:ext cx="0" cy="0"/>
          <a:chOff x="0" y="0"/>
          <a:chExt cx="0" cy="0"/>
        </a:xfrm>
      </p:grpSpPr>
      <p:sp>
        <p:nvSpPr>
          <p:cNvPr id="95"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How does psync work? - 4</a:t>
            </a:r>
            <a:endParaRPr lang="zh-CN">
              <a:latin typeface="PingFang SC"/>
              <a:ea typeface="PingFang SC"/>
            </a:endParaRPr>
          </a:p>
        </p:txBody>
      </p:sp>
      <p:pic>
        <p:nvPicPr>
          <p:cNvPr id="96" name=""/>
          <p:cNvPicPr>
            <a:picLocks noChangeAspect="true"/>
          </p:cNvPicPr>
          <p:nvPr/>
        </p:nvPicPr>
        <p:blipFill>
          <a:blip r:embed="rId2"/>
          <a:stretch>
            <a:fillRect/>
          </a:stretch>
        </p:blipFill>
        <p:spPr>
          <a:xfrm rot="0" flipH="false" flipV="false">
            <a:off x="311150" y="1392685"/>
            <a:ext cx="11569700" cy="4660900"/>
          </a:xfrm>
          <a:prstGeom prst="rect"/>
          <a:ln w="9525">
            <a:solidFill>
              <a:srgbClr val="2f528f">
                <a:alpha val="100000"/>
              </a:srgbClr>
            </a:solidFill>
            <a:prstDash val="solid"/>
          </a:ln>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97" name=""/>
        <p:cNvGrpSpPr/>
        <p:nvPr/>
      </p:nvGrpSpPr>
      <p:grpSpPr>
        <a:xfrm>
          <a:off x="0" y="0"/>
          <a:ext cx="0" cy="0"/>
          <a:chOff x="0" y="0"/>
          <a:chExt cx="0" cy="0"/>
        </a:xfrm>
      </p:grpSpPr>
      <p:sp>
        <p:nvSpPr>
          <p:cNvPr id="98"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How does psync work? - 5</a:t>
            </a:r>
            <a:endParaRPr lang="zh-CN">
              <a:latin typeface="PingFang SC"/>
              <a:ea typeface="PingFang SC"/>
            </a:endParaRPr>
          </a:p>
        </p:txBody>
      </p:sp>
      <p:pic>
        <p:nvPicPr>
          <p:cNvPr id="99" name=""/>
          <p:cNvPicPr>
            <a:picLocks noChangeAspect="true"/>
          </p:cNvPicPr>
          <p:nvPr/>
        </p:nvPicPr>
        <p:blipFill>
          <a:blip r:embed="rId2"/>
          <a:stretch>
            <a:fillRect/>
          </a:stretch>
        </p:blipFill>
        <p:spPr>
          <a:xfrm>
            <a:off x="209550" y="1339850"/>
            <a:ext cx="11772900" cy="4178300"/>
          </a:xfrm>
          <a:prstGeom prst="rect"/>
          <a:ln w="9525">
            <a:solidFill>
              <a:srgbClr val="2f528f">
                <a:alpha val="100000"/>
              </a:srgbClr>
            </a:solidFill>
            <a:prstDash val="solid"/>
          </a:ln>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00" name=""/>
        <p:cNvGrpSpPr/>
        <p:nvPr/>
      </p:nvGrpSpPr>
      <p:grpSpPr>
        <a:xfrm>
          <a:off x="0" y="0"/>
          <a:ext cx="0" cy="0"/>
          <a:chOff x="0" y="0"/>
          <a:chExt cx="0" cy="0"/>
        </a:xfrm>
      </p:grpSpPr>
      <p:sp>
        <p:nvSpPr>
          <p:cNvPr id="101"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How does psync work? - 6</a:t>
            </a:r>
            <a:endParaRPr lang="zh-CN">
              <a:latin typeface="PingFang SC"/>
              <a:ea typeface="PingFang SC"/>
            </a:endParaRPr>
          </a:p>
        </p:txBody>
      </p:sp>
      <p:pic>
        <p:nvPicPr>
          <p:cNvPr id="102" name=""/>
          <p:cNvPicPr>
            <a:picLocks noChangeAspect="true"/>
          </p:cNvPicPr>
          <p:nvPr/>
        </p:nvPicPr>
        <p:blipFill>
          <a:blip r:embed="rId2"/>
          <a:stretch>
            <a:fillRect/>
          </a:stretch>
        </p:blipFill>
        <p:spPr>
          <a:xfrm>
            <a:off x="0" y="1584931"/>
            <a:ext cx="12192000" cy="3688138"/>
          </a:xfrm>
          <a:prstGeom prst="rect"/>
          <a:ln w="9525">
            <a:solidFill>
              <a:srgbClr val="2f528f">
                <a:alpha val="100000"/>
              </a:srgbClr>
            </a:solidFill>
            <a:prstDash val="solid"/>
          </a:ln>
        </p:spPr>
      </p:pic>
    </p:spTree>
  </p:cSld>
  <p:clrMapOvr>
    <a:masterClrMapping/>
  </p:clrMapOvr>
</p:sld>
</file>

<file path=ppt/slides/slide39.xml><?xml version="1.0" encoding="utf-8"?>
<p:sld xmlns:a="http://schemas.openxmlformats.org/drawingml/2006/main" xmlns:p="http://schemas.openxmlformats.org/presentationml/2006/main">
  <p:cSld>
    <p:spTree>
      <p:nvGrpSpPr>
        <p:cNvPr id="106" name=""/>
        <p:cNvGrpSpPr/>
        <p:nvPr/>
      </p:nvGrpSpPr>
      <p:grpSpPr>
        <a:xfrm>
          <a:off x="0" y="0"/>
          <a:ext cx="0" cy="0"/>
          <a:chOff x="0" y="0"/>
          <a:chExt cx="0" cy="0"/>
        </a:xfrm>
      </p:grpSpPr>
      <p:sp>
        <p:nvSpPr>
          <p:cNvPr id="107"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Configuration Items</a:t>
            </a:r>
            <a:endParaRPr lang="zh-CN">
              <a:latin typeface="PingFang SC"/>
              <a:ea typeface="PingFang SC"/>
            </a:endParaRPr>
          </a:p>
        </p:txBody>
      </p:sp>
      <p:sp>
        <p:nvSpPr>
          <p:cNvPr id="108" name=""/>
          <p:cNvSpPr txBox="true"/>
          <p:nvPr/>
        </p:nvSpPr>
        <p:spPr>
          <a:xfrm rot="0" flipH="false" flipV="false">
            <a:off x="638629" y="1394924"/>
            <a:ext cx="8470900" cy="2228850"/>
          </a:xfrm>
          <a:prstGeom prst="rect">
            <a:avLst/>
          </a:prstGeom>
          <a:ln w="6350">
            <a:prstDash val="solid"/>
          </a:ln>
        </p:spPr>
        <p:txBody>
          <a:bodyPr wrap="none">
            <a:spAutoFit/>
          </a:bodyPr>
          <a:p>
            <a:pPr marL="285750" lvl="0" indent="-285750">
              <a:buFont typeface="Arial" charset="0"/>
              <a:buChar char="•"/>
            </a:pPr>
            <a:r>
              <a:rPr lang="en-US">
                <a:solidFill>
                  <a:srgbClr val="000000">
                    <a:alpha val="100000"/>
                  </a:srgbClr>
                </a:solidFill>
                <a:latin typeface="PingFang SC"/>
                <a:ea typeface="PingFang SC"/>
              </a:rPr>
              <a:t>repl-backlog-size &lt;size&gt;</a:t>
            </a:r>
            <a:endParaRPr>
              <a:latin typeface="PingFang SC"/>
              <a:ea typeface="PingFang SC"/>
            </a:endParaRPr>
          </a:p>
          <a:p>
            <a:pPr marL="742950" lvl="1" indent="-285750">
              <a:buFont typeface="Arial" charset="0"/>
              <a:buChar char="•"/>
            </a:pPr>
            <a:r>
              <a:rPr lang="en-US">
                <a:solidFill>
                  <a:srgbClr val="000000">
                    <a:alpha val="100000"/>
                  </a:srgbClr>
                </a:solidFill>
                <a:latin typeface="PingFang SC"/>
                <a:ea typeface="PingFang SC"/>
              </a:rPr>
              <a:t>&gt;= Valkey 8.0 default is 10mb</a:t>
            </a:r>
            <a:endParaRPr>
              <a:latin typeface="PingFang SC"/>
              <a:ea typeface="PingFang SC"/>
            </a:endParaRPr>
          </a:p>
          <a:p>
            <a:pPr marL="742950" lvl="1" indent="-285750">
              <a:buFont typeface="Arial" charset="0"/>
              <a:buChar char="•"/>
            </a:pPr>
            <a:r>
              <a:rPr lang="en-US">
                <a:solidFill>
                  <a:srgbClr val="000000">
                    <a:alpha val="100000"/>
                  </a:srgbClr>
                </a:solidFill>
                <a:latin typeface="PingFang SC"/>
                <a:ea typeface="PingFang SC"/>
              </a:rPr>
              <a:t>&lt; Valkey 8.0 default is 1mb</a:t>
            </a:r>
            <a:endParaRPr>
              <a:latin typeface="PingFang SC"/>
              <a:ea typeface="PingFang SC"/>
            </a:endParaRPr>
          </a:p>
          <a:p>
            <a:pPr lvl="1" indent="0">
              <a:buNone/>
            </a:pPr>
            <a:endParaRPr lang="en-US">
              <a:solidFill>
                <a:srgbClr val="000000">
                  <a:alpha val="100000"/>
                </a:srgbClr>
              </a:solidFill>
              <a:latin typeface="PingFang SC"/>
              <a:ea typeface="PingFang SC"/>
            </a:endParaRPr>
          </a:p>
          <a:p>
            <a:pPr marL="285750" lvl="0" indent="-285750">
              <a:buFont typeface="Arial" charset="0"/>
              <a:buChar char="•"/>
            </a:pPr>
            <a:r>
              <a:rPr lang="en-US">
                <a:solidFill>
                  <a:srgbClr val="000000">
                    <a:alpha val="100000"/>
                  </a:srgbClr>
                </a:solidFill>
                <a:latin typeface="PingFang SC"/>
                <a:ea typeface="PingFang SC"/>
              </a:rPr>
              <a:t>client-output-buffer-limit &lt;class&gt; &lt;hard limit&gt; &lt;soft limit&gt; &lt;soft seconds&gt;</a:t>
            </a:r>
            <a:endParaRPr>
              <a:latin typeface="PingFang SC"/>
              <a:ea typeface="PingFang SC"/>
            </a:endParaRPr>
          </a:p>
          <a:p>
            <a:pPr marL="742950" lvl="1" indent="-285750">
              <a:buFont typeface="Arial" charset="0"/>
              <a:buChar char="•"/>
            </a:pPr>
            <a:r>
              <a:rPr lang="en-US">
                <a:solidFill>
                  <a:srgbClr val="000000">
                    <a:alpha val="100000"/>
                  </a:srgbClr>
                </a:solidFill>
                <a:latin typeface="PingFang SC"/>
                <a:ea typeface="PingFang SC"/>
              </a:rPr>
              <a:t>client-output-buffer-limit replica 256mb 64mb 60</a:t>
            </a:r>
            <a:endParaRPr>
              <a:latin typeface="PingFang SC"/>
              <a:ea typeface="PingFang SC"/>
            </a:endParaRPr>
          </a:p>
        </p:txBody>
      </p:sp>
    </p:spTree>
  </p:cSld>
  <p:clrMapOvr>
    <a:masterClrMapping/>
  </p:clrMapOvr>
</p:sld>
</file>

<file path=ppt/slides/slide40.xml><?xml version="1.0" encoding="utf-8"?>
<p:sld xmlns:a="http://schemas.openxmlformats.org/drawingml/2006/main" xmlns:p="http://schemas.openxmlformats.org/presentationml/2006/main">
  <p:cSld>
    <p:spTree>
      <p:nvGrpSpPr>
        <p:cNvPr id="109" name=""/>
        <p:cNvGrpSpPr/>
        <p:nvPr/>
      </p:nvGrpSpPr>
      <p:grpSpPr>
        <a:xfrm>
          <a:off x="0" y="0"/>
          <a:ext cx="0" cy="0"/>
          <a:chOff x="0" y="0"/>
          <a:chExt cx="0" cy="0"/>
        </a:xfrm>
      </p:grpSpPr>
      <p:sp>
        <p:nvSpPr>
          <p:cNvPr id="110"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Monitoring items</a:t>
            </a:r>
            <a:endParaRPr lang="zh-CN">
              <a:latin typeface="PingFang SC"/>
              <a:ea typeface="PingFang SC"/>
            </a:endParaRPr>
          </a:p>
        </p:txBody>
      </p:sp>
      <p:sp>
        <p:nvSpPr>
          <p:cNvPr id="111" name=""/>
          <p:cNvSpPr txBox="true"/>
          <p:nvPr/>
        </p:nvSpPr>
        <p:spPr>
          <a:xfrm rot="0" flipH="false" flipV="false">
            <a:off x="638629" y="1555750"/>
            <a:ext cx="4559300" cy="1873250"/>
          </a:xfrm>
          <a:prstGeom prst="rect">
            <a:avLst/>
          </a:prstGeom>
          <a:ln w="6350">
            <a:prstDash val="solid"/>
          </a:ln>
        </p:spPr>
        <p:txBody>
          <a:bodyPr wrap="none">
            <a:spAutoFit/>
          </a:bodyPr>
          <a:p>
            <a:pPr marL="285750" lvl="0" indent="-285750">
              <a:buFont typeface="Arial" charset="0"/>
              <a:buChar char="•"/>
            </a:pPr>
            <a:r>
              <a:rPr lang="en-US">
                <a:solidFill>
                  <a:srgbClr val="000000">
                    <a:alpha val="100000"/>
                  </a:srgbClr>
                </a:solidFill>
                <a:latin typeface="PingFang SC"/>
                <a:ea typeface="PingFang SC"/>
              </a:rPr>
              <a:t>role</a:t>
            </a:r>
            <a:endParaRPr>
              <a:latin typeface="PingFang SC"/>
              <a:ea typeface="PingFang SC"/>
            </a:endParaRPr>
          </a:p>
          <a:p>
            <a:pPr marL="742950" lvl="1" indent="-285750">
              <a:buFont typeface="Arial" charset="0"/>
              <a:buChar char="•"/>
            </a:pPr>
            <a:r>
              <a:rPr lang="en-US">
                <a:solidFill>
                  <a:srgbClr val="000000">
                    <a:alpha val="100000"/>
                  </a:srgbClr>
                </a:solidFill>
                <a:latin typeface="PingFang SC"/>
                <a:ea typeface="PingFang SC"/>
              </a:rPr>
              <a:t>https://valkey.io/commands/role/</a:t>
            </a:r>
            <a:endParaRPr>
              <a:latin typeface="PingFang SC"/>
              <a:ea typeface="PingFang SC"/>
            </a:endParaRPr>
          </a:p>
          <a:p>
            <a:pPr marL="742950" lvl="1" indent="-285750">
              <a:buFont typeface="Arial" charset="0"/>
              <a:buChar char="•"/>
            </a:pPr>
            <a:endParaRPr lang="en-US">
              <a:solidFill>
                <a:srgbClr val="000000">
                  <a:alpha val="100000"/>
                </a:srgbClr>
              </a:solidFill>
              <a:latin typeface="PingFang SC"/>
              <a:ea typeface="PingFang SC"/>
            </a:endParaRPr>
          </a:p>
          <a:p>
            <a:pPr marL="285750" lvl="0" indent="-285750">
              <a:buFont typeface="Arial" charset="0"/>
              <a:buChar char="•"/>
            </a:pPr>
            <a:r>
              <a:rPr lang="en-US">
                <a:solidFill>
                  <a:srgbClr val="000000">
                    <a:alpha val="100000"/>
                  </a:srgbClr>
                </a:solidFill>
                <a:latin typeface="PingFang SC"/>
                <a:ea typeface="PingFang SC"/>
              </a:rPr>
              <a:t>info replication</a:t>
            </a:r>
            <a:endParaRPr>
              <a:latin typeface="PingFang SC"/>
              <a:ea typeface="PingFang SC"/>
            </a:endParaRPr>
          </a:p>
          <a:p>
            <a:pPr marL="742950" lvl="1" indent="-285750">
              <a:buFont typeface="Arial" charset="0"/>
              <a:buChar char="•"/>
            </a:pPr>
            <a:r>
              <a:rPr lang="en-US">
                <a:solidFill>
                  <a:srgbClr val="000000">
                    <a:alpha val="100000"/>
                  </a:srgbClr>
                </a:solidFill>
                <a:latin typeface="PingFang SC"/>
                <a:ea typeface="PingFang SC"/>
              </a:rPr>
              <a:t>https://valkey.io/commands/info/</a:t>
            </a:r>
            <a:endParaRPr>
              <a:latin typeface="PingFang SC"/>
              <a:ea typeface="PingFang SC"/>
            </a:endParaRP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12" name=""/>
        <p:cNvGrpSpPr/>
        <p:nvPr/>
      </p:nvGrpSpPr>
      <p:grpSpPr>
        <a:xfrm>
          <a:off x="0" y="0"/>
          <a:ext cx="0" cy="0"/>
          <a:chOff x="0" y="0"/>
          <a:chExt cx="0" cy="0"/>
        </a:xfrm>
      </p:grpSpPr>
      <p:sp>
        <p:nvSpPr>
          <p:cNvPr id="113"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role command</a:t>
            </a:r>
            <a:endParaRPr lang="zh-CN">
              <a:latin typeface="PingFang SC"/>
              <a:ea typeface="PingFang SC"/>
            </a:endParaRPr>
          </a:p>
        </p:txBody>
      </p:sp>
      <p:pic>
        <p:nvPicPr>
          <p:cNvPr id="114" name=""/>
          <p:cNvPicPr>
            <a:picLocks noChangeAspect="true"/>
          </p:cNvPicPr>
          <p:nvPr/>
        </p:nvPicPr>
        <p:blipFill>
          <a:blip r:embed="rId2"/>
          <a:stretch>
            <a:fillRect/>
          </a:stretch>
        </p:blipFill>
        <p:spPr>
          <a:xfrm rot="0" flipH="false" flipV="false">
            <a:off x="1896208" y="2152650"/>
            <a:ext cx="3721100" cy="2552700"/>
          </a:xfrm>
          <a:prstGeom prst="rect"/>
        </p:spPr>
      </p:pic>
      <p:pic>
        <p:nvPicPr>
          <p:cNvPr id="115" name=""/>
          <p:cNvPicPr>
            <a:picLocks noChangeAspect="true"/>
          </p:cNvPicPr>
          <p:nvPr/>
        </p:nvPicPr>
        <p:blipFill>
          <a:blip r:embed="rId3"/>
          <a:stretch>
            <a:fillRect/>
          </a:stretch>
        </p:blipFill>
        <p:spPr>
          <a:xfrm rot="0" flipH="false" flipV="false">
            <a:off x="6574692" y="1739900"/>
            <a:ext cx="3683000" cy="3378200"/>
          </a:xfrm>
          <a:prstGeom prst="rect"/>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16" name=""/>
        <p:cNvGrpSpPr/>
        <p:nvPr/>
      </p:nvGrpSpPr>
      <p:grpSpPr>
        <a:xfrm>
          <a:off x="0" y="0"/>
          <a:ext cx="0" cy="0"/>
          <a:chOff x="0" y="0"/>
          <a:chExt cx="0" cy="0"/>
        </a:xfrm>
      </p:grpSpPr>
      <p:sp>
        <p:nvSpPr>
          <p:cNvPr id="117"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info command - primary side</a:t>
            </a:r>
            <a:endParaRPr lang="zh-CN">
              <a:latin typeface="PingFang SC"/>
              <a:ea typeface="PingFang SC"/>
            </a:endParaRPr>
          </a:p>
        </p:txBody>
      </p:sp>
      <p:pic>
        <p:nvPicPr>
          <p:cNvPr id="118" name=""/>
          <p:cNvPicPr>
            <a:picLocks noChangeAspect="true"/>
          </p:cNvPicPr>
          <p:nvPr/>
        </p:nvPicPr>
        <p:blipFill>
          <a:blip r:embed="rId2"/>
          <a:stretch>
            <a:fillRect/>
          </a:stretch>
        </p:blipFill>
        <p:spPr>
          <a:xfrm>
            <a:off x="2101850" y="1619250"/>
            <a:ext cx="7988300" cy="3619500"/>
          </a:xfrm>
          <a:prstGeom prst="rect"/>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19" name=""/>
        <p:cNvGrpSpPr/>
        <p:nvPr/>
      </p:nvGrpSpPr>
      <p:grpSpPr>
        <a:xfrm>
          <a:off x="0" y="0"/>
          <a:ext cx="0" cy="0"/>
          <a:chOff x="0" y="0"/>
          <a:chExt cx="0" cy="0"/>
        </a:xfrm>
      </p:grpSpPr>
      <p:sp>
        <p:nvSpPr>
          <p:cNvPr id="120"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info command - replica side</a:t>
            </a:r>
            <a:endParaRPr lang="zh-CN">
              <a:latin typeface="PingFang SC"/>
              <a:ea typeface="PingFang SC"/>
            </a:endParaRPr>
          </a:p>
        </p:txBody>
      </p:sp>
      <p:pic>
        <p:nvPicPr>
          <p:cNvPr id="121" name=""/>
          <p:cNvPicPr>
            <a:picLocks noChangeAspect="true"/>
          </p:cNvPicPr>
          <p:nvPr/>
        </p:nvPicPr>
        <p:blipFill>
          <a:blip r:embed="rId2"/>
          <a:stretch>
            <a:fillRect/>
          </a:stretch>
        </p:blipFill>
        <p:spPr>
          <a:xfrm rot="0" flipH="false" flipV="false">
            <a:off x="221273" y="1512724"/>
            <a:ext cx="5753100" cy="4724400"/>
          </a:xfrm>
          <a:prstGeom prst="rect"/>
        </p:spPr>
      </p:pic>
      <p:pic>
        <p:nvPicPr>
          <p:cNvPr id="122" name=""/>
          <p:cNvPicPr>
            <a:picLocks noChangeAspect="true"/>
          </p:cNvPicPr>
          <p:nvPr/>
        </p:nvPicPr>
        <p:blipFill>
          <a:blip r:embed="rId3"/>
          <a:stretch>
            <a:fillRect/>
          </a:stretch>
        </p:blipFill>
        <p:spPr>
          <a:xfrm rot="0" flipH="false" flipV="false">
            <a:off x="6217627" y="1474624"/>
            <a:ext cx="5765800" cy="4762500"/>
          </a:xfrm>
          <a:prstGeom prst="rect"/>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23" name=""/>
        <p:cNvGrpSpPr/>
        <p:nvPr/>
      </p:nvGrpSpPr>
      <p:grpSpPr>
        <a:xfrm>
          <a:off x="0" y="0"/>
          <a:ext cx="0" cy="0"/>
          <a:chOff x="0" y="0"/>
          <a:chExt cx="0" cy="0"/>
        </a:xfrm>
      </p:grpSpPr>
      <p:sp>
        <p:nvSpPr>
          <p:cNvPr id="124"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Replication memory usage - 1</a:t>
            </a:r>
            <a:endParaRPr lang="zh-CN">
              <a:latin typeface="PingFang SC"/>
              <a:ea typeface="PingFang SC"/>
            </a:endParaRPr>
          </a:p>
        </p:txBody>
      </p:sp>
      <p:pic>
        <p:nvPicPr>
          <p:cNvPr id="125" name=""/>
          <p:cNvPicPr>
            <a:picLocks noChangeAspect="true"/>
          </p:cNvPicPr>
          <p:nvPr/>
        </p:nvPicPr>
        <p:blipFill>
          <a:blip r:embed="rId2"/>
          <a:stretch>
            <a:fillRect/>
          </a:stretch>
        </p:blipFill>
        <p:spPr>
          <a:xfrm rot="0" flipH="false" flipV="false">
            <a:off x="4206875" y="1833696"/>
            <a:ext cx="7505700" cy="3949700"/>
          </a:xfrm>
          <a:prstGeom prst="rect"/>
          <a:ln w="9525">
            <a:solidFill>
              <a:srgbClr val="2f528f">
                <a:alpha val="100000"/>
              </a:srgbClr>
            </a:solidFill>
            <a:prstDash val="solid"/>
          </a:ln>
        </p:spPr>
      </p:pic>
      <p:sp>
        <p:nvSpPr>
          <p:cNvPr id="126" name=""/>
          <p:cNvSpPr txBox="true"/>
          <p:nvPr/>
        </p:nvSpPr>
        <p:spPr>
          <a:xfrm rot="0" flipH="false" flipV="false">
            <a:off x="350698" y="2871921"/>
            <a:ext cx="3606800" cy="1873250"/>
          </a:xfrm>
          <a:prstGeom prst="rect">
            <a:avLst/>
          </a:prstGeom>
          <a:ln w="6350">
            <a:prstDash val="solid"/>
          </a:ln>
        </p:spPr>
        <p:txBody>
          <a:bodyPr wrap="square">
            <a:spAutoFit/>
          </a:bodyPr>
          <a:lstStyle/>
          <a:p>
            <a:pPr/>
            <a:r>
              <a:rPr lang="zh-CN">
                <a:solidFill>
                  <a:srgbClr val="000000">
                    <a:alpha val="100000"/>
                  </a:srgbClr>
                </a:solidFill>
                <a:latin typeface="PingFang SC"/>
                <a:ea typeface="PingFang SC"/>
              </a:rPr>
              <a:t>内存是否统计进</a:t>
            </a:r>
            <a:r>
              <a:rPr lang="en-US">
                <a:solidFill>
                  <a:srgbClr val="000000">
                    <a:alpha val="100000"/>
                  </a:srgbClr>
                </a:solidFill>
                <a:latin typeface="PingFang SC"/>
                <a:ea typeface="PingFang SC"/>
              </a:rPr>
              <a:t> used_memory</a:t>
            </a:r>
            <a:r>
              <a:rPr lang="zh-CN">
                <a:solidFill>
                  <a:srgbClr val="000000">
                    <a:alpha val="100000"/>
                  </a:srgbClr>
                </a:solidFill>
                <a:latin typeface="PingFang SC"/>
                <a:ea typeface="PingFang SC"/>
              </a:rPr>
              <a:t>？</a:t>
            </a:r>
            <a:br>
              <a:rPr/>
            </a:br>
            <a:br>
              <a:rPr/>
            </a:br>
            <a:r>
              <a:rPr lang="zh-CN">
                <a:solidFill>
                  <a:srgbClr val="000000">
                    <a:alpha val="100000"/>
                  </a:srgbClr>
                </a:solidFill>
                <a:latin typeface="PingFang SC"/>
                <a:ea typeface="PingFang SC"/>
              </a:rPr>
              <a:t>在统计进</a:t>
            </a:r>
            <a:r>
              <a:rPr lang="en-US">
                <a:solidFill>
                  <a:srgbClr val="000000">
                    <a:alpha val="100000"/>
                  </a:srgbClr>
                </a:solidFill>
                <a:latin typeface="PingFang SC"/>
                <a:ea typeface="PingFang SC"/>
              </a:rPr>
              <a:t> used_memory </a:t>
            </a:r>
            <a:r>
              <a:rPr lang="zh-CN">
                <a:solidFill>
                  <a:srgbClr val="000000">
                    <a:alpha val="100000"/>
                  </a:srgbClr>
                </a:solidFill>
                <a:latin typeface="PingFang SC"/>
                <a:ea typeface="PingFang SC"/>
              </a:rPr>
              <a:t>的情况下，是否会参与</a:t>
            </a:r>
            <a:r>
              <a:rPr lang="en-US">
                <a:solidFill>
                  <a:srgbClr val="000000">
                    <a:alpha val="100000"/>
                  </a:srgbClr>
                </a:solidFill>
                <a:latin typeface="PingFang SC"/>
                <a:ea typeface="PingFang SC"/>
              </a:rPr>
              <a:t> maxmemory </a:t>
            </a:r>
            <a:r>
              <a:rPr lang="zh-CN">
                <a:solidFill>
                  <a:srgbClr val="000000">
                    <a:alpha val="100000"/>
                  </a:srgbClr>
                </a:solidFill>
                <a:latin typeface="PingFang SC"/>
                <a:ea typeface="PingFang SC"/>
              </a:rPr>
              <a:t>计算？</a:t>
            </a:r>
            <a:endParaRPr/>
          </a:p>
        </p:txBody>
      </p:sp>
    </p:spTree>
  </p:cSld>
  <p:clrMapOvr>
    <a:masterClrMapping/>
  </p:clrMapOvr>
</p:sld>
</file>

<file path=ppt/slides/slide45.xml><?xml version="1.0" encoding="utf-8"?>
<p:sld xmlns:a="http://schemas.openxmlformats.org/drawingml/2006/main" xmlns:p="http://schemas.openxmlformats.org/presentationml/2006/main">
  <p:cSld>
    <p:spTree>
      <p:nvGrpSpPr>
        <p:cNvPr id="127" name=""/>
        <p:cNvGrpSpPr/>
        <p:nvPr/>
      </p:nvGrpSpPr>
      <p:grpSpPr>
        <a:xfrm>
          <a:off x="0" y="0"/>
          <a:ext cx="0" cy="0"/>
          <a:chOff x="0" y="0"/>
          <a:chExt cx="0" cy="0"/>
        </a:xfrm>
      </p:grpSpPr>
      <p:sp>
        <p:nvSpPr>
          <p:cNvPr id="128"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Replication memory usage - 2</a:t>
            </a:r>
            <a:endParaRPr lang="zh-CN">
              <a:latin typeface="PingFang SC"/>
              <a:ea typeface="PingFang SC"/>
            </a:endParaRPr>
          </a:p>
        </p:txBody>
      </p:sp>
      <p:sp>
        <p:nvSpPr>
          <p:cNvPr id="129" name=""/>
          <p:cNvSpPr txBox="true"/>
          <p:nvPr/>
        </p:nvSpPr>
        <p:spPr>
          <a:xfrm rot="0" flipH="false" flipV="false">
            <a:off x="638629" y="1082644"/>
            <a:ext cx="9055100" cy="5797550"/>
          </a:xfrm>
          <a:prstGeom prst="rect">
            <a:avLst/>
          </a:prstGeom>
          <a:ln w="6350">
            <a:prstDash val="solid"/>
          </a:ln>
        </p:spPr>
        <p:txBody>
          <a:bodyPr wrap="square">
            <a:spAutoFit/>
          </a:bodyPr>
          <a:lstStyle/>
          <a:p>
            <a:pPr marL="285750" lvl="0" indent="-285750">
              <a:buFont typeface="Arial" charset="0"/>
              <a:buChar char="•"/>
            </a:pPr>
            <a:r>
              <a:rPr lang="en-US">
                <a:solidFill>
                  <a:srgbClr val="000000">
                    <a:alpha val="100000"/>
                  </a:srgbClr>
                </a:solidFill>
                <a:latin typeface="PingFang SC"/>
                <a:ea typeface="PingFang SC"/>
              </a:rPr>
              <a:t>Replication Backlog</a:t>
            </a:r>
            <a:r>
              <a:rPr lang="zh-CN">
                <a:solidFill>
                  <a:srgbClr val="000000">
                    <a:alpha val="100000"/>
                  </a:srgbClr>
                </a:solidFill>
                <a:latin typeface="PingFang SC"/>
                <a:ea typeface="PingFang SC"/>
              </a:rPr>
              <a:t>（</a:t>
            </a:r>
            <a:r>
              <a:rPr lang="en-US">
                <a:solidFill>
                  <a:srgbClr val="000000">
                    <a:alpha val="100000"/>
                  </a:srgbClr>
                </a:solidFill>
                <a:latin typeface="PingFang SC"/>
                <a:ea typeface="PingFang SC"/>
              </a:rPr>
              <a:t>&lt; 7.0</a:t>
            </a:r>
            <a:r>
              <a:rPr lang="zh-CN">
                <a:solidFill>
                  <a:srgbClr val="000000">
                    <a:alpha val="100000"/>
                  </a:srgbClr>
                </a:solidFill>
                <a:latin typeface="PingFang SC"/>
                <a:ea typeface="PingFang SC"/>
              </a:rPr>
              <a:t>）</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是一个提前分配的环形缓冲区</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被所有副本共享</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会统计进</a:t>
            </a:r>
            <a:r>
              <a:rPr lang="en-US">
                <a:solidFill>
                  <a:srgbClr val="000000">
                    <a:alpha val="100000"/>
                  </a:srgbClr>
                </a:solidFill>
                <a:latin typeface="PingFang SC"/>
                <a:ea typeface="PingFang SC"/>
              </a:rPr>
              <a:t> used_memory</a:t>
            </a:r>
            <a:r>
              <a:rPr lang="zh-CN">
                <a:solidFill>
                  <a:srgbClr val="000000">
                    <a:alpha val="100000"/>
                  </a:srgbClr>
                </a:solidFill>
                <a:latin typeface="PingFang SC"/>
                <a:ea typeface="PingFang SC"/>
              </a:rPr>
              <a:t>，会参与</a:t>
            </a:r>
            <a:r>
              <a:rPr lang="en-US">
                <a:solidFill>
                  <a:srgbClr val="000000">
                    <a:alpha val="100000"/>
                  </a:srgbClr>
                </a:solidFill>
                <a:latin typeface="PingFang SC"/>
                <a:ea typeface="PingFang SC"/>
              </a:rPr>
              <a:t> maxmemory </a:t>
            </a:r>
            <a:r>
              <a:rPr lang="zh-CN">
                <a:solidFill>
                  <a:srgbClr val="000000">
                    <a:alpha val="100000"/>
                  </a:srgbClr>
                </a:solidFill>
                <a:latin typeface="PingFang SC"/>
                <a:ea typeface="PingFang SC"/>
              </a:rPr>
              <a:t>计算</a:t>
            </a:r>
            <a:endParaRPr>
              <a:latin typeface="PingFang SC"/>
              <a:ea typeface="PingFang SC"/>
            </a:endParaRPr>
          </a:p>
          <a:p>
            <a:pPr marL="742950" lvl="1" indent="-285750">
              <a:buFont typeface="Arial" charset="0"/>
              <a:buChar char="•"/>
            </a:pPr>
            <a:r>
              <a:rPr lang="en-US">
                <a:solidFill>
                  <a:srgbClr val="000000">
                    <a:alpha val="100000"/>
                  </a:srgbClr>
                </a:solidFill>
                <a:latin typeface="PingFang SC"/>
                <a:ea typeface="PingFang SC"/>
              </a:rPr>
              <a:t>info field: mem_replication_backlog</a:t>
            </a:r>
            <a:endParaRPr>
              <a:latin typeface="PingFang SC"/>
              <a:ea typeface="PingFang SC"/>
            </a:endParaRPr>
          </a:p>
          <a:p>
            <a:pPr lvl="1" indent="0">
              <a:buNone/>
            </a:pPr>
            <a:endParaRPr lang="zh-CN">
              <a:solidFill>
                <a:srgbClr val="000000">
                  <a:alpha val="100000"/>
                </a:srgbClr>
              </a:solidFill>
              <a:latin typeface="PingFang SC"/>
              <a:ea typeface="PingFang SC"/>
            </a:endParaRPr>
          </a:p>
          <a:p>
            <a:pPr marL="285750" lvl="0" indent="-285750">
              <a:buFont typeface="Arial" charset="0"/>
              <a:buChar char="•"/>
            </a:pPr>
            <a:r>
              <a:rPr lang="en-US">
                <a:solidFill>
                  <a:srgbClr val="000000">
                    <a:alpha val="100000"/>
                  </a:srgbClr>
                </a:solidFill>
                <a:latin typeface="PingFang SC"/>
                <a:ea typeface="PingFang SC"/>
              </a:rPr>
              <a:t>Replica Client Output Buffer</a:t>
            </a:r>
            <a:r>
              <a:rPr lang="zh-CN">
                <a:solidFill>
                  <a:srgbClr val="000000">
                    <a:alpha val="100000"/>
                  </a:srgbClr>
                </a:solidFill>
                <a:latin typeface="PingFang SC"/>
                <a:ea typeface="PingFang SC"/>
              </a:rPr>
              <a:t>（</a:t>
            </a:r>
            <a:r>
              <a:rPr lang="en-US">
                <a:solidFill>
                  <a:srgbClr val="000000">
                    <a:alpha val="100000"/>
                  </a:srgbClr>
                </a:solidFill>
                <a:latin typeface="PingFang SC"/>
                <a:ea typeface="PingFang SC"/>
              </a:rPr>
              <a:t>&lt; 7.0</a:t>
            </a:r>
            <a:r>
              <a:rPr lang="zh-CN">
                <a:solidFill>
                  <a:srgbClr val="000000">
                    <a:alpha val="100000"/>
                  </a:srgbClr>
                </a:solidFill>
                <a:latin typeface="PingFang SC"/>
                <a:ea typeface="PingFang SC"/>
              </a:rPr>
              <a:t>）</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每个副本都会有自己的客户端输出缓冲区</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有</a:t>
            </a:r>
            <a:r>
              <a:rPr lang="en-US">
                <a:solidFill>
                  <a:srgbClr val="000000">
                    <a:alpha val="100000"/>
                  </a:srgbClr>
                </a:solidFill>
                <a:latin typeface="PingFang SC"/>
                <a:ea typeface="PingFang SC"/>
              </a:rPr>
              <a:t> hard limit </a:t>
            </a:r>
            <a:r>
              <a:rPr lang="zh-CN">
                <a:solidFill>
                  <a:srgbClr val="000000">
                    <a:alpha val="100000"/>
                  </a:srgbClr>
                </a:solidFill>
                <a:latin typeface="PingFang SC"/>
                <a:ea typeface="PingFang SC"/>
              </a:rPr>
              <a:t>和</a:t>
            </a:r>
            <a:r>
              <a:rPr lang="en-US">
                <a:solidFill>
                  <a:srgbClr val="000000">
                    <a:alpha val="100000"/>
                  </a:srgbClr>
                </a:solidFill>
                <a:latin typeface="PingFang SC"/>
                <a:ea typeface="PingFang SC"/>
              </a:rPr>
              <a:t> soft limit </a:t>
            </a:r>
            <a:r>
              <a:rPr lang="zh-CN">
                <a:solidFill>
                  <a:srgbClr val="000000">
                    <a:alpha val="100000"/>
                  </a:srgbClr>
                </a:solidFill>
                <a:latin typeface="PingFang SC"/>
                <a:ea typeface="PingFang SC"/>
              </a:rPr>
              <a:t>限制慢副本连接输出缓冲区的内存占用</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会统计进</a:t>
            </a:r>
            <a:r>
              <a:rPr lang="en-US">
                <a:solidFill>
                  <a:srgbClr val="000000">
                    <a:alpha val="100000"/>
                  </a:srgbClr>
                </a:solidFill>
                <a:latin typeface="PingFang SC"/>
                <a:ea typeface="PingFang SC"/>
              </a:rPr>
              <a:t> used_memory</a:t>
            </a:r>
            <a:r>
              <a:rPr lang="zh-CN">
                <a:solidFill>
                  <a:srgbClr val="000000">
                    <a:alpha val="100000"/>
                  </a:srgbClr>
                </a:solidFill>
                <a:latin typeface="PingFang SC"/>
                <a:ea typeface="PingFang SC"/>
              </a:rPr>
              <a:t>，但不会参与</a:t>
            </a:r>
            <a:r>
              <a:rPr lang="en-US">
                <a:solidFill>
                  <a:srgbClr val="000000">
                    <a:alpha val="100000"/>
                  </a:srgbClr>
                </a:solidFill>
                <a:latin typeface="PingFang SC"/>
                <a:ea typeface="PingFang SC"/>
              </a:rPr>
              <a:t> maxmemory </a:t>
            </a:r>
            <a:r>
              <a:rPr lang="zh-CN">
                <a:solidFill>
                  <a:srgbClr val="000000">
                    <a:alpha val="100000"/>
                  </a:srgbClr>
                </a:solidFill>
                <a:latin typeface="PingFang SC"/>
                <a:ea typeface="PingFang SC"/>
              </a:rPr>
              <a:t>计算</a:t>
            </a:r>
            <a:endParaRPr>
              <a:latin typeface="PingFang SC"/>
              <a:ea typeface="PingFang SC"/>
            </a:endParaRPr>
          </a:p>
          <a:p>
            <a:pPr marL="742950" lvl="1" indent="-285750">
              <a:buFont typeface="Arial" charset="0"/>
              <a:buChar char="•"/>
            </a:pPr>
            <a:r>
              <a:rPr lang="en-US">
                <a:solidFill>
                  <a:srgbClr val="000000">
                    <a:alpha val="100000"/>
                  </a:srgbClr>
                </a:solidFill>
                <a:latin typeface="PingFang SC"/>
                <a:ea typeface="PingFang SC"/>
              </a:rPr>
              <a:t>info field: mem_clients_slaves</a:t>
            </a:r>
            <a:endParaRPr>
              <a:latin typeface="PingFang SC"/>
              <a:ea typeface="PingFang SC"/>
            </a:endParaRPr>
          </a:p>
          <a:p>
            <a:pPr marL="742950" lvl="1" indent="-285750">
              <a:buFont typeface="Arial" charset="0"/>
              <a:buChar char="•"/>
            </a:pPr>
            <a:r>
              <a:rPr lang="en-US">
                <a:solidFill>
                  <a:srgbClr val="000000">
                    <a:alpha val="100000"/>
                  </a:srgbClr>
                </a:solidFill>
                <a:latin typeface="PingFang SC"/>
                <a:ea typeface="PingFang SC"/>
              </a:rPr>
              <a:t>info field: mem_not_counted_for_evict</a:t>
            </a:r>
            <a:endParaRPr>
              <a:latin typeface="PingFang SC"/>
              <a:ea typeface="PingFang SC"/>
            </a:endParaRPr>
          </a:p>
          <a:p>
            <a:pPr lvl="0" indent="0">
              <a:buNone/>
            </a:pPr>
            <a:endParaRPr lang="en-US">
              <a:solidFill>
                <a:srgbClr val="000000">
                  <a:alpha val="100000"/>
                </a:srgbClr>
              </a:solidFill>
              <a:latin typeface="PingFang SC"/>
              <a:ea typeface="PingFang SC"/>
            </a:endParaRPr>
          </a:p>
          <a:p>
            <a:pPr marL="285750" lvl="0" indent="-285750">
              <a:buFont typeface="Arial" charset="0"/>
              <a:buChar char="•"/>
            </a:pPr>
            <a:r>
              <a:rPr lang="en-US">
                <a:solidFill>
                  <a:srgbClr val="000000">
                    <a:alpha val="100000"/>
                  </a:srgbClr>
                </a:solidFill>
                <a:latin typeface="PingFang SC"/>
                <a:ea typeface="PingFang SC"/>
              </a:rPr>
              <a:t>Global Replication Buffer</a:t>
            </a:r>
            <a:r>
              <a:rPr lang="zh-CN">
                <a:solidFill>
                  <a:srgbClr val="000000">
                    <a:alpha val="100000"/>
                  </a:srgbClr>
                </a:solidFill>
                <a:latin typeface="PingFang SC"/>
                <a:ea typeface="PingFang SC"/>
              </a:rPr>
              <a:t>（</a:t>
            </a:r>
            <a:r>
              <a:rPr lang="en-US">
                <a:solidFill>
                  <a:srgbClr val="000000">
                    <a:alpha val="100000"/>
                  </a:srgbClr>
                </a:solidFill>
                <a:latin typeface="PingFang SC"/>
                <a:ea typeface="PingFang SC"/>
              </a:rPr>
              <a:t>&gt;= 7.0</a:t>
            </a:r>
            <a:r>
              <a:rPr lang="zh-CN">
                <a:solidFill>
                  <a:srgbClr val="000000">
                    <a:alpha val="100000"/>
                  </a:srgbClr>
                </a:solidFill>
                <a:latin typeface="PingFang SC"/>
                <a:ea typeface="PingFang SC"/>
              </a:rPr>
              <a:t>）</a:t>
            </a:r>
            <a:endParaRPr sz="1800">
              <a:solidFill>
                <a:schemeClr val="tx1">
                  <a:alpha val="100000"/>
                </a:schemeClr>
              </a:solidFill>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复制积压缓冲区和所有副本客户端输出缓冲区，共享同一个全局复制缓冲区</a:t>
            </a:r>
            <a:endParaRPr>
              <a:latin typeface="PingFang SC"/>
              <a:ea typeface="PingFang SC"/>
            </a:endParaRPr>
          </a:p>
          <a:p>
            <a:pPr marL="742950" lvl="1" indent="-285750">
              <a:buFont typeface="Arial" charset="0"/>
              <a:buChar char="•"/>
            </a:pPr>
            <a:r>
              <a:rPr lang="en-US">
                <a:solidFill>
                  <a:srgbClr val="000000">
                    <a:alpha val="100000"/>
                  </a:srgbClr>
                </a:solidFill>
                <a:latin typeface="PingFang SC"/>
                <a:ea typeface="PingFang SC"/>
              </a:rPr>
              <a:t>info field: mem_total_replication_buffers</a:t>
            </a:r>
            <a:endParaRPr sz="1800">
              <a:solidFill>
                <a:schemeClr val="tx1">
                  <a:alpha val="100000"/>
                </a:schemeClr>
              </a:solidFill>
              <a:latin typeface="PingFang SC"/>
              <a:ea typeface="PingFang SC"/>
            </a:endParaRPr>
          </a:p>
        </p:txBody>
      </p:sp>
    </p:spTree>
  </p:cSld>
  <p:clrMapOvr>
    <a:masterClrMapping/>
  </p:clrMapOvr>
</p:sld>
</file>

<file path=ppt/slides/slide46.xml><?xml version="1.0" encoding="utf-8"?>
<p:sld xmlns:a="http://schemas.openxmlformats.org/drawingml/2006/main" xmlns:p="http://schemas.openxmlformats.org/presentationml/2006/main">
  <p:cSld>
    <p:spTree>
      <p:nvGrpSpPr>
        <p:cNvPr id="130" name=""/>
        <p:cNvGrpSpPr/>
        <p:nvPr/>
      </p:nvGrpSpPr>
      <p:grpSpPr>
        <a:xfrm>
          <a:off x="0" y="0"/>
          <a:ext cx="0" cy="0"/>
          <a:chOff x="0" y="0"/>
          <a:chExt cx="0" cy="0"/>
        </a:xfrm>
      </p:grpSpPr>
      <p:sp>
        <p:nvSpPr>
          <p:cNvPr id="131"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Replication issues</a:t>
            </a:r>
            <a:endParaRPr lang="zh-CN">
              <a:latin typeface="PingFang SC"/>
              <a:ea typeface="PingFang SC"/>
            </a:endParaRPr>
          </a:p>
        </p:txBody>
      </p:sp>
      <p:sp>
        <p:nvSpPr>
          <p:cNvPr id="132" name=""/>
          <p:cNvSpPr txBox="true"/>
          <p:nvPr/>
        </p:nvSpPr>
        <p:spPr>
          <a:xfrm rot="0" flipH="false" flipV="false">
            <a:off x="638629" y="1606432"/>
            <a:ext cx="9677400" cy="4013200"/>
          </a:xfrm>
          <a:prstGeom prst="rect"/>
        </p:spPr>
        <p:txBody>
          <a:bodyPr>
            <a:spAutoFit/>
          </a:bodyPr>
          <a:p>
            <a:pPr marL="285750" lvl="0" indent="-285750">
              <a:buFont typeface="Arial" charset="0"/>
              <a:buChar char="•"/>
            </a:pPr>
            <a:r>
              <a:rPr lang="zh-CN">
                <a:solidFill>
                  <a:srgbClr val="000000">
                    <a:alpha val="100000"/>
                  </a:srgbClr>
                </a:solidFill>
                <a:latin typeface="PingFang SC"/>
                <a:ea typeface="PingFang SC"/>
              </a:rPr>
              <a:t>副本落后太多无法</a:t>
            </a:r>
            <a:r>
              <a:rPr lang="en-US">
                <a:solidFill>
                  <a:srgbClr val="000000">
                    <a:alpha val="100000"/>
                  </a:srgbClr>
                </a:solidFill>
                <a:latin typeface="PingFang SC"/>
                <a:ea typeface="PingFang SC"/>
              </a:rPr>
              <a:t> psync</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副本节点落后太久，由于缺少复制积压数据，无法进行</a:t>
            </a:r>
            <a:r>
              <a:rPr lang="en-US">
                <a:solidFill>
                  <a:srgbClr val="000000">
                    <a:alpha val="100000"/>
                  </a:srgbClr>
                </a:solidFill>
                <a:latin typeface="PingFang SC"/>
                <a:ea typeface="PingFang SC"/>
              </a:rPr>
              <a:t> psync </a:t>
            </a:r>
            <a:r>
              <a:rPr lang="zh-CN">
                <a:solidFill>
                  <a:srgbClr val="000000">
                    <a:alpha val="100000"/>
                  </a:srgbClr>
                </a:solidFill>
                <a:latin typeface="PingFang SC"/>
                <a:ea typeface="PingFang SC"/>
              </a:rPr>
              <a:t>只能</a:t>
            </a:r>
            <a:r>
              <a:rPr lang="en-US">
                <a:solidFill>
                  <a:srgbClr val="000000">
                    <a:alpha val="100000"/>
                  </a:srgbClr>
                </a:solidFill>
                <a:latin typeface="PingFang SC"/>
                <a:ea typeface="PingFang SC"/>
              </a:rPr>
              <a:t> full sync</a:t>
            </a:r>
            <a:endParaRPr>
              <a:latin typeface="PingFang SC"/>
              <a:ea typeface="PingFang SC"/>
            </a:endParaRPr>
          </a:p>
          <a:p>
            <a:pPr marL="285750" lvl="0" indent="-285750">
              <a:buFont typeface="Arial" charset="0"/>
              <a:buChar char="•"/>
            </a:pPr>
            <a:endParaRPr lang="en-US">
              <a:solidFill>
                <a:srgbClr val="000000">
                  <a:alpha val="100000"/>
                </a:srgbClr>
              </a:solidFill>
              <a:latin typeface="PingFang SC"/>
              <a:ea typeface="PingFang SC"/>
            </a:endParaRPr>
          </a:p>
          <a:p>
            <a:pPr marL="285750" lvl="0" indent="-285750">
              <a:buFont typeface="Arial" charset="0"/>
              <a:buChar char="•"/>
            </a:pPr>
            <a:r>
              <a:rPr lang="zh-CN">
                <a:solidFill>
                  <a:srgbClr val="000000">
                    <a:alpha val="100000"/>
                  </a:srgbClr>
                </a:solidFill>
                <a:latin typeface="PingFang SC"/>
                <a:ea typeface="PingFang SC"/>
              </a:rPr>
              <a:t>慢副本因</a:t>
            </a:r>
            <a:r>
              <a:rPr lang="en-US">
                <a:solidFill>
                  <a:srgbClr val="000000">
                    <a:alpha val="100000"/>
                  </a:srgbClr>
                </a:solidFill>
                <a:latin typeface="PingFang SC"/>
                <a:ea typeface="PingFang SC"/>
              </a:rPr>
              <a:t> COB </a:t>
            </a:r>
            <a:r>
              <a:rPr lang="zh-CN">
                <a:solidFill>
                  <a:srgbClr val="000000">
                    <a:alpha val="100000"/>
                  </a:srgbClr>
                </a:solidFill>
                <a:latin typeface="PingFang SC"/>
                <a:ea typeface="PingFang SC"/>
              </a:rPr>
              <a:t>限制被断连</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慢副本在线期间消费太慢，因为</a:t>
            </a:r>
            <a:r>
              <a:rPr lang="en-US">
                <a:solidFill>
                  <a:srgbClr val="000000">
                    <a:alpha val="100000"/>
                  </a:srgbClr>
                </a:solidFill>
                <a:latin typeface="PingFang SC"/>
                <a:ea typeface="PingFang SC"/>
              </a:rPr>
              <a:t> client output buffer limit </a:t>
            </a:r>
            <a:r>
              <a:rPr lang="zh-CN">
                <a:solidFill>
                  <a:srgbClr val="000000">
                    <a:alpha val="100000"/>
                  </a:srgbClr>
                </a:solidFill>
                <a:latin typeface="PingFang SC"/>
                <a:ea typeface="PingFang SC"/>
              </a:rPr>
              <a:t>限制被主节点断连</a:t>
            </a:r>
            <a:endParaRPr>
              <a:latin typeface="PingFang SC"/>
              <a:ea typeface="PingFang SC"/>
            </a:endParaRPr>
          </a:p>
          <a:p>
            <a:pPr marL="285750" lvl="0" indent="-285750">
              <a:buFont typeface="Arial" charset="0"/>
              <a:buChar char="•"/>
            </a:pPr>
            <a:endParaRPr lang="en-US">
              <a:solidFill>
                <a:srgbClr val="000000">
                  <a:alpha val="100000"/>
                </a:srgbClr>
              </a:solidFill>
              <a:latin typeface="PingFang SC"/>
              <a:ea typeface="PingFang SC"/>
            </a:endParaRPr>
          </a:p>
          <a:p>
            <a:pPr marL="285750" lvl="0" indent="-285750">
              <a:buFont typeface="Arial" charset="0"/>
              <a:buChar char="•"/>
            </a:pPr>
            <a:r>
              <a:rPr lang="zh-CN">
                <a:solidFill>
                  <a:srgbClr val="000000">
                    <a:alpha val="100000"/>
                  </a:srgbClr>
                </a:solidFill>
                <a:latin typeface="PingFang SC"/>
                <a:ea typeface="PingFang SC"/>
              </a:rPr>
              <a:t>副本主从复制反复</a:t>
            </a:r>
            <a:r>
              <a:rPr lang="en-US">
                <a:solidFill>
                  <a:srgbClr val="000000">
                    <a:alpha val="100000"/>
                  </a:srgbClr>
                </a:solidFill>
                <a:latin typeface="PingFang SC"/>
                <a:ea typeface="PingFang SC"/>
              </a:rPr>
              <a:t> full sync</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副本</a:t>
            </a:r>
            <a:r>
              <a:rPr lang="en-US">
                <a:solidFill>
                  <a:srgbClr val="000000">
                    <a:alpha val="100000"/>
                  </a:srgbClr>
                </a:solidFill>
                <a:latin typeface="PingFang SC"/>
                <a:ea typeface="PingFang SC"/>
              </a:rPr>
              <a:t> full sync </a:t>
            </a:r>
            <a:r>
              <a:rPr lang="zh-CN">
                <a:solidFill>
                  <a:srgbClr val="000000">
                    <a:alpha val="100000"/>
                  </a:srgbClr>
                </a:solidFill>
                <a:latin typeface="PingFang SC"/>
                <a:ea typeface="PingFang SC"/>
              </a:rPr>
              <a:t>期间因为</a:t>
            </a:r>
            <a:r>
              <a:rPr lang="en-US">
                <a:solidFill>
                  <a:srgbClr val="000000">
                    <a:alpha val="100000"/>
                  </a:srgbClr>
                </a:solidFill>
                <a:latin typeface="PingFang SC"/>
                <a:ea typeface="PingFang SC"/>
              </a:rPr>
              <a:t> client output buffer limit </a:t>
            </a:r>
            <a:r>
              <a:rPr lang="zh-CN">
                <a:solidFill>
                  <a:srgbClr val="000000">
                    <a:alpha val="100000"/>
                  </a:srgbClr>
                </a:solidFill>
                <a:latin typeface="PingFang SC"/>
                <a:ea typeface="PingFang SC"/>
              </a:rPr>
              <a:t>限制失败，反复做</a:t>
            </a:r>
            <a:r>
              <a:rPr lang="en-US">
                <a:solidFill>
                  <a:srgbClr val="000000">
                    <a:alpha val="100000"/>
                  </a:srgbClr>
                </a:solidFill>
                <a:latin typeface="PingFang SC"/>
                <a:ea typeface="PingFang SC"/>
              </a:rPr>
              <a:t> full sync</a:t>
            </a:r>
            <a:endParaRPr>
              <a:latin typeface="PingFang SC"/>
              <a:ea typeface="PingFang SC"/>
            </a:endParaRPr>
          </a:p>
          <a:p>
            <a:pPr marL="285750" lvl="0" indent="-285750">
              <a:buFont typeface="Arial" charset="0"/>
              <a:buChar char="•"/>
            </a:pPr>
            <a:endParaRPr lang="en-US">
              <a:solidFill>
                <a:srgbClr val="000000">
                  <a:alpha val="100000"/>
                </a:srgbClr>
              </a:solidFill>
              <a:latin typeface="PingFang SC"/>
              <a:ea typeface="PingFang SC"/>
            </a:endParaRPr>
          </a:p>
          <a:p>
            <a:pPr marL="285750" lvl="0" indent="-285750">
              <a:buFont typeface="Arial" charset="0"/>
              <a:buChar char="•"/>
            </a:pPr>
            <a:r>
              <a:rPr lang="zh-CN">
                <a:solidFill>
                  <a:srgbClr val="000000">
                    <a:alpha val="100000"/>
                  </a:srgbClr>
                </a:solidFill>
                <a:latin typeface="PingFang SC"/>
                <a:ea typeface="PingFang SC"/>
              </a:rPr>
              <a:t>不限制</a:t>
            </a:r>
            <a:r>
              <a:rPr lang="en-US">
                <a:solidFill>
                  <a:srgbClr val="000000">
                    <a:alpha val="100000"/>
                  </a:srgbClr>
                </a:solidFill>
                <a:latin typeface="PingFang SC"/>
                <a:ea typeface="PingFang SC"/>
              </a:rPr>
              <a:t> replica COB</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不限制</a:t>
            </a:r>
            <a:r>
              <a:rPr lang="en-US">
                <a:solidFill>
                  <a:srgbClr val="000000">
                    <a:alpha val="100000"/>
                  </a:srgbClr>
                </a:solidFill>
                <a:latin typeface="PingFang SC"/>
                <a:ea typeface="PingFang SC"/>
              </a:rPr>
              <a:t> replica client output buffer limit </a:t>
            </a:r>
            <a:r>
              <a:rPr lang="zh-CN">
                <a:solidFill>
                  <a:srgbClr val="000000">
                    <a:alpha val="100000"/>
                  </a:srgbClr>
                </a:solidFill>
                <a:latin typeface="PingFang SC"/>
                <a:ea typeface="PingFang SC"/>
              </a:rPr>
              <a:t>对主节点内存的影响</a:t>
            </a:r>
            <a:endParaRPr>
              <a:latin typeface="PingFang SC"/>
              <a:ea typeface="PingFang SC"/>
            </a:endParaRP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33" name=""/>
        <p:cNvGrpSpPr/>
        <p:nvPr/>
      </p:nvGrpSpPr>
      <p:grpSpPr>
        <a:xfrm>
          <a:off x="0" y="0"/>
          <a:ext cx="0" cy="0"/>
          <a:chOff x="0" y="0"/>
          <a:chExt cx="0" cy="0"/>
        </a:xfrm>
      </p:grpSpPr>
      <p:sp>
        <p:nvSpPr>
          <p:cNvPr id="134"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zh-CN">
                <a:latin typeface="PingFang SC"/>
                <a:ea typeface="PingFang SC"/>
              </a:rPr>
              <a:t>副本落后太多无法</a:t>
            </a:r>
            <a:r>
              <a:rPr lang="en-US">
                <a:latin typeface="PingFang SC"/>
                <a:ea typeface="PingFang SC"/>
              </a:rPr>
              <a:t> psync - </a:t>
            </a:r>
            <a:r>
              <a:rPr lang="zh-CN">
                <a:latin typeface="PingFang SC"/>
                <a:ea typeface="PingFang SC"/>
              </a:rPr>
              <a:t>副本节点日志</a:t>
            </a:r>
            <a:endParaRPr lang="zh-CN">
              <a:latin typeface="PingFang SC"/>
              <a:ea typeface="PingFang SC"/>
            </a:endParaRPr>
          </a:p>
        </p:txBody>
      </p:sp>
      <p:pic>
        <p:nvPicPr>
          <p:cNvPr id="135" name=""/>
          <p:cNvPicPr>
            <a:picLocks noChangeAspect="true"/>
          </p:cNvPicPr>
          <p:nvPr/>
        </p:nvPicPr>
        <p:blipFill>
          <a:blip r:embed="rId2"/>
          <a:stretch>
            <a:fillRect/>
          </a:stretch>
        </p:blipFill>
        <p:spPr>
          <a:xfrm>
            <a:off x="0" y="2167146"/>
            <a:ext cx="12192000" cy="2523708"/>
          </a:xfrm>
          <a:prstGeom prst="rect"/>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36" name=""/>
        <p:cNvGrpSpPr/>
        <p:nvPr/>
      </p:nvGrpSpPr>
      <p:grpSpPr>
        <a:xfrm>
          <a:off x="0" y="0"/>
          <a:ext cx="0" cy="0"/>
          <a:chOff x="0" y="0"/>
          <a:chExt cx="0" cy="0"/>
        </a:xfrm>
      </p:grpSpPr>
      <p:sp>
        <p:nvSpPr>
          <p:cNvPr id="137"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zh-CN">
                <a:latin typeface="PingFang SC"/>
                <a:ea typeface="PingFang SC"/>
              </a:rPr>
              <a:t>副本落后太多无法</a:t>
            </a:r>
            <a:r>
              <a:rPr lang="en-US">
                <a:latin typeface="PingFang SC"/>
                <a:ea typeface="PingFang SC"/>
              </a:rPr>
              <a:t> psync - </a:t>
            </a:r>
            <a:r>
              <a:rPr lang="zh-CN">
                <a:latin typeface="PingFang SC"/>
                <a:ea typeface="PingFang SC"/>
              </a:rPr>
              <a:t>主节点日志</a:t>
            </a:r>
            <a:endParaRPr lang="zh-CN">
              <a:latin typeface="PingFang SC"/>
              <a:ea typeface="PingFang SC"/>
            </a:endParaRPr>
          </a:p>
        </p:txBody>
      </p:sp>
      <p:pic>
        <p:nvPicPr>
          <p:cNvPr id="138" name=""/>
          <p:cNvPicPr>
            <a:picLocks noChangeAspect="true"/>
          </p:cNvPicPr>
          <p:nvPr/>
        </p:nvPicPr>
        <p:blipFill>
          <a:blip r:embed="rId2"/>
          <a:stretch>
            <a:fillRect/>
          </a:stretch>
        </p:blipFill>
        <p:spPr>
          <a:xfrm rot="0" flipH="false" flipV="false">
            <a:off x="90890" y="1636957"/>
            <a:ext cx="12010220" cy="4171581"/>
          </a:xfrm>
          <a:prstGeom prst="rect"/>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42" name=""/>
        <p:cNvGrpSpPr/>
        <p:nvPr/>
      </p:nvGrpSpPr>
      <p:grpSpPr>
        <a:xfrm>
          <a:off x="0" y="0"/>
          <a:ext cx="0" cy="0"/>
          <a:chOff x="0" y="0"/>
          <a:chExt cx="0" cy="0"/>
        </a:xfrm>
      </p:grpSpPr>
      <p:sp>
        <p:nvSpPr>
          <p:cNvPr id="143"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zh-CN">
                <a:latin typeface="PingFang SC"/>
                <a:ea typeface="PingFang SC"/>
              </a:rPr>
              <a:t>慢副本因</a:t>
            </a:r>
            <a:r>
              <a:rPr lang="en-US">
                <a:latin typeface="PingFang SC"/>
                <a:ea typeface="PingFang SC"/>
              </a:rPr>
              <a:t> COB </a:t>
            </a:r>
            <a:r>
              <a:rPr lang="zh-CN">
                <a:latin typeface="PingFang SC"/>
                <a:ea typeface="PingFang SC"/>
              </a:rPr>
              <a:t>限制被断连</a:t>
            </a:r>
            <a:r>
              <a:rPr lang="en-US">
                <a:latin typeface="PingFang SC"/>
                <a:ea typeface="PingFang SC"/>
              </a:rPr>
              <a:t> - </a:t>
            </a:r>
            <a:r>
              <a:rPr lang="zh-CN">
                <a:latin typeface="PingFang SC"/>
                <a:ea typeface="PingFang SC"/>
              </a:rPr>
              <a:t>主节点日志</a:t>
            </a:r>
            <a:endParaRPr lang="zh-CN">
              <a:latin typeface="PingFang SC"/>
              <a:ea typeface="PingFang SC"/>
            </a:endParaRPr>
          </a:p>
        </p:txBody>
      </p:sp>
      <p:pic>
        <p:nvPicPr>
          <p:cNvPr id="144" name=""/>
          <p:cNvPicPr>
            <a:picLocks noChangeAspect="true"/>
          </p:cNvPicPr>
          <p:nvPr/>
        </p:nvPicPr>
        <p:blipFill>
          <a:blip r:embed="rId2"/>
          <a:stretch>
            <a:fillRect/>
          </a:stretch>
        </p:blipFill>
        <p:spPr>
          <a:xfrm>
            <a:off x="0" y="2160671"/>
            <a:ext cx="12192000" cy="2536657"/>
          </a:xfrm>
          <a:prstGeom prst="rect"/>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45" name=""/>
        <p:cNvGrpSpPr/>
        <p:nvPr/>
      </p:nvGrpSpPr>
      <p:grpSpPr>
        <a:xfrm>
          <a:off x="0" y="0"/>
          <a:ext cx="0" cy="0"/>
          <a:chOff x="0" y="0"/>
          <a:chExt cx="0" cy="0"/>
        </a:xfrm>
      </p:grpSpPr>
      <p:sp>
        <p:nvSpPr>
          <p:cNvPr id="146"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zh-CN">
                <a:latin typeface="PingFang SC"/>
                <a:ea typeface="PingFang SC"/>
              </a:rPr>
              <a:t>慢副本因</a:t>
            </a:r>
            <a:r>
              <a:rPr lang="en-US">
                <a:latin typeface="PingFang SC"/>
                <a:ea typeface="PingFang SC"/>
              </a:rPr>
              <a:t> COB </a:t>
            </a:r>
            <a:r>
              <a:rPr lang="zh-CN">
                <a:latin typeface="PingFang SC"/>
                <a:ea typeface="PingFang SC"/>
              </a:rPr>
              <a:t>限制被断连</a:t>
            </a:r>
            <a:r>
              <a:rPr lang="en-US">
                <a:latin typeface="PingFang SC"/>
                <a:ea typeface="PingFang SC"/>
              </a:rPr>
              <a:t> - </a:t>
            </a:r>
            <a:r>
              <a:rPr lang="zh-CN">
                <a:latin typeface="PingFang SC"/>
                <a:ea typeface="PingFang SC"/>
              </a:rPr>
              <a:t>副本</a:t>
            </a:r>
            <a:r>
              <a:rPr lang="zh-CN">
                <a:latin typeface="PingFang SC"/>
                <a:ea typeface="PingFang SC"/>
              </a:rPr>
              <a:t>节点日志</a:t>
            </a:r>
            <a:endParaRPr lang="zh-CN">
              <a:latin typeface="PingFang SC"/>
              <a:ea typeface="PingFang SC"/>
            </a:endParaRPr>
          </a:p>
        </p:txBody>
      </p:sp>
      <p:pic>
        <p:nvPicPr>
          <p:cNvPr id="147" name=""/>
          <p:cNvPicPr>
            <a:picLocks noChangeAspect="true"/>
          </p:cNvPicPr>
          <p:nvPr/>
        </p:nvPicPr>
        <p:blipFill>
          <a:blip r:embed="rId2"/>
          <a:stretch>
            <a:fillRect/>
          </a:stretch>
        </p:blipFill>
        <p:spPr>
          <a:xfrm>
            <a:off x="0" y="2231989"/>
            <a:ext cx="12192000" cy="2394022"/>
          </a:xfrm>
          <a:prstGeom prst="rect"/>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48" name=""/>
        <p:cNvGrpSpPr/>
        <p:nvPr/>
      </p:nvGrpSpPr>
      <p:grpSpPr>
        <a:xfrm>
          <a:off x="0" y="0"/>
          <a:ext cx="0" cy="0"/>
          <a:chOff x="0" y="0"/>
          <a:chExt cx="0" cy="0"/>
        </a:xfrm>
      </p:grpSpPr>
      <p:sp>
        <p:nvSpPr>
          <p:cNvPr id="149"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zh-CN">
                <a:latin typeface="PingFang SC"/>
                <a:ea typeface="PingFang SC"/>
              </a:rPr>
              <a:t>副本主从复制反复</a:t>
            </a:r>
            <a:r>
              <a:rPr lang="en-US">
                <a:latin typeface="PingFang SC"/>
                <a:ea typeface="PingFang SC"/>
              </a:rPr>
              <a:t> full sync - </a:t>
            </a:r>
            <a:r>
              <a:rPr lang="zh-CN">
                <a:latin typeface="PingFang SC"/>
                <a:ea typeface="PingFang SC"/>
              </a:rPr>
              <a:t>主节点视角</a:t>
            </a:r>
            <a:endParaRPr lang="zh-CN">
              <a:latin typeface="PingFang SC"/>
              <a:ea typeface="PingFang SC"/>
            </a:endParaRPr>
          </a:p>
        </p:txBody>
      </p:sp>
      <p:pic>
        <p:nvPicPr>
          <p:cNvPr id="150" name=""/>
          <p:cNvPicPr>
            <a:picLocks noChangeAspect="true"/>
          </p:cNvPicPr>
          <p:nvPr/>
        </p:nvPicPr>
        <p:blipFill>
          <a:blip r:embed="rId2"/>
          <a:stretch>
            <a:fillRect/>
          </a:stretch>
        </p:blipFill>
        <p:spPr>
          <a:xfrm rot="0" flipH="false" flipV="false">
            <a:off x="515038" y="1238474"/>
            <a:ext cx="11161924" cy="5619526"/>
          </a:xfrm>
          <a:prstGeom prst="rect"/>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51" name=""/>
        <p:cNvGrpSpPr/>
        <p:nvPr/>
      </p:nvGrpSpPr>
      <p:grpSpPr>
        <a:xfrm>
          <a:off x="0" y="0"/>
          <a:ext cx="0" cy="0"/>
          <a:chOff x="0" y="0"/>
          <a:chExt cx="0" cy="0"/>
        </a:xfrm>
      </p:grpSpPr>
      <p:sp>
        <p:nvSpPr>
          <p:cNvPr id="152"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zh-CN">
                <a:latin typeface="PingFang SC"/>
                <a:ea typeface="PingFang SC"/>
              </a:rPr>
              <a:t>副本主从复制反复</a:t>
            </a:r>
            <a:r>
              <a:rPr lang="en-US">
                <a:latin typeface="PingFang SC"/>
                <a:ea typeface="PingFang SC"/>
              </a:rPr>
              <a:t> full sync - </a:t>
            </a:r>
            <a:r>
              <a:rPr lang="zh-CN">
                <a:latin typeface="PingFang SC"/>
                <a:ea typeface="PingFang SC"/>
              </a:rPr>
              <a:t>副本</a:t>
            </a:r>
            <a:r>
              <a:rPr lang="zh-CN">
                <a:latin typeface="PingFang SC"/>
                <a:ea typeface="PingFang SC"/>
              </a:rPr>
              <a:t>节点视角</a:t>
            </a:r>
            <a:endParaRPr lang="zh-CN">
              <a:latin typeface="PingFang SC"/>
              <a:ea typeface="PingFang SC"/>
            </a:endParaRPr>
          </a:p>
        </p:txBody>
      </p:sp>
      <p:pic>
        <p:nvPicPr>
          <p:cNvPr id="153" name=""/>
          <p:cNvPicPr>
            <a:picLocks noChangeAspect="true"/>
          </p:cNvPicPr>
          <p:nvPr/>
        </p:nvPicPr>
        <p:blipFill>
          <a:blip r:embed="rId2"/>
          <a:stretch>
            <a:fillRect/>
          </a:stretch>
        </p:blipFill>
        <p:spPr>
          <a:xfrm rot="0" flipH="false" flipV="false">
            <a:off x="1184144" y="1225684"/>
            <a:ext cx="9083799" cy="5632316"/>
          </a:xfrm>
          <a:prstGeom prst="rect"/>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54" name=""/>
        <p:cNvGrpSpPr/>
        <p:nvPr/>
      </p:nvGrpSpPr>
      <p:grpSpPr>
        <a:xfrm>
          <a:off x="0" y="0"/>
          <a:ext cx="0" cy="0"/>
          <a:chOff x="0" y="0"/>
          <a:chExt cx="0" cy="0"/>
        </a:xfrm>
      </p:grpSpPr>
      <p:sp>
        <p:nvSpPr>
          <p:cNvPr id="155"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zh-CN">
                <a:latin typeface="PingFang SC"/>
                <a:ea typeface="PingFang SC"/>
              </a:rPr>
              <a:t>不限制</a:t>
            </a:r>
            <a:r>
              <a:rPr lang="en-US">
                <a:latin typeface="PingFang SC"/>
                <a:ea typeface="PingFang SC"/>
              </a:rPr>
              <a:t> replica COB - </a:t>
            </a:r>
            <a:r>
              <a:rPr lang="zh-CN">
                <a:latin typeface="PingFang SC"/>
                <a:ea typeface="PingFang SC"/>
              </a:rPr>
              <a:t>主节点内存占用</a:t>
            </a:r>
            <a:endParaRPr lang="zh-CN">
              <a:latin typeface="PingFang SC"/>
              <a:ea typeface="PingFang SC"/>
            </a:endParaRPr>
          </a:p>
        </p:txBody>
      </p:sp>
      <p:pic>
        <p:nvPicPr>
          <p:cNvPr id="156" name=""/>
          <p:cNvPicPr>
            <a:picLocks noChangeAspect="true"/>
          </p:cNvPicPr>
          <p:nvPr/>
        </p:nvPicPr>
        <p:blipFill>
          <a:blip r:embed="rId2"/>
          <a:stretch>
            <a:fillRect/>
          </a:stretch>
        </p:blipFill>
        <p:spPr>
          <a:xfrm rot="0" flipH="false" flipV="false">
            <a:off x="2736850" y="1156252"/>
            <a:ext cx="6718300" cy="5384800"/>
          </a:xfrm>
          <a:prstGeom prst="rect"/>
        </p:spPr>
      </p:pic>
    </p:spTree>
  </p:cSld>
  <p:clrMapOvr>
    <a:masterClrMapping/>
  </p:clrMapOvr>
</p:sld>
</file>

<file path=ppt/slides/slide54.xml><?xml version="1.0" encoding="utf-8"?>
<p:sld xmlns:a="http://schemas.openxmlformats.org/drawingml/2006/main" xmlns:p="http://schemas.openxmlformats.org/presentationml/2006/main">
  <p:cSld>
    <p:spTree>
      <p:nvGrpSpPr>
        <p:cNvPr id="157" name=""/>
        <p:cNvGrpSpPr/>
        <p:nvPr/>
      </p:nvGrpSpPr>
      <p:grpSpPr>
        <a:xfrm>
          <a:off x="0" y="0"/>
          <a:ext cx="0" cy="0"/>
          <a:chOff x="0" y="0"/>
          <a:chExt cx="0" cy="0"/>
        </a:xfrm>
      </p:grpSpPr>
      <p:sp>
        <p:nvSpPr>
          <p:cNvPr id="158"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Dual channel replication - 1</a:t>
            </a:r>
            <a:endParaRPr lang="zh-CN">
              <a:latin typeface="PingFang SC"/>
              <a:ea typeface="PingFang SC"/>
            </a:endParaRPr>
          </a:p>
        </p:txBody>
      </p:sp>
      <p:sp>
        <p:nvSpPr>
          <p:cNvPr id="159" name=""/>
          <p:cNvSpPr txBox="true"/>
          <p:nvPr/>
        </p:nvSpPr>
        <p:spPr>
          <a:xfrm rot="0" flipH="false" flipV="false">
            <a:off x="638629" y="1067986"/>
            <a:ext cx="9677400" cy="2946400"/>
          </a:xfrm>
          <a:prstGeom prst="rect"/>
        </p:spPr>
        <p:txBody>
          <a:bodyPr>
            <a:spAutoFit/>
          </a:bodyPr>
          <a:p>
            <a:pPr marL="285750" lvl="0" indent="-285750">
              <a:buFont typeface="Arial" charset="0"/>
              <a:buChar char="•"/>
            </a:pPr>
            <a:r>
              <a:rPr lang="zh-CN">
                <a:solidFill>
                  <a:srgbClr val="000000">
                    <a:alpha val="100000"/>
                  </a:srgbClr>
                </a:solidFill>
                <a:latin typeface="PingFang SC"/>
                <a:ea typeface="PingFang SC"/>
              </a:rPr>
              <a:t>问题：</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主节点全量同步期间副本客户端输出缓冲区内存占用多</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副本客户端输出缓冲区不容易计算出准确的限制值</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如果一直调大限制，则节点机器内存存在</a:t>
            </a:r>
            <a:r>
              <a:rPr lang="en-US">
                <a:solidFill>
                  <a:srgbClr val="000000">
                    <a:alpha val="100000"/>
                  </a:srgbClr>
                </a:solidFill>
                <a:latin typeface="PingFang SC"/>
                <a:ea typeface="PingFang SC"/>
              </a:rPr>
              <a:t> OOM </a:t>
            </a:r>
            <a:r>
              <a:rPr lang="zh-CN">
                <a:solidFill>
                  <a:srgbClr val="000000">
                    <a:alpha val="100000"/>
                  </a:srgbClr>
                </a:solidFill>
                <a:latin typeface="PingFang SC"/>
                <a:ea typeface="PingFang SC"/>
              </a:rPr>
              <a:t>风险</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如果一直不调整，则节点主从同步全量同步将一直无法完成，也可能存在单主风险</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反复的全量同步对主节点影响很大，</a:t>
            </a:r>
            <a:r>
              <a:rPr lang="en-US">
                <a:solidFill>
                  <a:srgbClr val="000000">
                    <a:alpha val="100000"/>
                  </a:srgbClr>
                </a:solidFill>
                <a:latin typeface="PingFang SC"/>
                <a:ea typeface="PingFang SC"/>
              </a:rPr>
              <a:t>fork / copy on write / </a:t>
            </a:r>
            <a:r>
              <a:rPr lang="zh-CN">
                <a:solidFill>
                  <a:srgbClr val="000000">
                    <a:alpha val="100000"/>
                  </a:srgbClr>
                </a:solidFill>
                <a:latin typeface="PingFang SC"/>
                <a:ea typeface="PingFang SC"/>
              </a:rPr>
              <a:t>占用主线程</a:t>
            </a:r>
            <a:r>
              <a:rPr lang="en-US">
                <a:solidFill>
                  <a:srgbClr val="000000">
                    <a:alpha val="100000"/>
                  </a:srgbClr>
                </a:solidFill>
                <a:latin typeface="PingFang SC"/>
                <a:ea typeface="PingFang SC"/>
              </a:rPr>
              <a:t> CPU </a:t>
            </a:r>
            <a:r>
              <a:rPr lang="zh-CN">
                <a:solidFill>
                  <a:srgbClr val="000000">
                    <a:alpha val="100000"/>
                  </a:srgbClr>
                </a:solidFill>
                <a:latin typeface="PingFang SC"/>
                <a:ea typeface="PingFang SC"/>
              </a:rPr>
              <a:t>等</a:t>
            </a:r>
            <a:endParaRPr>
              <a:latin typeface="PingFang SC"/>
              <a:ea typeface="PingFang SC"/>
            </a:endParaRPr>
          </a:p>
          <a:p>
            <a:pPr marL="742950" lvl="1" indent="-285750">
              <a:buFont typeface="Arial" charset="0"/>
              <a:buChar char="•"/>
            </a:pPr>
            <a:endParaRPr lang="en-US">
              <a:solidFill>
                <a:srgbClr val="000000">
                  <a:alpha val="100000"/>
                </a:srgbClr>
              </a:solidFill>
              <a:latin typeface="PingFang SC"/>
              <a:ea typeface="PingFang SC"/>
            </a:endParaRPr>
          </a:p>
          <a:p>
            <a:pPr marL="285750" lvl="0" indent="-285750">
              <a:buFont typeface="Arial" charset="0"/>
              <a:buChar char="•"/>
            </a:pPr>
            <a:r>
              <a:rPr lang="zh-CN">
                <a:solidFill>
                  <a:srgbClr val="000000">
                    <a:alpha val="100000"/>
                  </a:srgbClr>
                </a:solidFill>
                <a:latin typeface="PingFang SC"/>
                <a:ea typeface="PingFang SC"/>
              </a:rPr>
              <a:t>需要提高全量同步的成功率</a:t>
            </a:r>
            <a:r>
              <a:rPr lang="en-US">
                <a:solidFill>
                  <a:srgbClr val="000000">
                    <a:alpha val="100000"/>
                  </a:srgbClr>
                </a:solidFill>
                <a:latin typeface="PingFang SC"/>
                <a:ea typeface="PingFang SC"/>
              </a:rPr>
              <a:t> / </a:t>
            </a:r>
            <a:r>
              <a:rPr lang="zh-CN">
                <a:solidFill>
                  <a:srgbClr val="000000">
                    <a:alpha val="100000"/>
                  </a:srgbClr>
                </a:solidFill>
                <a:latin typeface="PingFang SC"/>
                <a:ea typeface="PingFang SC"/>
              </a:rPr>
              <a:t>可靠性</a:t>
            </a:r>
            <a:endParaRPr>
              <a:latin typeface="PingFang SC"/>
              <a:ea typeface="PingFang SC"/>
            </a:endParaRPr>
          </a:p>
        </p:txBody>
      </p:sp>
      <p:sp>
        <p:nvSpPr>
          <p:cNvPr id="160" name=""/>
          <p:cNvSpPr txBox="true"/>
          <p:nvPr/>
        </p:nvSpPr>
        <p:spPr>
          <a:xfrm rot="0" flipH="false" flipV="false">
            <a:off x="2429102" y="4335578"/>
            <a:ext cx="7353300" cy="406400"/>
          </a:xfrm>
          <a:prstGeom prst="rect">
            <a:avLst/>
          </a:prstGeom>
          <a:ln w="6350">
            <a:prstDash val="solid"/>
          </a:ln>
        </p:spPr>
        <p:txBody>
          <a:bodyPr wrap="none">
            <a:spAutoFit/>
          </a:bodyPr>
          <a:p>
            <a:pPr/>
            <a:r>
              <a:rPr lang="en-US" sz="1600">
                <a:solidFill>
                  <a:srgbClr val="000000">
                    <a:alpha val="100000"/>
                  </a:srgbClr>
                </a:solidFill>
                <a:latin typeface="PingFang SC"/>
                <a:ea typeface="PingFang SC"/>
              </a:rPr>
              <a:t>Dual channel replication #60 - https://github.com/valkey-io/valkey/pull/60</a:t>
            </a:r>
            <a:endParaRPr>
              <a:latin typeface="PingFang SC"/>
              <a:ea typeface="PingFang SC"/>
            </a:endParaRP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61" name=""/>
        <p:cNvGrpSpPr/>
        <p:nvPr/>
      </p:nvGrpSpPr>
      <p:grpSpPr>
        <a:xfrm>
          <a:off x="0" y="0"/>
          <a:ext cx="0" cy="0"/>
          <a:chOff x="0" y="0"/>
          <a:chExt cx="0" cy="0"/>
        </a:xfrm>
      </p:grpSpPr>
      <p:sp>
        <p:nvSpPr>
          <p:cNvPr id="162"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Dual channel replication - 2</a:t>
            </a:r>
            <a:endParaRPr lang="zh-CN">
              <a:latin typeface="PingFang SC"/>
              <a:ea typeface="PingFang SC"/>
            </a:endParaRPr>
          </a:p>
        </p:txBody>
      </p:sp>
      <p:pic>
        <p:nvPicPr>
          <p:cNvPr id="163" name=""/>
          <p:cNvPicPr>
            <a:picLocks noChangeAspect="true"/>
          </p:cNvPicPr>
          <p:nvPr/>
        </p:nvPicPr>
        <p:blipFill>
          <a:blip r:embed="rId2"/>
          <a:stretch>
            <a:fillRect/>
          </a:stretch>
        </p:blipFill>
        <p:spPr>
          <a:xfrm rot="0" flipH="false" flipV="false">
            <a:off x="838200" y="1239868"/>
            <a:ext cx="9867900" cy="5527769"/>
          </a:xfrm>
          <a:prstGeom prst="rect"/>
          <a:ln w="9525">
            <a:solidFill>
              <a:srgbClr val="2f528f">
                <a:alpha val="100000"/>
              </a:srgbClr>
            </a:solidFill>
            <a:prstDash val="solid"/>
          </a:ln>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64" name=""/>
        <p:cNvGrpSpPr/>
        <p:nvPr/>
      </p:nvGrpSpPr>
      <p:grpSpPr>
        <a:xfrm>
          <a:off x="0" y="0"/>
          <a:ext cx="0" cy="0"/>
          <a:chOff x="0" y="0"/>
          <a:chExt cx="0" cy="0"/>
        </a:xfrm>
      </p:grpSpPr>
      <p:sp>
        <p:nvSpPr>
          <p:cNvPr id="165"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Dual channel replication - 3</a:t>
            </a:r>
            <a:endParaRPr lang="zh-CN">
              <a:latin typeface="PingFang SC"/>
              <a:ea typeface="PingFang SC"/>
            </a:endParaRPr>
          </a:p>
        </p:txBody>
      </p:sp>
      <p:pic>
        <p:nvPicPr>
          <p:cNvPr id="166" name=""/>
          <p:cNvPicPr>
            <a:picLocks noChangeAspect="true"/>
          </p:cNvPicPr>
          <p:nvPr/>
        </p:nvPicPr>
        <p:blipFill>
          <a:blip r:embed="rId2"/>
          <a:stretch>
            <a:fillRect/>
          </a:stretch>
        </p:blipFill>
        <p:spPr>
          <a:xfrm>
            <a:off x="1835150" y="2012950"/>
            <a:ext cx="8521700" cy="2832100"/>
          </a:xfrm>
          <a:prstGeom prst="rect"/>
          <a:ln w="9525">
            <a:solidFill>
              <a:srgbClr val="2f528f">
                <a:alpha val="100000"/>
              </a:srgbClr>
            </a:solidFill>
            <a:prstDash val="solid"/>
          </a:ln>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67" name=""/>
        <p:cNvGrpSpPr/>
        <p:nvPr/>
      </p:nvGrpSpPr>
      <p:grpSpPr>
        <a:xfrm>
          <a:off x="0" y="0"/>
          <a:ext cx="0" cy="0"/>
          <a:chOff x="0" y="0"/>
          <a:chExt cx="0" cy="0"/>
        </a:xfrm>
      </p:grpSpPr>
      <p:sp>
        <p:nvSpPr>
          <p:cNvPr id="168"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Dual channel replication - 4</a:t>
            </a:r>
            <a:endParaRPr lang="zh-CN">
              <a:latin typeface="PingFang SC"/>
              <a:ea typeface="PingFang SC"/>
            </a:endParaRPr>
          </a:p>
        </p:txBody>
      </p:sp>
      <p:pic>
        <p:nvPicPr>
          <p:cNvPr id="169" name=""/>
          <p:cNvPicPr>
            <a:picLocks noChangeAspect="true"/>
          </p:cNvPicPr>
          <p:nvPr/>
        </p:nvPicPr>
        <p:blipFill>
          <a:blip r:embed="rId2"/>
          <a:stretch>
            <a:fillRect/>
          </a:stretch>
        </p:blipFill>
        <p:spPr>
          <a:xfrm>
            <a:off x="1879600" y="1962150"/>
            <a:ext cx="8432800" cy="2933700"/>
          </a:xfrm>
          <a:prstGeom prst="rect"/>
          <a:ln w="9525">
            <a:solidFill>
              <a:srgbClr val="2f528f">
                <a:alpha val="100000"/>
              </a:srgbClr>
            </a:solidFill>
            <a:prstDash val="solid"/>
          </a:ln>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70" name=""/>
        <p:cNvGrpSpPr/>
        <p:nvPr/>
      </p:nvGrpSpPr>
      <p:grpSpPr>
        <a:xfrm>
          <a:off x="0" y="0"/>
          <a:ext cx="0" cy="0"/>
          <a:chOff x="0" y="0"/>
          <a:chExt cx="0" cy="0"/>
        </a:xfrm>
      </p:grpSpPr>
      <p:sp>
        <p:nvSpPr>
          <p:cNvPr id="171"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Dual channel replication - 5</a:t>
            </a:r>
            <a:endParaRPr lang="zh-CN">
              <a:latin typeface="PingFang SC"/>
              <a:ea typeface="PingFang SC"/>
            </a:endParaRPr>
          </a:p>
        </p:txBody>
      </p:sp>
      <p:pic>
        <p:nvPicPr>
          <p:cNvPr id="172" name=""/>
          <p:cNvPicPr>
            <a:picLocks noChangeAspect="true"/>
          </p:cNvPicPr>
          <p:nvPr/>
        </p:nvPicPr>
        <p:blipFill>
          <a:blip r:embed="rId2"/>
          <a:stretch>
            <a:fillRect/>
          </a:stretch>
        </p:blipFill>
        <p:spPr>
          <a:xfrm>
            <a:off x="1968500" y="1981200"/>
            <a:ext cx="8255000" cy="2895600"/>
          </a:xfrm>
          <a:prstGeom prst="rect"/>
          <a:ln w="9525">
            <a:solidFill>
              <a:srgbClr val="2F528F">
                <a:alpha val="100000"/>
              </a:srgbClr>
            </a:solidFill>
            <a:prstDash val="solid"/>
          </a:ln>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76" name=""/>
        <p:cNvGrpSpPr/>
        <p:nvPr/>
      </p:nvGrpSpPr>
      <p:grpSpPr>
        <a:xfrm>
          <a:off x="0" y="0"/>
          <a:ext cx="0" cy="0"/>
          <a:chOff x="0" y="0"/>
          <a:chExt cx="0" cy="0"/>
        </a:xfrm>
      </p:grpSpPr>
      <p:sp>
        <p:nvSpPr>
          <p:cNvPr id="177"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Dual channel replication - 6</a:t>
            </a:r>
            <a:endParaRPr lang="zh-CN">
              <a:latin typeface="PingFang SC"/>
              <a:ea typeface="PingFang SC"/>
            </a:endParaRPr>
          </a:p>
        </p:txBody>
      </p:sp>
      <p:pic>
        <p:nvPicPr>
          <p:cNvPr id="178" name=""/>
          <p:cNvPicPr>
            <a:picLocks noChangeAspect="true"/>
          </p:cNvPicPr>
          <p:nvPr/>
        </p:nvPicPr>
        <p:blipFill>
          <a:blip r:embed="rId2"/>
          <a:stretch>
            <a:fillRect/>
          </a:stretch>
        </p:blipFill>
        <p:spPr>
          <a:xfrm>
            <a:off x="1485900" y="2076450"/>
            <a:ext cx="9220200" cy="2705100"/>
          </a:xfrm>
          <a:prstGeom prst="rect"/>
          <a:ln w="9525">
            <a:solidFill>
              <a:srgbClr val="2f528f">
                <a:alpha val="100000"/>
              </a:srgbClr>
            </a:solidFill>
            <a:prstDash val="solid"/>
          </a:ln>
        </p:spPr>
      </p:pic>
    </p:spTree>
  </p:cSld>
  <p:clrMapOvr>
    <a:masterClrMapping/>
  </p:clrMapOvr>
</p:sld>
</file>

<file path=ppt/slides/slide60.xml><?xml version="1.0" encoding="utf-8"?>
<p:sld xmlns:a="http://schemas.openxmlformats.org/drawingml/2006/main" xmlns:p="http://schemas.openxmlformats.org/presentationml/2006/main">
  <p:cSld>
    <p:spTree>
      <p:nvGrpSpPr>
        <p:cNvPr id="179" name=""/>
        <p:cNvGrpSpPr/>
        <p:nvPr/>
      </p:nvGrpSpPr>
      <p:grpSpPr>
        <a:xfrm>
          <a:off x="0" y="0"/>
          <a:ext cx="0" cy="0"/>
          <a:chOff x="0" y="0"/>
          <a:chExt cx="0" cy="0"/>
        </a:xfrm>
      </p:grpSpPr>
      <p:sp>
        <p:nvSpPr>
          <p:cNvPr id="180"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Dual channel replication - 7</a:t>
            </a:r>
            <a:endParaRPr lang="zh-CN">
              <a:latin typeface="PingFang SC"/>
              <a:ea typeface="PingFang SC"/>
            </a:endParaRPr>
          </a:p>
        </p:txBody>
      </p:sp>
      <p:sp>
        <p:nvSpPr>
          <p:cNvPr id="181" name=""/>
          <p:cNvSpPr txBox="true"/>
          <p:nvPr/>
        </p:nvSpPr>
        <p:spPr>
          <a:xfrm rot="0" flipH="false" flipV="false">
            <a:off x="638629" y="1109316"/>
            <a:ext cx="10490200" cy="2228850"/>
          </a:xfrm>
          <a:prstGeom prst="rect"/>
        </p:spPr>
        <p:txBody>
          <a:bodyPr>
            <a:spAutoFit/>
          </a:bodyPr>
          <a:p>
            <a:pPr marL="285750" lvl="0" indent="-285750">
              <a:buFont typeface="Arial" charset="0"/>
              <a:buChar char="•"/>
            </a:pPr>
            <a:r>
              <a:rPr lang="zh-CN">
                <a:solidFill>
                  <a:srgbClr val="000000">
                    <a:alpha val="100000"/>
                  </a:srgbClr>
                </a:solidFill>
                <a:latin typeface="PingFang SC"/>
                <a:ea typeface="PingFang SC"/>
              </a:rPr>
              <a:t>无盘主从复制中针对全量同步的优化</a:t>
            </a:r>
            <a:endParaRPr>
              <a:latin typeface="PingFang SC"/>
              <a:ea typeface="PingFang SC"/>
            </a:endParaRPr>
          </a:p>
          <a:p>
            <a:pPr marL="285750" lvl="0" indent="-285750">
              <a:buFont typeface="Arial" charset="0"/>
              <a:buChar char="•"/>
            </a:pPr>
            <a:endParaRPr lang="zh-CN">
              <a:solidFill>
                <a:srgbClr val="000000">
                  <a:alpha val="100000"/>
                </a:srgbClr>
              </a:solidFill>
              <a:latin typeface="PingFang SC"/>
              <a:ea typeface="PingFang SC"/>
            </a:endParaRPr>
          </a:p>
          <a:p>
            <a:pPr marL="285750" lvl="0" indent="-285750">
              <a:buFont typeface="Arial" charset="0"/>
              <a:buChar char="•"/>
            </a:pPr>
            <a:r>
              <a:rPr lang="zh-CN">
                <a:solidFill>
                  <a:srgbClr val="000000">
                    <a:alpha val="100000"/>
                  </a:srgbClr>
                </a:solidFill>
                <a:latin typeface="PingFang SC"/>
                <a:ea typeface="PingFang SC"/>
              </a:rPr>
              <a:t>核心思路：</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在全量同步期间，副本节点会和主节点再建立一条</a:t>
            </a:r>
            <a:r>
              <a:rPr lang="en-US">
                <a:solidFill>
                  <a:srgbClr val="000000">
                    <a:alpha val="100000"/>
                  </a:srgbClr>
                </a:solidFill>
                <a:latin typeface="PingFang SC"/>
                <a:ea typeface="PingFang SC"/>
              </a:rPr>
              <a:t> RDB </a:t>
            </a:r>
            <a:r>
              <a:rPr lang="zh-CN">
                <a:solidFill>
                  <a:srgbClr val="000000">
                    <a:alpha val="100000"/>
                  </a:srgbClr>
                </a:solidFill>
                <a:latin typeface="PingFang SC"/>
                <a:ea typeface="PingFang SC"/>
              </a:rPr>
              <a:t>连接，主节点会在两条连接上并行发送</a:t>
            </a:r>
            <a:r>
              <a:rPr lang="en-US">
                <a:solidFill>
                  <a:srgbClr val="000000">
                    <a:alpha val="100000"/>
                  </a:srgbClr>
                </a:solidFill>
                <a:latin typeface="PingFang SC"/>
                <a:ea typeface="PingFang SC"/>
              </a:rPr>
              <a:t> RDB </a:t>
            </a:r>
            <a:r>
              <a:rPr lang="zh-CN">
                <a:solidFill>
                  <a:srgbClr val="000000">
                    <a:alpha val="100000"/>
                  </a:srgbClr>
                </a:solidFill>
                <a:latin typeface="PingFang SC"/>
                <a:ea typeface="PingFang SC"/>
              </a:rPr>
              <a:t>快照和副本客户端输出缓冲区里的命令流数据，副本节点会将命令流数据缓存在本地内存，等</a:t>
            </a:r>
            <a:r>
              <a:rPr lang="en-US">
                <a:solidFill>
                  <a:srgbClr val="000000">
                    <a:alpha val="100000"/>
                  </a:srgbClr>
                </a:solidFill>
                <a:latin typeface="PingFang SC"/>
                <a:ea typeface="PingFang SC"/>
              </a:rPr>
              <a:t> RDB </a:t>
            </a:r>
            <a:r>
              <a:rPr lang="zh-CN">
                <a:solidFill>
                  <a:srgbClr val="000000">
                    <a:alpha val="100000"/>
                  </a:srgbClr>
                </a:solidFill>
                <a:latin typeface="PingFang SC"/>
                <a:ea typeface="PingFang SC"/>
              </a:rPr>
              <a:t>快照加载完后回放命令流。</a:t>
            </a:r>
            <a:endParaRPr>
              <a:latin typeface="PingFang SC"/>
              <a:ea typeface="PingFang SC"/>
            </a:endParaRPr>
          </a:p>
        </p:txBody>
      </p:sp>
    </p:spTree>
  </p:cSld>
  <p:clrMapOvr>
    <a:masterClrMapping/>
  </p:clrMapOvr>
</p:sld>
</file>

<file path=ppt/slides/slide61.xml><?xml version="1.0" encoding="utf-8"?>
<p:sld xmlns:a="http://schemas.openxmlformats.org/drawingml/2006/main" xmlns:p="http://schemas.openxmlformats.org/presentationml/2006/main">
  <p:cSld>
    <p:spTree>
      <p:nvGrpSpPr>
        <p:cNvPr id="182" name=""/>
        <p:cNvGrpSpPr/>
        <p:nvPr/>
      </p:nvGrpSpPr>
      <p:grpSpPr>
        <a:xfrm>
          <a:off x="0" y="0"/>
          <a:ext cx="0" cy="0"/>
          <a:chOff x="0" y="0"/>
          <a:chExt cx="0" cy="0"/>
        </a:xfrm>
      </p:grpSpPr>
      <p:sp>
        <p:nvSpPr>
          <p:cNvPr id="183"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Dual channel replication - full sync + psync</a:t>
            </a:r>
            <a:endParaRPr lang="zh-CN">
              <a:latin typeface="PingFang SC"/>
              <a:ea typeface="PingFang SC"/>
            </a:endParaRPr>
          </a:p>
        </p:txBody>
      </p:sp>
      <p:sp>
        <p:nvSpPr>
          <p:cNvPr id="184" name=""/>
          <p:cNvSpPr txBox="true"/>
          <p:nvPr/>
        </p:nvSpPr>
        <p:spPr>
          <a:xfrm rot="0" flipH="false" flipV="false">
            <a:off x="641350" y="1165120"/>
            <a:ext cx="10909300" cy="4368800"/>
          </a:xfrm>
          <a:prstGeom prst="rect"/>
        </p:spPr>
        <p:txBody>
          <a:bodyPr>
            <a:spAutoFit/>
          </a:bodyPr>
          <a:p>
            <a:pPr marL="285750" lvl="0" indent="-285750">
              <a:buFont typeface="Arial" charset="0"/>
              <a:buChar char="•"/>
            </a:pPr>
            <a:r>
              <a:rPr lang="zh-CN">
                <a:solidFill>
                  <a:srgbClr val="000000">
                    <a:alpha val="100000"/>
                  </a:srgbClr>
                </a:solidFill>
                <a:latin typeface="PingFang SC"/>
                <a:ea typeface="PingFang SC"/>
              </a:rPr>
              <a:t>全量同步</a:t>
            </a:r>
            <a:r>
              <a:rPr lang="en-US">
                <a:solidFill>
                  <a:srgbClr val="000000">
                    <a:alpha val="100000"/>
                  </a:srgbClr>
                </a:solidFill>
                <a:latin typeface="PingFang SC"/>
                <a:ea typeface="PingFang SC"/>
              </a:rPr>
              <a:t> full sync for rdb channel</a:t>
            </a:r>
            <a:r>
              <a:rPr lang="zh-CN">
                <a:solidFill>
                  <a:srgbClr val="000000">
                    <a:alpha val="100000"/>
                  </a:srgbClr>
                </a:solidFill>
                <a:latin typeface="PingFang SC"/>
                <a:ea typeface="PingFang SC"/>
              </a:rPr>
              <a:t>：</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全量也就是</a:t>
            </a:r>
            <a:r>
              <a:rPr lang="en-US">
                <a:solidFill>
                  <a:srgbClr val="000000">
                    <a:alpha val="100000"/>
                  </a:srgbClr>
                </a:solidFill>
                <a:latin typeface="PingFang SC"/>
                <a:ea typeface="PingFang SC"/>
              </a:rPr>
              <a:t> RDB </a:t>
            </a:r>
            <a:r>
              <a:rPr lang="zh-CN">
                <a:solidFill>
                  <a:srgbClr val="000000">
                    <a:alpha val="100000"/>
                  </a:srgbClr>
                </a:solidFill>
                <a:latin typeface="PingFang SC"/>
                <a:ea typeface="PingFang SC"/>
              </a:rPr>
              <a:t>快照</a:t>
            </a:r>
            <a:r>
              <a:rPr lang="zh-CN">
                <a:solidFill>
                  <a:srgbClr val="000000">
                    <a:alpha val="100000"/>
                  </a:srgbClr>
                </a:solidFill>
                <a:latin typeface="PingFang SC"/>
                <a:ea typeface="PingFang SC"/>
              </a:rPr>
              <a:t>部分，当副本节点主从握手完收到主节点</a:t>
            </a:r>
            <a:r>
              <a:rPr lang="en-US">
                <a:solidFill>
                  <a:srgbClr val="000000">
                    <a:alpha val="100000"/>
                  </a:srgbClr>
                </a:solidFill>
                <a:latin typeface="PingFang SC"/>
                <a:ea typeface="PingFang SC"/>
              </a:rPr>
              <a:t> +DUALCHANNELSYNC </a:t>
            </a:r>
            <a:r>
              <a:rPr lang="zh-CN">
                <a:solidFill>
                  <a:srgbClr val="000000">
                    <a:alpha val="100000"/>
                  </a:srgbClr>
                </a:solidFill>
                <a:latin typeface="PingFang SC"/>
                <a:ea typeface="PingFang SC"/>
              </a:rPr>
              <a:t>响应后，会创建一条新的连接，叫做</a:t>
            </a:r>
            <a:r>
              <a:rPr lang="en-US">
                <a:solidFill>
                  <a:srgbClr val="000000">
                    <a:alpha val="100000"/>
                  </a:srgbClr>
                </a:solidFill>
                <a:latin typeface="PingFang SC"/>
                <a:ea typeface="PingFang SC"/>
              </a:rPr>
              <a:t> rdb channel</a:t>
            </a:r>
            <a:r>
              <a:rPr lang="zh-CN">
                <a:solidFill>
                  <a:srgbClr val="000000">
                    <a:alpha val="100000"/>
                  </a:srgbClr>
                </a:solidFill>
                <a:latin typeface="PingFang SC"/>
                <a:ea typeface="PingFang SC"/>
              </a:rPr>
              <a:t>。</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副本节点会利用</a:t>
            </a:r>
            <a:r>
              <a:rPr lang="en-US">
                <a:solidFill>
                  <a:srgbClr val="000000">
                    <a:alpha val="100000"/>
                  </a:srgbClr>
                </a:solidFill>
                <a:latin typeface="PingFang SC"/>
                <a:ea typeface="PingFang SC"/>
              </a:rPr>
              <a:t> rdb channel </a:t>
            </a:r>
            <a:r>
              <a:rPr lang="zh-CN">
                <a:solidFill>
                  <a:srgbClr val="000000">
                    <a:alpha val="100000"/>
                  </a:srgbClr>
                </a:solidFill>
                <a:latin typeface="PingFang SC"/>
                <a:ea typeface="PingFang SC"/>
              </a:rPr>
              <a:t>向主节点发送</a:t>
            </a:r>
            <a:r>
              <a:rPr lang="en-US">
                <a:solidFill>
                  <a:srgbClr val="000000">
                    <a:alpha val="100000"/>
                  </a:srgbClr>
                </a:solidFill>
                <a:latin typeface="PingFang SC"/>
                <a:ea typeface="PingFang SC"/>
              </a:rPr>
              <a:t> sync </a:t>
            </a:r>
            <a:r>
              <a:rPr lang="zh-CN">
                <a:solidFill>
                  <a:srgbClr val="000000">
                    <a:alpha val="100000"/>
                  </a:srgbClr>
                </a:solidFill>
                <a:latin typeface="PingFang SC"/>
                <a:ea typeface="PingFang SC"/>
              </a:rPr>
              <a:t>命令请求全量同步。</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主节点在收到</a:t>
            </a:r>
            <a:r>
              <a:rPr lang="en-US">
                <a:solidFill>
                  <a:srgbClr val="000000">
                    <a:alpha val="100000"/>
                  </a:srgbClr>
                </a:solidFill>
                <a:latin typeface="PingFang SC"/>
                <a:ea typeface="PingFang SC"/>
              </a:rPr>
              <a:t> rdb channel </a:t>
            </a:r>
            <a:r>
              <a:rPr lang="zh-CN">
                <a:solidFill>
                  <a:srgbClr val="000000">
                    <a:alpha val="100000"/>
                  </a:srgbClr>
                </a:solidFill>
                <a:latin typeface="PingFang SC"/>
                <a:ea typeface="PingFang SC"/>
              </a:rPr>
              <a:t>的</a:t>
            </a:r>
            <a:r>
              <a:rPr lang="en-US">
                <a:solidFill>
                  <a:srgbClr val="000000">
                    <a:alpha val="100000"/>
                  </a:srgbClr>
                </a:solidFill>
                <a:latin typeface="PingFang SC"/>
                <a:ea typeface="PingFang SC"/>
              </a:rPr>
              <a:t> sync </a:t>
            </a:r>
            <a:r>
              <a:rPr lang="zh-CN">
                <a:solidFill>
                  <a:srgbClr val="000000">
                    <a:alpha val="100000"/>
                  </a:srgbClr>
                </a:solidFill>
                <a:latin typeface="PingFang SC"/>
                <a:ea typeface="PingFang SC"/>
              </a:rPr>
              <a:t>后，在</a:t>
            </a:r>
            <a:r>
              <a:rPr lang="en-US">
                <a:solidFill>
                  <a:srgbClr val="000000">
                    <a:alpha val="100000"/>
                  </a:srgbClr>
                </a:solidFill>
                <a:latin typeface="PingFang SC"/>
                <a:ea typeface="PingFang SC"/>
              </a:rPr>
              <a:t> fork </a:t>
            </a:r>
            <a:r>
              <a:rPr lang="zh-CN">
                <a:solidFill>
                  <a:srgbClr val="000000">
                    <a:alpha val="100000"/>
                  </a:srgbClr>
                </a:solidFill>
                <a:latin typeface="PingFang SC"/>
                <a:ea typeface="PingFang SC"/>
              </a:rPr>
              <a:t>之前会将当前的复制偏移量</a:t>
            </a:r>
            <a:r>
              <a:rPr lang="zh-CN">
                <a:solidFill>
                  <a:srgbClr val="000000">
                    <a:alpha val="100000"/>
                  </a:srgbClr>
                </a:solidFill>
                <a:latin typeface="PingFang SC"/>
                <a:ea typeface="PingFang SC"/>
              </a:rPr>
              <a:t>通过</a:t>
            </a:r>
            <a:r>
              <a:rPr lang="en-US">
                <a:solidFill>
                  <a:srgbClr val="000000">
                    <a:alpha val="100000"/>
                  </a:srgbClr>
                </a:solidFill>
                <a:latin typeface="PingFang SC"/>
                <a:ea typeface="PingFang SC"/>
              </a:rPr>
              <a:t> rdb channel </a:t>
            </a:r>
            <a:r>
              <a:rPr lang="zh-CN">
                <a:solidFill>
                  <a:srgbClr val="000000">
                    <a:alpha val="100000"/>
                  </a:srgbClr>
                </a:solidFill>
                <a:latin typeface="PingFang SC"/>
                <a:ea typeface="PingFang SC"/>
              </a:rPr>
              <a:t>发送给副本节点，即会将</a:t>
            </a:r>
            <a:r>
              <a:rPr lang="en-US">
                <a:solidFill>
                  <a:srgbClr val="000000">
                    <a:alpha val="100000"/>
                  </a:srgbClr>
                </a:solidFill>
                <a:latin typeface="PingFang SC"/>
                <a:ea typeface="PingFang SC"/>
              </a:rPr>
              <a:t> snapshot end-offset </a:t>
            </a:r>
            <a:r>
              <a:rPr lang="zh-CN">
                <a:solidFill>
                  <a:srgbClr val="000000">
                    <a:alpha val="100000"/>
                  </a:srgbClr>
                </a:solidFill>
                <a:latin typeface="PingFang SC"/>
                <a:ea typeface="PingFang SC"/>
              </a:rPr>
              <a:t>发送给副本节点。</a:t>
            </a:r>
            <a:endParaRPr>
              <a:latin typeface="PingFang SC"/>
              <a:ea typeface="PingFang SC"/>
            </a:endParaRPr>
          </a:p>
          <a:p>
            <a:pPr lvl="1" indent="0">
              <a:buNone/>
            </a:pPr>
            <a:endParaRPr lang="en-US">
              <a:solidFill>
                <a:srgbClr val="000000">
                  <a:alpha val="100000"/>
                </a:srgbClr>
              </a:solidFill>
              <a:latin typeface="PingFang SC"/>
              <a:ea typeface="PingFang SC"/>
            </a:endParaRPr>
          </a:p>
          <a:p>
            <a:pPr marL="285750" lvl="0" indent="-285750">
              <a:buFont typeface="Arial" charset="0"/>
              <a:buChar char="•"/>
            </a:pPr>
            <a:r>
              <a:rPr lang="zh-CN">
                <a:solidFill>
                  <a:srgbClr val="000000">
                    <a:alpha val="100000"/>
                  </a:srgbClr>
                </a:solidFill>
                <a:latin typeface="PingFang SC"/>
                <a:ea typeface="PingFang SC"/>
              </a:rPr>
              <a:t>增量同步</a:t>
            </a:r>
            <a:r>
              <a:rPr lang="en-US">
                <a:solidFill>
                  <a:srgbClr val="000000">
                    <a:alpha val="100000"/>
                  </a:srgbClr>
                </a:solidFill>
                <a:latin typeface="PingFang SC"/>
                <a:ea typeface="PingFang SC"/>
              </a:rPr>
              <a:t> psync for main channel</a:t>
            </a:r>
            <a:r>
              <a:rPr lang="zh-CN">
                <a:solidFill>
                  <a:srgbClr val="000000">
                    <a:alpha val="100000"/>
                  </a:srgbClr>
                </a:solidFill>
                <a:latin typeface="PingFang SC"/>
                <a:ea typeface="PingFang SC"/>
              </a:rPr>
              <a:t>：</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副本节点收到</a:t>
            </a:r>
            <a:r>
              <a:rPr lang="en-US">
                <a:solidFill>
                  <a:srgbClr val="000000">
                    <a:alpha val="100000"/>
                  </a:srgbClr>
                </a:solidFill>
                <a:latin typeface="PingFang SC"/>
                <a:ea typeface="PingFang SC"/>
              </a:rPr>
              <a:t> snapshot end-offset </a:t>
            </a:r>
            <a:r>
              <a:rPr lang="zh-CN">
                <a:solidFill>
                  <a:srgbClr val="000000">
                    <a:alpha val="100000"/>
                  </a:srgbClr>
                </a:solidFill>
                <a:latin typeface="PingFang SC"/>
                <a:ea typeface="PingFang SC"/>
              </a:rPr>
              <a:t>后，在</a:t>
            </a:r>
            <a:r>
              <a:rPr lang="en-US">
                <a:solidFill>
                  <a:srgbClr val="000000">
                    <a:alpha val="100000"/>
                  </a:srgbClr>
                </a:solidFill>
                <a:latin typeface="PingFang SC"/>
                <a:ea typeface="PingFang SC"/>
              </a:rPr>
              <a:t> main channel </a:t>
            </a:r>
            <a:r>
              <a:rPr lang="zh-CN">
                <a:solidFill>
                  <a:srgbClr val="000000">
                    <a:alpha val="100000"/>
                  </a:srgbClr>
                </a:solidFill>
                <a:latin typeface="PingFang SC"/>
                <a:ea typeface="PingFang SC"/>
              </a:rPr>
              <a:t>里利用</a:t>
            </a:r>
            <a:r>
              <a:rPr lang="en-US">
                <a:solidFill>
                  <a:srgbClr val="000000">
                    <a:alpha val="100000"/>
                  </a:srgbClr>
                </a:solidFill>
                <a:latin typeface="PingFang SC"/>
                <a:ea typeface="PingFang SC"/>
              </a:rPr>
              <a:t> end-offset </a:t>
            </a:r>
            <a:r>
              <a:rPr lang="zh-CN">
                <a:solidFill>
                  <a:srgbClr val="000000">
                    <a:alpha val="100000"/>
                  </a:srgbClr>
                </a:solidFill>
                <a:latin typeface="PingFang SC"/>
                <a:ea typeface="PingFang SC"/>
              </a:rPr>
              <a:t>发送</a:t>
            </a:r>
            <a:r>
              <a:rPr lang="en-US">
                <a:solidFill>
                  <a:srgbClr val="000000">
                    <a:alpha val="100000"/>
                  </a:srgbClr>
                </a:solidFill>
                <a:latin typeface="PingFang SC"/>
                <a:ea typeface="PingFang SC"/>
              </a:rPr>
              <a:t> psync </a:t>
            </a:r>
            <a:r>
              <a:rPr lang="zh-CN">
                <a:solidFill>
                  <a:srgbClr val="000000">
                    <a:alpha val="100000"/>
                  </a:srgbClr>
                </a:solidFill>
                <a:latin typeface="PingFang SC"/>
                <a:ea typeface="PingFang SC"/>
              </a:rPr>
              <a:t>命令请求增量同步，请求对应</a:t>
            </a:r>
            <a:r>
              <a:rPr lang="en-US">
                <a:solidFill>
                  <a:srgbClr val="000000">
                    <a:alpha val="100000"/>
                  </a:srgbClr>
                </a:solidFill>
                <a:latin typeface="PingFang SC"/>
                <a:ea typeface="PingFang SC"/>
              </a:rPr>
              <a:t> offset </a:t>
            </a:r>
            <a:r>
              <a:rPr lang="zh-CN">
                <a:solidFill>
                  <a:srgbClr val="000000">
                    <a:alpha val="100000"/>
                  </a:srgbClr>
                </a:solidFill>
                <a:latin typeface="PingFang SC"/>
                <a:ea typeface="PingFang SC"/>
              </a:rPr>
              <a:t>之后的增量数据。</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副本节点会将</a:t>
            </a:r>
            <a:r>
              <a:rPr lang="en-US">
                <a:solidFill>
                  <a:srgbClr val="000000">
                    <a:alpha val="100000"/>
                  </a:srgbClr>
                </a:solidFill>
                <a:latin typeface="PingFang SC"/>
                <a:ea typeface="PingFang SC"/>
              </a:rPr>
              <a:t> psync </a:t>
            </a:r>
            <a:r>
              <a:rPr lang="zh-CN">
                <a:solidFill>
                  <a:srgbClr val="000000">
                    <a:alpha val="100000"/>
                  </a:srgbClr>
                </a:solidFill>
                <a:latin typeface="PingFang SC"/>
                <a:ea typeface="PingFang SC"/>
              </a:rPr>
              <a:t>后的增量命令流数据缓存到本地内存中。</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当副本节点</a:t>
            </a:r>
            <a:r>
              <a:rPr lang="en-US">
                <a:solidFill>
                  <a:srgbClr val="000000">
                    <a:alpha val="100000"/>
                  </a:srgbClr>
                </a:solidFill>
                <a:latin typeface="PingFang SC"/>
                <a:ea typeface="PingFang SC"/>
              </a:rPr>
              <a:t> rdb channel </a:t>
            </a:r>
            <a:r>
              <a:rPr lang="zh-CN">
                <a:solidFill>
                  <a:srgbClr val="000000">
                    <a:alpha val="100000"/>
                  </a:srgbClr>
                </a:solidFill>
                <a:latin typeface="PingFang SC"/>
                <a:ea typeface="PingFang SC"/>
              </a:rPr>
              <a:t>完成</a:t>
            </a:r>
            <a:r>
              <a:rPr lang="en-US">
                <a:solidFill>
                  <a:srgbClr val="000000">
                    <a:alpha val="100000"/>
                  </a:srgbClr>
                </a:solidFill>
                <a:latin typeface="PingFang SC"/>
                <a:ea typeface="PingFang SC"/>
              </a:rPr>
              <a:t> RDB </a:t>
            </a:r>
            <a:r>
              <a:rPr lang="zh-CN">
                <a:solidFill>
                  <a:srgbClr val="000000">
                    <a:alpha val="100000"/>
                  </a:srgbClr>
                </a:solidFill>
                <a:latin typeface="PingFang SC"/>
                <a:ea typeface="PingFang SC"/>
              </a:rPr>
              <a:t>快照</a:t>
            </a:r>
            <a:r>
              <a:rPr lang="zh-CN">
                <a:solidFill>
                  <a:srgbClr val="000000">
                    <a:alpha val="100000"/>
                  </a:srgbClr>
                </a:solidFill>
                <a:latin typeface="PingFang SC"/>
                <a:ea typeface="PingFang SC"/>
              </a:rPr>
              <a:t>的加载后，就会将本地内存中的增量命令加载到</a:t>
            </a:r>
            <a:r>
              <a:rPr lang="en-US">
                <a:solidFill>
                  <a:srgbClr val="000000">
                    <a:alpha val="100000"/>
                  </a:srgbClr>
                </a:solidFill>
                <a:latin typeface="PingFang SC"/>
                <a:ea typeface="PingFang SC"/>
              </a:rPr>
              <a:t> DB </a:t>
            </a:r>
            <a:r>
              <a:rPr lang="zh-CN">
                <a:solidFill>
                  <a:srgbClr val="000000">
                    <a:alpha val="100000"/>
                  </a:srgbClr>
                </a:solidFill>
                <a:latin typeface="PingFang SC"/>
                <a:ea typeface="PingFang SC"/>
              </a:rPr>
              <a:t>中。</a:t>
            </a:r>
            <a:endParaRPr>
              <a:latin typeface="PingFang SC"/>
              <a:ea typeface="PingFang SC"/>
            </a:endParaRPr>
          </a:p>
        </p:txBody>
      </p:sp>
    </p:spTree>
  </p:cSld>
  <p:clrMapOvr>
    <a:masterClrMapping/>
  </p:clrMapOvr>
</p:sld>
</file>

<file path=ppt/slides/slide62.xml><?xml version="1.0" encoding="utf-8"?>
<p:sld xmlns:a="http://schemas.openxmlformats.org/drawingml/2006/main" xmlns:p="http://schemas.openxmlformats.org/presentationml/2006/main">
  <p:cSld>
    <p:spTree>
      <p:nvGrpSpPr>
        <p:cNvPr id="185" name=""/>
        <p:cNvGrpSpPr/>
        <p:nvPr/>
      </p:nvGrpSpPr>
      <p:grpSpPr>
        <a:xfrm>
          <a:off x="0" y="0"/>
          <a:ext cx="0" cy="0"/>
          <a:chOff x="0" y="0"/>
          <a:chExt cx="0" cy="0"/>
        </a:xfrm>
      </p:grpSpPr>
      <p:sp>
        <p:nvSpPr>
          <p:cNvPr id="186"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Dual channel replication - benefits - 1</a:t>
            </a:r>
            <a:endParaRPr lang="zh-CN">
              <a:latin typeface="PingFang SC"/>
              <a:ea typeface="PingFang SC"/>
            </a:endParaRPr>
          </a:p>
        </p:txBody>
      </p:sp>
      <p:sp>
        <p:nvSpPr>
          <p:cNvPr id="187" name=""/>
          <p:cNvSpPr txBox="true"/>
          <p:nvPr/>
        </p:nvSpPr>
        <p:spPr>
          <a:xfrm rot="0" flipH="false" flipV="false">
            <a:off x="638629" y="1212732"/>
            <a:ext cx="10490200" cy="5086350"/>
          </a:xfrm>
          <a:prstGeom prst="rect"/>
        </p:spPr>
        <p:txBody>
          <a:bodyPr>
            <a:spAutoFit/>
          </a:bodyPr>
          <a:p>
            <a:pPr marL="285750" lvl="0" indent="-285750">
              <a:buFont typeface="Arial" charset="0"/>
              <a:buChar char="•"/>
            </a:pPr>
            <a:r>
              <a:rPr lang="zh-CN">
                <a:solidFill>
                  <a:srgbClr val="000000">
                    <a:alpha val="100000"/>
                  </a:srgbClr>
                </a:solidFill>
                <a:latin typeface="PingFang SC"/>
                <a:ea typeface="PingFang SC"/>
              </a:rPr>
              <a:t>减少主节点内存压力：</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通过将</a:t>
            </a:r>
            <a:r>
              <a:rPr lang="en-US">
                <a:solidFill>
                  <a:srgbClr val="000000">
                    <a:alpha val="100000"/>
                  </a:srgbClr>
                </a:solidFill>
                <a:latin typeface="PingFang SC"/>
                <a:ea typeface="PingFang SC"/>
              </a:rPr>
              <a:t> COB </a:t>
            </a:r>
            <a:r>
              <a:rPr lang="zh-CN">
                <a:solidFill>
                  <a:srgbClr val="000000">
                    <a:alpha val="100000"/>
                  </a:srgbClr>
                </a:solidFill>
                <a:latin typeface="PingFang SC"/>
                <a:ea typeface="PingFang SC"/>
              </a:rPr>
              <a:t>从主节点转移到副本节点，这会减轻主节点的内存压力。</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在</a:t>
            </a:r>
            <a:r>
              <a:rPr lang="en-US">
                <a:solidFill>
                  <a:srgbClr val="000000">
                    <a:alpha val="100000"/>
                  </a:srgbClr>
                </a:solidFill>
                <a:latin typeface="PingFang SC"/>
                <a:ea typeface="PingFang SC"/>
              </a:rPr>
              <a:t> full sync </a:t>
            </a:r>
            <a:r>
              <a:rPr lang="zh-CN">
                <a:solidFill>
                  <a:srgbClr val="000000">
                    <a:alpha val="100000"/>
                  </a:srgbClr>
                </a:solidFill>
                <a:latin typeface="PingFang SC"/>
                <a:ea typeface="PingFang SC"/>
              </a:rPr>
              <a:t>期间，因为</a:t>
            </a:r>
            <a:r>
              <a:rPr lang="en-US">
                <a:solidFill>
                  <a:srgbClr val="000000">
                    <a:alpha val="100000"/>
                  </a:srgbClr>
                </a:solidFill>
                <a:latin typeface="PingFang SC"/>
                <a:ea typeface="PingFang SC"/>
              </a:rPr>
              <a:t> fork </a:t>
            </a:r>
            <a:r>
              <a:rPr lang="zh-CN">
                <a:solidFill>
                  <a:srgbClr val="000000">
                    <a:alpha val="100000"/>
                  </a:srgbClr>
                </a:solidFill>
                <a:latin typeface="PingFang SC"/>
                <a:ea typeface="PingFang SC"/>
              </a:rPr>
              <a:t>的调用，主节点同时也在承受</a:t>
            </a:r>
            <a:r>
              <a:rPr lang="en-US">
                <a:solidFill>
                  <a:srgbClr val="000000">
                    <a:alpha val="100000"/>
                  </a:srgbClr>
                </a:solidFill>
                <a:latin typeface="PingFang SC"/>
                <a:ea typeface="PingFang SC"/>
              </a:rPr>
              <a:t> COW </a:t>
            </a:r>
            <a:r>
              <a:rPr lang="zh-CN">
                <a:solidFill>
                  <a:srgbClr val="000000">
                    <a:alpha val="100000"/>
                  </a:srgbClr>
                </a:solidFill>
                <a:latin typeface="PingFang SC"/>
                <a:ea typeface="PingFang SC"/>
              </a:rPr>
              <a:t>带来的内存上涨压力，所以如果能够减少主节点内存使用，对主节点也会有好处，不然类似原本主节点需要同时承受</a:t>
            </a:r>
            <a:r>
              <a:rPr lang="en-US">
                <a:solidFill>
                  <a:srgbClr val="000000">
                    <a:alpha val="100000"/>
                  </a:srgbClr>
                </a:solidFill>
                <a:latin typeface="PingFang SC"/>
                <a:ea typeface="PingFang SC"/>
              </a:rPr>
              <a:t> COW </a:t>
            </a:r>
            <a:r>
              <a:rPr lang="zh-CN">
                <a:solidFill>
                  <a:srgbClr val="000000">
                    <a:alpha val="100000"/>
                  </a:srgbClr>
                </a:solidFill>
                <a:latin typeface="PingFang SC"/>
                <a:ea typeface="PingFang SC"/>
              </a:rPr>
              <a:t>和</a:t>
            </a:r>
            <a:r>
              <a:rPr lang="en-US">
                <a:solidFill>
                  <a:srgbClr val="000000">
                    <a:alpha val="100000"/>
                  </a:srgbClr>
                </a:solidFill>
                <a:latin typeface="PingFang SC"/>
                <a:ea typeface="PingFang SC"/>
              </a:rPr>
              <a:t> COB </a:t>
            </a:r>
            <a:r>
              <a:rPr lang="zh-CN">
                <a:solidFill>
                  <a:srgbClr val="000000">
                    <a:alpha val="100000"/>
                  </a:srgbClr>
                </a:solidFill>
                <a:latin typeface="PingFang SC"/>
                <a:ea typeface="PingFang SC"/>
              </a:rPr>
              <a:t>的开销，两个加一起内存占用非常不好限制和运维，现在主节点只需要承受</a:t>
            </a:r>
            <a:r>
              <a:rPr lang="en-US">
                <a:solidFill>
                  <a:srgbClr val="000000">
                    <a:alpha val="100000"/>
                  </a:srgbClr>
                </a:solidFill>
                <a:latin typeface="PingFang SC"/>
                <a:ea typeface="PingFang SC"/>
              </a:rPr>
              <a:t> COW </a:t>
            </a:r>
            <a:r>
              <a:rPr lang="zh-CN">
                <a:solidFill>
                  <a:srgbClr val="000000">
                    <a:alpha val="100000"/>
                  </a:srgbClr>
                </a:solidFill>
                <a:latin typeface="PingFang SC"/>
                <a:ea typeface="PingFang SC"/>
              </a:rPr>
              <a:t>的开销，而尽量少的承受</a:t>
            </a:r>
            <a:r>
              <a:rPr lang="en-US">
                <a:solidFill>
                  <a:srgbClr val="000000">
                    <a:alpha val="100000"/>
                  </a:srgbClr>
                </a:solidFill>
                <a:latin typeface="PingFang SC"/>
                <a:ea typeface="PingFang SC"/>
              </a:rPr>
              <a:t> COB </a:t>
            </a:r>
            <a:r>
              <a:rPr lang="zh-CN">
                <a:solidFill>
                  <a:srgbClr val="000000">
                    <a:alpha val="100000"/>
                  </a:srgbClr>
                </a:solidFill>
                <a:latin typeface="PingFang SC"/>
                <a:ea typeface="PingFang SC"/>
              </a:rPr>
              <a:t>的开销。</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副本节点本身在</a:t>
            </a:r>
            <a:r>
              <a:rPr lang="en-US">
                <a:solidFill>
                  <a:srgbClr val="000000">
                    <a:alpha val="100000"/>
                  </a:srgbClr>
                </a:solidFill>
                <a:latin typeface="PingFang SC"/>
                <a:ea typeface="PingFang SC"/>
              </a:rPr>
              <a:t> full sync </a:t>
            </a:r>
            <a:r>
              <a:rPr lang="zh-CN">
                <a:solidFill>
                  <a:srgbClr val="000000">
                    <a:alpha val="100000"/>
                  </a:srgbClr>
                </a:solidFill>
                <a:latin typeface="PingFang SC"/>
                <a:ea typeface="PingFang SC"/>
              </a:rPr>
              <a:t>期间不怎么会被</a:t>
            </a:r>
            <a:r>
              <a:rPr lang="en-US">
                <a:solidFill>
                  <a:srgbClr val="000000">
                    <a:alpha val="100000"/>
                  </a:srgbClr>
                </a:solidFill>
                <a:latin typeface="PingFang SC"/>
                <a:ea typeface="PingFang SC"/>
              </a:rPr>
              <a:t> COW </a:t>
            </a:r>
            <a:r>
              <a:rPr lang="zh-CN">
                <a:solidFill>
                  <a:srgbClr val="000000">
                    <a:alpha val="100000"/>
                  </a:srgbClr>
                </a:solidFill>
                <a:latin typeface="PingFang SC"/>
                <a:ea typeface="PingFang SC"/>
              </a:rPr>
              <a:t>影响，所以对比主节点能有较多的内存资源用于承受</a:t>
            </a:r>
            <a:r>
              <a:rPr lang="en-US">
                <a:solidFill>
                  <a:srgbClr val="000000">
                    <a:alpha val="100000"/>
                  </a:srgbClr>
                </a:solidFill>
                <a:latin typeface="PingFang SC"/>
                <a:ea typeface="PingFang SC"/>
              </a:rPr>
              <a:t> COB</a:t>
            </a:r>
            <a:r>
              <a:rPr lang="zh-CN">
                <a:solidFill>
                  <a:srgbClr val="000000">
                    <a:alpha val="100000"/>
                  </a:srgbClr>
                </a:solidFill>
                <a:latin typeface="PingFang SC"/>
                <a:ea typeface="PingFang SC"/>
              </a:rPr>
              <a:t>。</a:t>
            </a:r>
            <a:endParaRPr>
              <a:latin typeface="PingFang SC"/>
              <a:ea typeface="PingFang SC"/>
            </a:endParaRPr>
          </a:p>
          <a:p>
            <a:pPr lvl="1" indent="0">
              <a:buNone/>
            </a:pPr>
            <a:endParaRPr lang="en-US">
              <a:solidFill>
                <a:srgbClr val="000000">
                  <a:alpha val="100000"/>
                </a:srgbClr>
              </a:solidFill>
              <a:latin typeface="PingFang SC"/>
              <a:ea typeface="PingFang SC"/>
            </a:endParaRPr>
          </a:p>
          <a:p>
            <a:pPr marL="285750" lvl="0" indent="-285750">
              <a:buFont typeface="Arial" charset="0"/>
              <a:buChar char="•"/>
            </a:pPr>
            <a:r>
              <a:rPr lang="zh-CN">
                <a:solidFill>
                  <a:srgbClr val="000000">
                    <a:alpha val="100000"/>
                  </a:srgbClr>
                </a:solidFill>
                <a:latin typeface="PingFang SC"/>
                <a:ea typeface="PingFang SC"/>
              </a:rPr>
              <a:t>减少主节点主线程的</a:t>
            </a:r>
            <a:r>
              <a:rPr lang="en-US">
                <a:solidFill>
                  <a:srgbClr val="000000">
                    <a:alpha val="100000"/>
                  </a:srgbClr>
                </a:solidFill>
                <a:latin typeface="PingFang SC"/>
                <a:ea typeface="PingFang SC"/>
              </a:rPr>
              <a:t> CPU </a:t>
            </a:r>
            <a:r>
              <a:rPr lang="zh-CN">
                <a:solidFill>
                  <a:srgbClr val="000000">
                    <a:alpha val="100000"/>
                  </a:srgbClr>
                </a:solidFill>
                <a:latin typeface="PingFang SC"/>
                <a:ea typeface="PingFang SC"/>
              </a:rPr>
              <a:t>负载</a:t>
            </a:r>
            <a:r>
              <a:rPr lang="zh-CN">
                <a:solidFill>
                  <a:srgbClr val="000000">
                    <a:alpha val="100000"/>
                  </a:srgbClr>
                </a:solidFill>
                <a:latin typeface="PingFang SC"/>
                <a:ea typeface="PingFang SC"/>
              </a:rPr>
              <a:t>：</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通过为</a:t>
            </a:r>
            <a:r>
              <a:rPr lang="en-US">
                <a:solidFill>
                  <a:srgbClr val="000000">
                    <a:alpha val="100000"/>
                  </a:srgbClr>
                </a:solidFill>
                <a:latin typeface="PingFang SC"/>
                <a:ea typeface="PingFang SC"/>
              </a:rPr>
              <a:t> RDB </a:t>
            </a:r>
            <a:r>
              <a:rPr lang="zh-CN">
                <a:solidFill>
                  <a:srgbClr val="000000">
                    <a:alpha val="100000"/>
                  </a:srgbClr>
                </a:solidFill>
                <a:latin typeface="PingFang SC"/>
                <a:ea typeface="PingFang SC"/>
              </a:rPr>
              <a:t>快照传输建立专有连接，子进程可以直接通过</a:t>
            </a:r>
            <a:r>
              <a:rPr lang="en-US">
                <a:solidFill>
                  <a:srgbClr val="000000">
                    <a:alpha val="100000"/>
                  </a:srgbClr>
                </a:solidFill>
                <a:latin typeface="PingFang SC"/>
                <a:ea typeface="PingFang SC"/>
              </a:rPr>
              <a:t> RDB </a:t>
            </a:r>
            <a:r>
              <a:rPr lang="zh-CN">
                <a:solidFill>
                  <a:srgbClr val="000000">
                    <a:alpha val="100000"/>
                  </a:srgbClr>
                </a:solidFill>
                <a:latin typeface="PingFang SC"/>
                <a:ea typeface="PingFang SC"/>
              </a:rPr>
              <a:t>连接进行数据传输，从而省去了主进程中转数据的过程，让主线程可以专注处理客户端请求。</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在</a:t>
            </a:r>
            <a:r>
              <a:rPr lang="en-US">
                <a:solidFill>
                  <a:srgbClr val="000000">
                    <a:alpha val="100000"/>
                  </a:srgbClr>
                </a:solidFill>
                <a:latin typeface="PingFang SC"/>
                <a:ea typeface="PingFang SC"/>
              </a:rPr>
              <a:t> 6.0 </a:t>
            </a:r>
            <a:r>
              <a:rPr lang="zh-CN">
                <a:solidFill>
                  <a:srgbClr val="000000">
                    <a:alpha val="100000"/>
                  </a:srgbClr>
                </a:solidFill>
                <a:latin typeface="PingFang SC"/>
                <a:ea typeface="PingFang SC"/>
              </a:rPr>
              <a:t>版本中为了支持</a:t>
            </a:r>
            <a:r>
              <a:rPr lang="en-US">
                <a:solidFill>
                  <a:srgbClr val="000000">
                    <a:alpha val="100000"/>
                  </a:srgbClr>
                </a:solidFill>
                <a:latin typeface="PingFang SC"/>
                <a:ea typeface="PingFang SC"/>
              </a:rPr>
              <a:t> TLS</a:t>
            </a:r>
            <a:r>
              <a:rPr lang="zh-CN">
                <a:solidFill>
                  <a:srgbClr val="000000">
                    <a:alpha val="100000"/>
                  </a:srgbClr>
                </a:solidFill>
                <a:latin typeface="PingFang SC"/>
                <a:ea typeface="PingFang SC"/>
              </a:rPr>
              <a:t>，在无盘传输中，子进程实际上会先将</a:t>
            </a:r>
            <a:r>
              <a:rPr lang="en-US">
                <a:solidFill>
                  <a:srgbClr val="000000">
                    <a:alpha val="100000"/>
                  </a:srgbClr>
                </a:solidFill>
                <a:latin typeface="PingFang SC"/>
                <a:ea typeface="PingFang SC"/>
              </a:rPr>
              <a:t> RDB </a:t>
            </a:r>
            <a:r>
              <a:rPr lang="zh-CN">
                <a:solidFill>
                  <a:srgbClr val="000000">
                    <a:alpha val="100000"/>
                  </a:srgbClr>
                </a:solidFill>
                <a:latin typeface="PingFang SC"/>
                <a:ea typeface="PingFang SC"/>
              </a:rPr>
              <a:t>内容通过管道写给父进程，父进程读出来后发送给副本节点。父子进程需要频繁通过管道进行通信。</a:t>
            </a:r>
            <a:endParaRPr>
              <a:latin typeface="PingFang SC"/>
              <a:ea typeface="PingFang SC"/>
            </a:endParaRPr>
          </a:p>
        </p:txBody>
      </p:sp>
    </p:spTree>
  </p:cSld>
  <p:clrMapOvr>
    <a:masterClrMapping/>
  </p:clrMapOvr>
</p:sld>
</file>

<file path=ppt/slides/slide63.xml><?xml version="1.0" encoding="utf-8"?>
<p:sld xmlns:a="http://schemas.openxmlformats.org/drawingml/2006/main" xmlns:p="http://schemas.openxmlformats.org/presentationml/2006/main">
  <p:cSld>
    <p:spTree>
      <p:nvGrpSpPr>
        <p:cNvPr id="188" name=""/>
        <p:cNvGrpSpPr/>
        <p:nvPr/>
      </p:nvGrpSpPr>
      <p:grpSpPr>
        <a:xfrm>
          <a:off x="0" y="0"/>
          <a:ext cx="0" cy="0"/>
          <a:chOff x="0" y="0"/>
          <a:chExt cx="0" cy="0"/>
        </a:xfrm>
      </p:grpSpPr>
      <p:sp>
        <p:nvSpPr>
          <p:cNvPr id="189"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Dual channel replication - benefits - 2</a:t>
            </a:r>
            <a:endParaRPr lang="zh-CN">
              <a:latin typeface="PingFang SC"/>
              <a:ea typeface="PingFang SC"/>
            </a:endParaRPr>
          </a:p>
        </p:txBody>
      </p:sp>
      <p:sp>
        <p:nvSpPr>
          <p:cNvPr id="190" name=""/>
          <p:cNvSpPr txBox="true"/>
          <p:nvPr/>
        </p:nvSpPr>
        <p:spPr>
          <a:xfrm rot="0" flipH="false" flipV="false">
            <a:off x="638629" y="1212732"/>
            <a:ext cx="10490200" cy="4368800"/>
          </a:xfrm>
          <a:prstGeom prst="rect"/>
        </p:spPr>
        <p:txBody>
          <a:bodyPr>
            <a:spAutoFit/>
          </a:bodyPr>
          <a:p>
            <a:pPr marL="285750" lvl="0" indent="-285750">
              <a:buFont typeface="Arial" charset="0"/>
              <a:buChar char="•"/>
            </a:pPr>
            <a:r>
              <a:rPr lang="zh-CN">
                <a:solidFill>
                  <a:srgbClr val="000000">
                    <a:alpha val="100000"/>
                  </a:srgbClr>
                </a:solidFill>
                <a:latin typeface="PingFang SC"/>
                <a:ea typeface="PingFang SC"/>
              </a:rPr>
              <a:t>提高</a:t>
            </a:r>
            <a:r>
              <a:rPr lang="en-US">
                <a:solidFill>
                  <a:srgbClr val="000000">
                    <a:alpha val="100000"/>
                  </a:srgbClr>
                </a:solidFill>
                <a:latin typeface="PingFang SC"/>
                <a:ea typeface="PingFang SC"/>
              </a:rPr>
              <a:t> full sync </a:t>
            </a:r>
            <a:r>
              <a:rPr lang="zh-CN">
                <a:solidFill>
                  <a:srgbClr val="000000">
                    <a:alpha val="100000"/>
                  </a:srgbClr>
                </a:solidFill>
                <a:latin typeface="PingFang SC"/>
                <a:ea typeface="PingFang SC"/>
              </a:rPr>
              <a:t>成功率：</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原本为了避免</a:t>
            </a:r>
            <a:r>
              <a:rPr lang="en-US">
                <a:solidFill>
                  <a:srgbClr val="000000">
                    <a:alpha val="100000"/>
                  </a:srgbClr>
                </a:solidFill>
                <a:latin typeface="PingFang SC"/>
                <a:ea typeface="PingFang SC"/>
              </a:rPr>
              <a:t> replica COB </a:t>
            </a:r>
            <a:r>
              <a:rPr lang="zh-CN">
                <a:solidFill>
                  <a:srgbClr val="000000">
                    <a:alpha val="100000"/>
                  </a:srgbClr>
                </a:solidFill>
                <a:latin typeface="PingFang SC"/>
                <a:ea typeface="PingFang SC"/>
              </a:rPr>
              <a:t>限制导致</a:t>
            </a:r>
            <a:r>
              <a:rPr lang="en-US">
                <a:solidFill>
                  <a:srgbClr val="000000">
                    <a:alpha val="100000"/>
                  </a:srgbClr>
                </a:solidFill>
                <a:latin typeface="PingFang SC"/>
                <a:ea typeface="PingFang SC"/>
              </a:rPr>
              <a:t> full sync </a:t>
            </a:r>
            <a:r>
              <a:rPr lang="zh-CN">
                <a:solidFill>
                  <a:srgbClr val="000000">
                    <a:alpha val="100000"/>
                  </a:srgbClr>
                </a:solidFill>
                <a:latin typeface="PingFang SC"/>
                <a:ea typeface="PingFang SC"/>
              </a:rPr>
              <a:t>失败，我们通常需要调整主节点的</a:t>
            </a:r>
            <a:r>
              <a:rPr lang="en-US">
                <a:solidFill>
                  <a:srgbClr val="000000">
                    <a:alpha val="100000"/>
                  </a:srgbClr>
                </a:solidFill>
                <a:latin typeface="PingFang SC"/>
                <a:ea typeface="PingFang SC"/>
              </a:rPr>
              <a:t> COB </a:t>
            </a:r>
            <a:r>
              <a:rPr lang="zh-CN">
                <a:solidFill>
                  <a:srgbClr val="000000">
                    <a:alpha val="100000"/>
                  </a:srgbClr>
                </a:solidFill>
                <a:latin typeface="PingFang SC"/>
                <a:ea typeface="PingFang SC"/>
              </a:rPr>
              <a:t>限制，但是这个值没有很好的计算方式去设置，并且主节点侧提高</a:t>
            </a:r>
            <a:r>
              <a:rPr lang="en-US">
                <a:solidFill>
                  <a:srgbClr val="000000">
                    <a:alpha val="100000"/>
                  </a:srgbClr>
                </a:solidFill>
                <a:latin typeface="PingFang SC"/>
                <a:ea typeface="PingFang SC"/>
              </a:rPr>
              <a:t> COB </a:t>
            </a:r>
            <a:r>
              <a:rPr lang="zh-CN">
                <a:solidFill>
                  <a:srgbClr val="000000">
                    <a:alpha val="100000"/>
                  </a:srgbClr>
                </a:solidFill>
                <a:latin typeface="PingFang SC"/>
                <a:ea typeface="PingFang SC"/>
              </a:rPr>
              <a:t>限制可能会耗尽主节点侧内存，通过</a:t>
            </a:r>
            <a:r>
              <a:rPr lang="en-US">
                <a:solidFill>
                  <a:srgbClr val="000000">
                    <a:alpha val="100000"/>
                  </a:srgbClr>
                </a:solidFill>
                <a:latin typeface="PingFang SC"/>
                <a:ea typeface="PingFang SC"/>
              </a:rPr>
              <a:t> dual channel</a:t>
            </a:r>
            <a:r>
              <a:rPr lang="zh-CN">
                <a:solidFill>
                  <a:srgbClr val="000000">
                    <a:alpha val="100000"/>
                  </a:srgbClr>
                </a:solidFill>
                <a:latin typeface="PingFang SC"/>
                <a:ea typeface="PingFang SC"/>
              </a:rPr>
              <a:t>，实际上可以理解为是将</a:t>
            </a:r>
            <a:r>
              <a:rPr lang="en-US">
                <a:solidFill>
                  <a:srgbClr val="000000">
                    <a:alpha val="100000"/>
                  </a:srgbClr>
                </a:solidFill>
                <a:latin typeface="PingFang SC"/>
                <a:ea typeface="PingFang SC"/>
              </a:rPr>
              <a:t> COB </a:t>
            </a:r>
            <a:r>
              <a:rPr lang="zh-CN">
                <a:solidFill>
                  <a:srgbClr val="000000">
                    <a:alpha val="100000"/>
                  </a:srgbClr>
                </a:solidFill>
                <a:latin typeface="PingFang SC"/>
                <a:ea typeface="PingFang SC"/>
              </a:rPr>
              <a:t>限制调大了，管控会更加灵活，相当于副本节点先承担一部分</a:t>
            </a:r>
            <a:r>
              <a:rPr lang="en-US">
                <a:solidFill>
                  <a:srgbClr val="000000">
                    <a:alpha val="100000"/>
                  </a:srgbClr>
                </a:solidFill>
                <a:latin typeface="PingFang SC"/>
                <a:ea typeface="PingFang SC"/>
              </a:rPr>
              <a:t> COB</a:t>
            </a:r>
            <a:r>
              <a:rPr lang="zh-CN">
                <a:solidFill>
                  <a:srgbClr val="000000">
                    <a:alpha val="100000"/>
                  </a:srgbClr>
                </a:solidFill>
                <a:latin typeface="PingFang SC"/>
                <a:ea typeface="PingFang SC"/>
              </a:rPr>
              <a:t>，然后主节点再承担后面部分的</a:t>
            </a:r>
            <a:r>
              <a:rPr lang="en-US">
                <a:solidFill>
                  <a:srgbClr val="000000">
                    <a:alpha val="100000"/>
                  </a:srgbClr>
                </a:solidFill>
                <a:latin typeface="PingFang SC"/>
                <a:ea typeface="PingFang SC"/>
              </a:rPr>
              <a:t> COB</a:t>
            </a:r>
            <a:r>
              <a:rPr lang="zh-CN">
                <a:solidFill>
                  <a:srgbClr val="000000">
                    <a:alpha val="100000"/>
                  </a:srgbClr>
                </a:solidFill>
                <a:latin typeface="PingFang SC"/>
                <a:ea typeface="PingFang SC"/>
              </a:rPr>
              <a:t>，</a:t>
            </a:r>
            <a:r>
              <a:rPr lang="zh-CN">
                <a:solidFill>
                  <a:srgbClr val="000000">
                    <a:alpha val="100000"/>
                  </a:srgbClr>
                </a:solidFill>
                <a:latin typeface="PingFang SC"/>
                <a:ea typeface="PingFang SC"/>
              </a:rPr>
              <a:t>更大的</a:t>
            </a:r>
            <a:r>
              <a:rPr lang="en-US">
                <a:solidFill>
                  <a:srgbClr val="000000">
                    <a:alpha val="100000"/>
                  </a:srgbClr>
                </a:solidFill>
                <a:latin typeface="PingFang SC"/>
                <a:ea typeface="PingFang SC"/>
              </a:rPr>
              <a:t> COB </a:t>
            </a:r>
            <a:r>
              <a:rPr lang="zh-CN">
                <a:solidFill>
                  <a:srgbClr val="000000">
                    <a:alpha val="100000"/>
                  </a:srgbClr>
                </a:solidFill>
                <a:latin typeface="PingFang SC"/>
                <a:ea typeface="PingFang SC"/>
              </a:rPr>
              <a:t>意味着更高的全量同步成功率。</a:t>
            </a:r>
            <a:endParaRPr>
              <a:latin typeface="PingFang SC"/>
              <a:ea typeface="PingFang SC"/>
            </a:endParaRPr>
          </a:p>
          <a:p>
            <a:pPr marL="742950" lvl="1" indent="-285750">
              <a:buFont typeface="Arial" charset="0"/>
              <a:buChar char="•"/>
            </a:pPr>
            <a:endParaRPr lang="en-US">
              <a:solidFill>
                <a:srgbClr val="000000">
                  <a:alpha val="100000"/>
                </a:srgbClr>
              </a:solidFill>
              <a:latin typeface="PingFang SC"/>
              <a:ea typeface="PingFang SC"/>
            </a:endParaRPr>
          </a:p>
          <a:p>
            <a:pPr marL="285750" lvl="0" indent="-285750">
              <a:buFont typeface="Arial" charset="0"/>
              <a:buChar char="•"/>
            </a:pPr>
            <a:r>
              <a:rPr lang="zh-CN">
                <a:solidFill>
                  <a:srgbClr val="000000">
                    <a:alpha val="100000"/>
                  </a:srgbClr>
                </a:solidFill>
                <a:latin typeface="PingFang SC"/>
                <a:ea typeface="PingFang SC"/>
              </a:rPr>
              <a:t>提高</a:t>
            </a:r>
            <a:r>
              <a:rPr lang="en-US">
                <a:solidFill>
                  <a:srgbClr val="000000">
                    <a:alpha val="100000"/>
                  </a:srgbClr>
                </a:solidFill>
                <a:latin typeface="PingFang SC"/>
                <a:ea typeface="PingFang SC"/>
              </a:rPr>
              <a:t> full sync </a:t>
            </a:r>
            <a:r>
              <a:rPr lang="zh-CN">
                <a:solidFill>
                  <a:srgbClr val="000000">
                    <a:alpha val="100000"/>
                  </a:srgbClr>
                </a:solidFill>
                <a:latin typeface="PingFang SC"/>
                <a:ea typeface="PingFang SC"/>
              </a:rPr>
              <a:t>的效率：</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在之前需要等副本节点加载完</a:t>
            </a:r>
            <a:r>
              <a:rPr lang="en-US">
                <a:solidFill>
                  <a:srgbClr val="000000">
                    <a:alpha val="100000"/>
                  </a:srgbClr>
                </a:solidFill>
                <a:latin typeface="PingFang SC"/>
                <a:ea typeface="PingFang SC"/>
              </a:rPr>
              <a:t> RDB </a:t>
            </a:r>
            <a:r>
              <a:rPr lang="zh-CN">
                <a:solidFill>
                  <a:srgbClr val="000000">
                    <a:alpha val="100000"/>
                  </a:srgbClr>
                </a:solidFill>
                <a:latin typeface="PingFang SC"/>
                <a:ea typeface="PingFang SC"/>
              </a:rPr>
              <a:t>快照后才能发送</a:t>
            </a:r>
            <a:r>
              <a:rPr lang="en-US">
                <a:solidFill>
                  <a:srgbClr val="000000">
                    <a:alpha val="100000"/>
                  </a:srgbClr>
                </a:solidFill>
                <a:latin typeface="PingFang SC"/>
                <a:ea typeface="PingFang SC"/>
              </a:rPr>
              <a:t> replication buffer</a:t>
            </a:r>
            <a:r>
              <a:rPr lang="zh-CN">
                <a:solidFill>
                  <a:srgbClr val="000000">
                    <a:alpha val="100000"/>
                  </a:srgbClr>
                </a:solidFill>
                <a:latin typeface="PingFang SC"/>
                <a:ea typeface="PingFang SC"/>
              </a:rPr>
              <a:t>，是串行的。积累的</a:t>
            </a:r>
            <a:r>
              <a:rPr lang="en-US">
                <a:solidFill>
                  <a:srgbClr val="000000">
                    <a:alpha val="100000"/>
                  </a:srgbClr>
                </a:solidFill>
                <a:latin typeface="PingFang SC"/>
                <a:ea typeface="PingFang SC"/>
              </a:rPr>
              <a:t> replication buffer </a:t>
            </a:r>
            <a:r>
              <a:rPr lang="zh-CN">
                <a:solidFill>
                  <a:srgbClr val="000000">
                    <a:alpha val="100000"/>
                  </a:srgbClr>
                </a:solidFill>
                <a:latin typeface="PingFang SC"/>
                <a:ea typeface="PingFang SC"/>
              </a:rPr>
              <a:t>可能会需要一段时间才能传输完成。</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现在是并行发送，副本节点加载完</a:t>
            </a:r>
            <a:r>
              <a:rPr lang="en-US">
                <a:solidFill>
                  <a:srgbClr val="000000">
                    <a:alpha val="100000"/>
                  </a:srgbClr>
                </a:solidFill>
                <a:latin typeface="PingFang SC"/>
                <a:ea typeface="PingFang SC"/>
              </a:rPr>
              <a:t> RDB </a:t>
            </a:r>
            <a:r>
              <a:rPr lang="zh-CN">
                <a:solidFill>
                  <a:srgbClr val="000000">
                    <a:alpha val="100000"/>
                  </a:srgbClr>
                </a:solidFill>
                <a:latin typeface="PingFang SC"/>
                <a:ea typeface="PingFang SC"/>
              </a:rPr>
              <a:t>快照后可直接重放本地内存，全量同步期间的增量命令传输时间将会缩短，进而缩短整体同步时间。</a:t>
            </a:r>
            <a:endParaRPr>
              <a:latin typeface="PingFang SC"/>
              <a:ea typeface="PingFang SC"/>
            </a:endParaRPr>
          </a:p>
        </p:txBody>
      </p:sp>
    </p:spTree>
  </p:cSld>
  <p:clrMapOvr>
    <a:masterClrMapping/>
  </p:clrMapOvr>
</p:sld>
</file>

<file path=ppt/slides/slide64.xml><?xml version="1.0" encoding="utf-8"?>
<p:sld xmlns:a="http://schemas.openxmlformats.org/drawingml/2006/main" xmlns:p="http://schemas.openxmlformats.org/presentationml/2006/main">
  <p:cSld>
    <p:spTree>
      <p:nvGrpSpPr>
        <p:cNvPr id="191" name=""/>
        <p:cNvGrpSpPr/>
        <p:nvPr/>
      </p:nvGrpSpPr>
      <p:grpSpPr>
        <a:xfrm>
          <a:off x="0" y="0"/>
          <a:ext cx="0" cy="0"/>
          <a:chOff x="0" y="0"/>
          <a:chExt cx="0" cy="0"/>
        </a:xfrm>
      </p:grpSpPr>
      <p:sp>
        <p:nvSpPr>
          <p:cNvPr id="192"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Dual channel replication - benefits - 3</a:t>
            </a:r>
            <a:endParaRPr lang="zh-CN">
              <a:latin typeface="PingFang SC"/>
              <a:ea typeface="PingFang SC"/>
            </a:endParaRPr>
          </a:p>
        </p:txBody>
      </p:sp>
      <p:sp>
        <p:nvSpPr>
          <p:cNvPr id="193" name=""/>
          <p:cNvSpPr txBox="true"/>
          <p:nvPr/>
        </p:nvSpPr>
        <p:spPr>
          <a:xfrm rot="0" flipH="false" flipV="false">
            <a:off x="638629" y="1212732"/>
            <a:ext cx="10490200" cy="3302000"/>
          </a:xfrm>
          <a:prstGeom prst="rect"/>
        </p:spPr>
        <p:txBody>
          <a:bodyPr>
            <a:spAutoFit/>
          </a:bodyPr>
          <a:p>
            <a:pPr marL="285750" lvl="0" indent="-285750">
              <a:buFont typeface="Arial" charset="0"/>
              <a:buChar char="•"/>
            </a:pPr>
            <a:r>
              <a:rPr lang="zh-CN">
                <a:solidFill>
                  <a:srgbClr val="000000">
                    <a:alpha val="100000"/>
                  </a:srgbClr>
                </a:solidFill>
                <a:latin typeface="PingFang SC"/>
                <a:ea typeface="PingFang SC"/>
              </a:rPr>
              <a:t>增强副本节点数据一致性</a:t>
            </a:r>
            <a:endParaRPr sz="1800">
              <a:solidFill>
                <a:schemeClr val="tx1">
                  <a:alpha val="100000"/>
                </a:schemeClr>
              </a:solidFill>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因为有提升</a:t>
            </a:r>
            <a:r>
              <a:rPr lang="en-US">
                <a:solidFill>
                  <a:srgbClr val="000000">
                    <a:alpha val="100000"/>
                  </a:srgbClr>
                </a:solidFill>
                <a:latin typeface="PingFang SC"/>
                <a:ea typeface="PingFang SC"/>
              </a:rPr>
              <a:t> full sync </a:t>
            </a:r>
            <a:r>
              <a:rPr lang="zh-CN">
                <a:solidFill>
                  <a:srgbClr val="000000">
                    <a:alpha val="100000"/>
                  </a:srgbClr>
                </a:solidFill>
                <a:latin typeface="PingFang SC"/>
                <a:ea typeface="PingFang SC"/>
              </a:rPr>
              <a:t>的效率，某种程度上能减少副本节点提供陈旧数据的窗口时间。副本在上线后，从开始消费</a:t>
            </a:r>
            <a:r>
              <a:rPr lang="en-US">
                <a:solidFill>
                  <a:srgbClr val="000000">
                    <a:alpha val="100000"/>
                  </a:srgbClr>
                </a:solidFill>
                <a:latin typeface="PingFang SC"/>
                <a:ea typeface="PingFang SC"/>
              </a:rPr>
              <a:t> replication buffer </a:t>
            </a:r>
            <a:r>
              <a:rPr lang="zh-CN">
                <a:solidFill>
                  <a:srgbClr val="000000">
                    <a:alpha val="100000"/>
                  </a:srgbClr>
                </a:solidFill>
                <a:latin typeface="PingFang SC"/>
                <a:ea typeface="PingFang SC"/>
              </a:rPr>
              <a:t>到真正消费完之前，这中间会有一段时间窗口，主节点侧可能积累了很多数据，这些数据变更需要经过一定时间才能真正传播到副本节点。</a:t>
            </a:r>
            <a:endParaRPr>
              <a:latin typeface="PingFang SC"/>
              <a:ea typeface="PingFang SC"/>
            </a:endParaRPr>
          </a:p>
          <a:p>
            <a:pPr lvl="1" indent="0">
              <a:buNone/>
            </a:pPr>
            <a:endParaRPr lang="en-US">
              <a:solidFill>
                <a:srgbClr val="000000">
                  <a:alpha val="100000"/>
                </a:srgbClr>
              </a:solidFill>
              <a:latin typeface="PingFang SC"/>
              <a:ea typeface="PingFang SC"/>
            </a:endParaRPr>
          </a:p>
          <a:p>
            <a:pPr marL="285750" lvl="0" indent="-285750">
              <a:buFont typeface="Arial" charset="0"/>
              <a:buChar char="•"/>
            </a:pPr>
            <a:r>
              <a:rPr lang="zh-CN">
                <a:solidFill>
                  <a:srgbClr val="000000">
                    <a:alpha val="100000"/>
                  </a:srgbClr>
                </a:solidFill>
                <a:latin typeface="PingFang SC"/>
                <a:ea typeface="PingFang SC"/>
              </a:rPr>
              <a:t>快照传输和主线程流量负载不关联</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当有了</a:t>
            </a:r>
            <a:r>
              <a:rPr lang="en-US">
                <a:solidFill>
                  <a:srgbClr val="000000">
                    <a:alpha val="100000"/>
                  </a:srgbClr>
                </a:solidFill>
                <a:latin typeface="PingFang SC"/>
                <a:ea typeface="PingFang SC"/>
              </a:rPr>
              <a:t> rdb channel </a:t>
            </a:r>
            <a:r>
              <a:rPr lang="zh-CN">
                <a:solidFill>
                  <a:srgbClr val="000000">
                    <a:alpha val="100000"/>
                  </a:srgbClr>
                </a:solidFill>
                <a:latin typeface="PingFang SC"/>
                <a:ea typeface="PingFang SC"/>
              </a:rPr>
              <a:t>后，子进程可以直接发数据，即使父进程主线程遇到一些慢查询命令，或者命令复杂压力大，</a:t>
            </a:r>
            <a:r>
              <a:rPr lang="en-US">
                <a:solidFill>
                  <a:srgbClr val="000000">
                    <a:alpha val="100000"/>
                  </a:srgbClr>
                </a:solidFill>
                <a:latin typeface="PingFang SC"/>
                <a:ea typeface="PingFang SC"/>
              </a:rPr>
              <a:t>RDB </a:t>
            </a:r>
            <a:r>
              <a:rPr lang="zh-CN">
                <a:solidFill>
                  <a:srgbClr val="000000">
                    <a:alpha val="100000"/>
                  </a:srgbClr>
                </a:solidFill>
                <a:latin typeface="PingFang SC"/>
                <a:ea typeface="PingFang SC"/>
              </a:rPr>
              <a:t>的流式传输也不会受到影响。子进程无需和负载过重的主进程共享</a:t>
            </a:r>
            <a:r>
              <a:rPr lang="en-US">
                <a:solidFill>
                  <a:srgbClr val="000000">
                    <a:alpha val="100000"/>
                  </a:srgbClr>
                </a:solidFill>
                <a:latin typeface="PingFang SC"/>
                <a:ea typeface="PingFang SC"/>
              </a:rPr>
              <a:t> CPU </a:t>
            </a:r>
            <a:r>
              <a:rPr lang="zh-CN">
                <a:solidFill>
                  <a:srgbClr val="000000">
                    <a:alpha val="100000"/>
                  </a:srgbClr>
                </a:solidFill>
                <a:latin typeface="PingFang SC"/>
                <a:ea typeface="PingFang SC"/>
              </a:rPr>
              <a:t>资源即可往副本传输数据，不仅可以提升客户端响应速度，还可以缩短同步时间。</a:t>
            </a:r>
            <a:endParaRPr>
              <a:latin typeface="PingFang SC"/>
              <a:ea typeface="PingFang SC"/>
            </a:endParaRPr>
          </a:p>
        </p:txBody>
      </p:sp>
    </p:spTree>
  </p:cSld>
  <p:clrMapOvr>
    <a:masterClrMapping/>
  </p:clrMapOvr>
</p:sld>
</file>

<file path=ppt/slides/slide65.xml><?xml version="1.0" encoding="utf-8"?>
<p:sld xmlns:a="http://schemas.openxmlformats.org/drawingml/2006/main" xmlns:p="http://schemas.openxmlformats.org/presentationml/2006/main">
  <p:cSld>
    <p:spTree>
      <p:nvGrpSpPr>
        <p:cNvPr id="194" name=""/>
        <p:cNvGrpSpPr/>
        <p:nvPr/>
      </p:nvGrpSpPr>
      <p:grpSpPr>
        <a:xfrm>
          <a:off x="0" y="0"/>
          <a:ext cx="0" cy="0"/>
          <a:chOff x="0" y="0"/>
          <a:chExt cx="0" cy="0"/>
        </a:xfrm>
      </p:grpSpPr>
      <p:sp>
        <p:nvSpPr>
          <p:cNvPr id="195"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Dual channel replication - Configurations</a:t>
            </a:r>
            <a:endParaRPr lang="zh-CN">
              <a:latin typeface="PingFang SC"/>
              <a:ea typeface="PingFang SC"/>
            </a:endParaRPr>
          </a:p>
        </p:txBody>
      </p:sp>
      <p:sp>
        <p:nvSpPr>
          <p:cNvPr id="196" name=""/>
          <p:cNvSpPr txBox="true"/>
          <p:nvPr/>
        </p:nvSpPr>
        <p:spPr>
          <a:xfrm rot="0" flipH="false" flipV="false">
            <a:off x="638629" y="1212732"/>
            <a:ext cx="10490200" cy="1162050"/>
          </a:xfrm>
          <a:prstGeom prst="rect"/>
        </p:spPr>
        <p:txBody>
          <a:bodyPr>
            <a:spAutoFit/>
          </a:bodyPr>
          <a:p>
            <a:pPr marL="285750" lvl="0" indent="-285750">
              <a:buFont typeface="Arial" charset="0"/>
              <a:buChar char="•"/>
            </a:pPr>
            <a:r>
              <a:rPr lang="en-US">
                <a:solidFill>
                  <a:srgbClr val="000000">
                    <a:alpha val="100000"/>
                  </a:srgbClr>
                </a:solidFill>
                <a:latin typeface="PingFang SC"/>
                <a:ea typeface="PingFang SC"/>
              </a:rPr>
              <a:t>client-output-buffer-limit replica 256mb 64mb 60</a:t>
            </a:r>
            <a:endParaRPr>
              <a:latin typeface="PingFang SC"/>
              <a:ea typeface="PingFang SC"/>
            </a:endParaRPr>
          </a:p>
          <a:p>
            <a:pPr marL="285750" lvl="0" indent="-285750">
              <a:buFont typeface="Arial" charset="0"/>
              <a:buChar char="•"/>
            </a:pPr>
            <a:r>
              <a:rPr lang="en-US">
                <a:solidFill>
                  <a:srgbClr val="000000">
                    <a:alpha val="100000"/>
                  </a:srgbClr>
                </a:solidFill>
                <a:latin typeface="PingFang SC"/>
                <a:ea typeface="PingFang SC"/>
              </a:rPr>
              <a:t>repl-diskless-sync yes</a:t>
            </a:r>
            <a:endParaRPr>
              <a:latin typeface="PingFang SC"/>
              <a:ea typeface="PingFang SC"/>
            </a:endParaRPr>
          </a:p>
          <a:p>
            <a:pPr marL="285750" lvl="0" indent="-285750">
              <a:buFont typeface="Arial" charset="0"/>
              <a:buChar char="•"/>
            </a:pPr>
            <a:r>
              <a:rPr lang="en-US">
                <a:solidFill>
                  <a:srgbClr val="000000">
                    <a:alpha val="100000"/>
                  </a:srgbClr>
                </a:solidFill>
                <a:latin typeface="PingFang SC"/>
                <a:ea typeface="PingFang SC"/>
              </a:rPr>
              <a:t>dual-channel-replication-enabled no</a:t>
            </a:r>
            <a:endParaRPr>
              <a:latin typeface="PingFang SC"/>
              <a:ea typeface="PingFang SC"/>
            </a:endParaRPr>
          </a:p>
        </p:txBody>
      </p:sp>
    </p:spTree>
  </p:cSld>
  <p:clrMapOvr>
    <a:masterClrMapping/>
  </p:clrMapOvr>
</p:sld>
</file>

<file path=ppt/slides/slide66.xml><?xml version="1.0" encoding="utf-8"?>
<p:sld xmlns:a="http://schemas.openxmlformats.org/drawingml/2006/main" xmlns:p="http://schemas.openxmlformats.org/presentationml/2006/main">
  <p:cSld>
    <p:spTree>
      <p:nvGrpSpPr>
        <p:cNvPr id="197" name=""/>
        <p:cNvGrpSpPr/>
        <p:nvPr/>
      </p:nvGrpSpPr>
      <p:grpSpPr>
        <a:xfrm>
          <a:off x="0" y="0"/>
          <a:ext cx="0" cy="0"/>
          <a:chOff x="0" y="0"/>
          <a:chExt cx="0" cy="0"/>
        </a:xfrm>
      </p:grpSpPr>
      <p:sp>
        <p:nvSpPr>
          <p:cNvPr id="198"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Dual channel replication - More? - 1</a:t>
            </a:r>
            <a:endParaRPr lang="zh-CN">
              <a:latin typeface="PingFang SC"/>
              <a:ea typeface="PingFang SC"/>
            </a:endParaRPr>
          </a:p>
        </p:txBody>
      </p:sp>
      <p:sp>
        <p:nvSpPr>
          <p:cNvPr id="199" name=""/>
          <p:cNvSpPr txBox="true"/>
          <p:nvPr/>
        </p:nvSpPr>
        <p:spPr>
          <a:xfrm rot="0" flipH="false" flipV="false">
            <a:off x="638629" y="1212732"/>
            <a:ext cx="10490200" cy="4730750"/>
          </a:xfrm>
          <a:prstGeom prst="rect"/>
        </p:spPr>
        <p:txBody>
          <a:bodyPr>
            <a:spAutoFit/>
          </a:bodyPr>
          <a:p>
            <a:pPr marL="285750" lvl="0" indent="-285750">
              <a:buFont typeface="Arial" charset="0"/>
              <a:buChar char="•"/>
            </a:pPr>
            <a:r>
              <a:rPr lang="zh-CN">
                <a:solidFill>
                  <a:srgbClr val="000000">
                    <a:alpha val="100000"/>
                  </a:srgbClr>
                </a:solidFill>
                <a:latin typeface="PingFang SC"/>
                <a:ea typeface="PingFang SC"/>
              </a:rPr>
              <a:t>副本节点将</a:t>
            </a:r>
            <a:r>
              <a:rPr lang="en-US">
                <a:solidFill>
                  <a:srgbClr val="000000">
                    <a:alpha val="100000"/>
                  </a:srgbClr>
                </a:solidFill>
                <a:latin typeface="PingFang SC"/>
                <a:ea typeface="PingFang SC"/>
              </a:rPr>
              <a:t> local buffer </a:t>
            </a:r>
            <a:r>
              <a:rPr lang="zh-CN">
                <a:solidFill>
                  <a:srgbClr val="000000">
                    <a:alpha val="100000"/>
                  </a:srgbClr>
                </a:solidFill>
                <a:latin typeface="PingFang SC"/>
                <a:ea typeface="PingFang SC"/>
              </a:rPr>
              <a:t>落盘</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我们可以看到，</a:t>
            </a:r>
            <a:r>
              <a:rPr lang="en-US">
                <a:solidFill>
                  <a:srgbClr val="000000">
                    <a:alpha val="100000"/>
                  </a:srgbClr>
                </a:solidFill>
                <a:latin typeface="PingFang SC"/>
                <a:ea typeface="PingFang SC"/>
              </a:rPr>
              <a:t>dual channel </a:t>
            </a:r>
            <a:r>
              <a:rPr lang="zh-CN">
                <a:solidFill>
                  <a:srgbClr val="000000">
                    <a:alpha val="100000"/>
                  </a:srgbClr>
                </a:solidFill>
                <a:latin typeface="PingFang SC"/>
                <a:ea typeface="PingFang SC"/>
              </a:rPr>
              <a:t>只是将内存从主节点侧转移到了副本节点侧，实际上实例使用的总内存是没有变化的，</a:t>
            </a:r>
            <a:r>
              <a:rPr lang="zh-CN">
                <a:solidFill>
                  <a:srgbClr val="000000">
                    <a:alpha val="100000"/>
                  </a:srgbClr>
                </a:solidFill>
                <a:latin typeface="PingFang SC"/>
                <a:ea typeface="PingFang SC"/>
              </a:rPr>
              <a:t>并没有完全消除内存，只是将内存开销从重要的主节点，转移到了不那么重要的副本节点上。</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这种可以做的优化是类似在副本节点那边，将</a:t>
            </a:r>
            <a:r>
              <a:rPr lang="en-US">
                <a:solidFill>
                  <a:srgbClr val="000000">
                    <a:alpha val="100000"/>
                  </a:srgbClr>
                </a:solidFill>
                <a:latin typeface="PingFang SC"/>
                <a:ea typeface="PingFang SC"/>
              </a:rPr>
              <a:t> replication stream </a:t>
            </a:r>
            <a:r>
              <a:rPr lang="zh-CN">
                <a:solidFill>
                  <a:srgbClr val="000000">
                    <a:alpha val="100000"/>
                  </a:srgbClr>
                </a:solidFill>
                <a:latin typeface="PingFang SC"/>
                <a:ea typeface="PingFang SC"/>
              </a:rPr>
              <a:t>的内容给落盘，之后加载完</a:t>
            </a:r>
            <a:r>
              <a:rPr lang="en-US">
                <a:solidFill>
                  <a:srgbClr val="000000">
                    <a:alpha val="100000"/>
                  </a:srgbClr>
                </a:solidFill>
                <a:latin typeface="PingFang SC"/>
                <a:ea typeface="PingFang SC"/>
              </a:rPr>
              <a:t> RDB </a:t>
            </a:r>
            <a:r>
              <a:rPr lang="zh-CN">
                <a:solidFill>
                  <a:srgbClr val="000000">
                    <a:alpha val="100000"/>
                  </a:srgbClr>
                </a:solidFill>
                <a:latin typeface="PingFang SC"/>
                <a:ea typeface="PingFang SC"/>
              </a:rPr>
              <a:t>后再从硬盘加载</a:t>
            </a:r>
            <a:r>
              <a:rPr lang="en-US">
                <a:solidFill>
                  <a:srgbClr val="000000">
                    <a:alpha val="100000"/>
                  </a:srgbClr>
                </a:solidFill>
                <a:latin typeface="PingFang SC"/>
                <a:ea typeface="PingFang SC"/>
              </a:rPr>
              <a:t> replication stream</a:t>
            </a:r>
            <a:r>
              <a:rPr lang="zh-CN">
                <a:solidFill>
                  <a:srgbClr val="000000">
                    <a:alpha val="100000"/>
                  </a:srgbClr>
                </a:solidFill>
                <a:latin typeface="PingFang SC"/>
                <a:ea typeface="PingFang SC"/>
              </a:rPr>
              <a:t>，从而可以继续扩大</a:t>
            </a:r>
            <a:r>
              <a:rPr lang="en-US">
                <a:solidFill>
                  <a:srgbClr val="000000">
                    <a:alpha val="100000"/>
                  </a:srgbClr>
                </a:solidFill>
                <a:latin typeface="PingFang SC"/>
                <a:ea typeface="PingFang SC"/>
              </a:rPr>
              <a:t> COB</a:t>
            </a:r>
            <a:r>
              <a:rPr lang="zh-CN">
                <a:solidFill>
                  <a:srgbClr val="000000">
                    <a:alpha val="100000"/>
                  </a:srgbClr>
                </a:solidFill>
                <a:latin typeface="PingFang SC"/>
                <a:ea typeface="PingFang SC"/>
              </a:rPr>
              <a:t>。</a:t>
            </a:r>
            <a:endParaRPr>
              <a:latin typeface="PingFang SC"/>
              <a:ea typeface="PingFang SC"/>
            </a:endParaRPr>
          </a:p>
          <a:p>
            <a:pPr lvl="1" indent="0">
              <a:buNone/>
            </a:pPr>
            <a:endParaRPr lang="en-US">
              <a:solidFill>
                <a:srgbClr val="000000">
                  <a:alpha val="100000"/>
                </a:srgbClr>
              </a:solidFill>
              <a:latin typeface="PingFang SC"/>
              <a:ea typeface="PingFang SC"/>
            </a:endParaRPr>
          </a:p>
          <a:p>
            <a:pPr marL="285750" lvl="0" indent="-285750">
              <a:buFont typeface="Arial" charset="0"/>
              <a:buChar char="•"/>
            </a:pPr>
            <a:r>
              <a:rPr lang="zh-CN">
                <a:solidFill>
                  <a:srgbClr val="000000">
                    <a:alpha val="100000"/>
                  </a:srgbClr>
                </a:solidFill>
                <a:latin typeface="PingFang SC"/>
                <a:ea typeface="PingFang SC"/>
              </a:rPr>
              <a:t>多副本同时全量同步，总内存增加</a:t>
            </a:r>
            <a:endParaRPr sz="1800">
              <a:solidFill>
                <a:schemeClr val="tx1">
                  <a:alpha val="100000"/>
                </a:schemeClr>
              </a:solidFill>
              <a:latin typeface="PingFang SC"/>
              <a:ea typeface="PingFang SC"/>
            </a:endParaRPr>
          </a:p>
          <a:p>
            <a:pPr marL="742950" lvl="1" indent="-285750">
              <a:buFont typeface="Arial" charset="0"/>
              <a:buChar char="•"/>
            </a:pPr>
            <a:r>
              <a:rPr lang="en-US">
                <a:solidFill>
                  <a:srgbClr val="000000">
                    <a:alpha val="100000"/>
                  </a:srgbClr>
                </a:solidFill>
                <a:latin typeface="PingFang SC"/>
                <a:ea typeface="PingFang SC"/>
              </a:rPr>
              <a:t>7.0 </a:t>
            </a:r>
            <a:r>
              <a:rPr lang="zh-CN">
                <a:solidFill>
                  <a:srgbClr val="000000">
                    <a:alpha val="100000"/>
                  </a:srgbClr>
                </a:solidFill>
                <a:latin typeface="PingFang SC"/>
                <a:ea typeface="PingFang SC"/>
              </a:rPr>
              <a:t>引入了全局复制共享缓冲区，无论有多少个副本，主节点只需要存储一份数据到共享缓冲区中（我们允许多个副本同时全量同步），如果使用</a:t>
            </a:r>
            <a:r>
              <a:rPr lang="en-US">
                <a:solidFill>
                  <a:srgbClr val="000000">
                    <a:alpha val="100000"/>
                  </a:srgbClr>
                </a:solidFill>
                <a:latin typeface="PingFang SC"/>
                <a:ea typeface="PingFang SC"/>
              </a:rPr>
              <a:t> dual channel</a:t>
            </a:r>
            <a:r>
              <a:rPr lang="zh-CN">
                <a:solidFill>
                  <a:srgbClr val="000000">
                    <a:alpha val="100000"/>
                  </a:srgbClr>
                </a:solidFill>
                <a:latin typeface="PingFang SC"/>
                <a:ea typeface="PingFang SC"/>
              </a:rPr>
              <a:t>，这意味着共享缓冲区作用失效了部分，</a:t>
            </a:r>
            <a:r>
              <a:rPr lang="zh-CN">
                <a:solidFill>
                  <a:srgbClr val="000000">
                    <a:alpha val="100000"/>
                  </a:srgbClr>
                </a:solidFill>
                <a:latin typeface="PingFang SC"/>
                <a:ea typeface="PingFang SC"/>
              </a:rPr>
              <a:t>复制流数据在多个副本上都进行了缓存，实例总内存使用情况是在增加的。</a:t>
            </a:r>
            <a:endParaRPr sz="1800">
              <a:solidFill>
                <a:schemeClr val="tx1">
                  <a:alpha val="100000"/>
                </a:schemeClr>
              </a:solidFill>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这种可以做的优化可能是类似，当主节点判断出有多个副本需要同时做全量同步的时候，主节点那边不走</a:t>
            </a:r>
            <a:r>
              <a:rPr lang="en-US">
                <a:solidFill>
                  <a:srgbClr val="000000">
                    <a:alpha val="100000"/>
                  </a:srgbClr>
                </a:solidFill>
                <a:latin typeface="PingFang SC"/>
                <a:ea typeface="PingFang SC"/>
              </a:rPr>
              <a:t> dual channel </a:t>
            </a:r>
            <a:r>
              <a:rPr lang="zh-CN">
                <a:solidFill>
                  <a:srgbClr val="000000">
                    <a:alpha val="100000"/>
                  </a:srgbClr>
                </a:solidFill>
                <a:latin typeface="PingFang SC"/>
                <a:ea typeface="PingFang SC"/>
              </a:rPr>
              <a:t>而是走回原本的</a:t>
            </a:r>
            <a:r>
              <a:rPr lang="en-US">
                <a:solidFill>
                  <a:srgbClr val="000000">
                    <a:alpha val="100000"/>
                  </a:srgbClr>
                </a:solidFill>
                <a:latin typeface="PingFang SC"/>
                <a:ea typeface="PingFang SC"/>
              </a:rPr>
              <a:t> single channel replication</a:t>
            </a:r>
            <a:r>
              <a:rPr lang="zh-CN">
                <a:solidFill>
                  <a:srgbClr val="000000">
                    <a:alpha val="100000"/>
                  </a:srgbClr>
                </a:solidFill>
                <a:latin typeface="PingFang SC"/>
                <a:ea typeface="PingFang SC"/>
              </a:rPr>
              <a:t>。</a:t>
            </a:r>
            <a:endParaRPr sz="1800">
              <a:solidFill>
                <a:schemeClr val="tx1">
                  <a:alpha val="100000"/>
                </a:schemeClr>
              </a:solidFill>
              <a:latin typeface="PingFang SC"/>
              <a:ea typeface="PingFang SC"/>
            </a:endParaRPr>
          </a:p>
        </p:txBody>
      </p:sp>
    </p:spTree>
  </p:cSld>
  <p:clrMapOvr>
    <a:masterClrMapping/>
  </p:clrMapOvr>
</p:sld>
</file>

<file path=ppt/slides/slide67.xml><?xml version="1.0" encoding="utf-8"?>
<p:sld xmlns:a="http://schemas.openxmlformats.org/drawingml/2006/main" xmlns:p="http://schemas.openxmlformats.org/presentationml/2006/main">
  <p:cSld>
    <p:spTree>
      <p:nvGrpSpPr>
        <p:cNvPr id="200" name=""/>
        <p:cNvGrpSpPr/>
        <p:nvPr/>
      </p:nvGrpSpPr>
      <p:grpSpPr>
        <a:xfrm>
          <a:off x="0" y="0"/>
          <a:ext cx="0" cy="0"/>
          <a:chOff x="0" y="0"/>
          <a:chExt cx="0" cy="0"/>
        </a:xfrm>
      </p:grpSpPr>
      <p:sp>
        <p:nvSpPr>
          <p:cNvPr id="201"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Dual channel replication - More? - 2</a:t>
            </a:r>
            <a:endParaRPr lang="zh-CN">
              <a:latin typeface="PingFang SC"/>
              <a:ea typeface="PingFang SC"/>
            </a:endParaRPr>
          </a:p>
        </p:txBody>
      </p:sp>
      <p:sp>
        <p:nvSpPr>
          <p:cNvPr id="202" name=""/>
          <p:cNvSpPr txBox="true"/>
          <p:nvPr/>
        </p:nvSpPr>
        <p:spPr>
          <a:xfrm rot="0" flipH="false" flipV="false">
            <a:off x="638629" y="1212732"/>
            <a:ext cx="10490200" cy="4368800"/>
          </a:xfrm>
          <a:prstGeom prst="rect"/>
        </p:spPr>
        <p:txBody>
          <a:bodyPr>
            <a:spAutoFit/>
          </a:bodyPr>
          <a:p>
            <a:pPr marL="285750" lvl="0" indent="-285750">
              <a:buFont typeface="Arial" charset="0"/>
              <a:buChar char="•"/>
            </a:pPr>
            <a:r>
              <a:rPr lang="zh-CN">
                <a:solidFill>
                  <a:srgbClr val="000000">
                    <a:alpha val="100000"/>
                  </a:srgbClr>
                </a:solidFill>
                <a:latin typeface="PingFang SC"/>
                <a:ea typeface="PingFang SC"/>
              </a:rPr>
              <a:t>副本边加载</a:t>
            </a:r>
            <a:r>
              <a:rPr lang="en-US">
                <a:solidFill>
                  <a:srgbClr val="000000">
                    <a:alpha val="100000"/>
                  </a:srgbClr>
                </a:solidFill>
                <a:latin typeface="PingFang SC"/>
                <a:ea typeface="PingFang SC"/>
              </a:rPr>
              <a:t> local buffer </a:t>
            </a:r>
            <a:r>
              <a:rPr lang="zh-CN">
                <a:solidFill>
                  <a:srgbClr val="000000">
                    <a:alpha val="100000"/>
                  </a:srgbClr>
                </a:solidFill>
                <a:latin typeface="PingFang SC"/>
                <a:ea typeface="PingFang SC"/>
              </a:rPr>
              <a:t>边继续缓存</a:t>
            </a:r>
            <a:endParaRPr>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目前</a:t>
            </a:r>
            <a:r>
              <a:rPr lang="en-US">
                <a:solidFill>
                  <a:srgbClr val="000000">
                    <a:alpha val="100000"/>
                  </a:srgbClr>
                </a:solidFill>
                <a:latin typeface="PingFang SC"/>
                <a:ea typeface="PingFang SC"/>
              </a:rPr>
              <a:t> valkey </a:t>
            </a:r>
            <a:r>
              <a:rPr lang="zh-CN">
                <a:solidFill>
                  <a:srgbClr val="000000">
                    <a:alpha val="100000"/>
                  </a:srgbClr>
                </a:solidFill>
                <a:latin typeface="PingFang SC"/>
                <a:ea typeface="PingFang SC"/>
              </a:rPr>
              <a:t>副本节点在消费</a:t>
            </a:r>
            <a:r>
              <a:rPr lang="en-US">
                <a:solidFill>
                  <a:srgbClr val="000000">
                    <a:alpha val="100000"/>
                  </a:srgbClr>
                </a:solidFill>
                <a:latin typeface="PingFang SC"/>
                <a:ea typeface="PingFang SC"/>
              </a:rPr>
              <a:t> local buffer </a:t>
            </a:r>
            <a:r>
              <a:rPr lang="zh-CN">
                <a:solidFill>
                  <a:srgbClr val="000000">
                    <a:alpha val="100000"/>
                  </a:srgbClr>
                </a:solidFill>
                <a:latin typeface="PingFang SC"/>
                <a:ea typeface="PingFang SC"/>
              </a:rPr>
              <a:t>的时候，它会将</a:t>
            </a:r>
            <a:r>
              <a:rPr lang="en-US">
                <a:solidFill>
                  <a:srgbClr val="000000">
                    <a:alpha val="100000"/>
                  </a:srgbClr>
                </a:solidFill>
                <a:latin typeface="PingFang SC"/>
                <a:ea typeface="PingFang SC"/>
              </a:rPr>
              <a:t> read handler </a:t>
            </a:r>
            <a:r>
              <a:rPr lang="zh-CN">
                <a:solidFill>
                  <a:srgbClr val="000000">
                    <a:alpha val="100000"/>
                  </a:srgbClr>
                </a:solidFill>
                <a:latin typeface="PingFang SC"/>
                <a:ea typeface="PingFang SC"/>
              </a:rPr>
              <a:t>给置空，停止继续从主节点那边读取数据，实际上我们其实可以继续读取，这样能更好的将主节点那边的内容转移过来。因为在大流量场景下，</a:t>
            </a:r>
            <a:r>
              <a:rPr lang="en-US">
                <a:solidFill>
                  <a:srgbClr val="000000">
                    <a:alpha val="100000"/>
                  </a:srgbClr>
                </a:solidFill>
                <a:latin typeface="PingFang SC"/>
                <a:ea typeface="PingFang SC"/>
              </a:rPr>
              <a:t>local buffer </a:t>
            </a:r>
            <a:r>
              <a:rPr lang="zh-CN">
                <a:solidFill>
                  <a:srgbClr val="000000">
                    <a:alpha val="100000"/>
                  </a:srgbClr>
                </a:solidFill>
                <a:latin typeface="PingFang SC"/>
                <a:ea typeface="PingFang SC"/>
              </a:rPr>
              <a:t>可能会堆积的很大，要完全消费完可能需要一段时间，在这段时间主节点那边如果</a:t>
            </a:r>
            <a:r>
              <a:rPr lang="en-US">
                <a:solidFill>
                  <a:srgbClr val="000000">
                    <a:alpha val="100000"/>
                  </a:srgbClr>
                </a:solidFill>
                <a:latin typeface="PingFang SC"/>
                <a:ea typeface="PingFang SC"/>
              </a:rPr>
              <a:t> COB </a:t>
            </a:r>
            <a:r>
              <a:rPr lang="zh-CN">
                <a:solidFill>
                  <a:srgbClr val="000000">
                    <a:alpha val="100000"/>
                  </a:srgbClr>
                </a:solidFill>
                <a:latin typeface="PingFang SC"/>
                <a:ea typeface="PingFang SC"/>
              </a:rPr>
              <a:t>达到限制一样会断连，所以我们可以尽量继续转移，即边加载</a:t>
            </a:r>
            <a:r>
              <a:rPr lang="en-US">
                <a:solidFill>
                  <a:srgbClr val="000000">
                    <a:alpha val="100000"/>
                  </a:srgbClr>
                </a:solidFill>
                <a:latin typeface="PingFang SC"/>
                <a:ea typeface="PingFang SC"/>
              </a:rPr>
              <a:t> local buffer </a:t>
            </a:r>
            <a:r>
              <a:rPr lang="zh-CN">
                <a:solidFill>
                  <a:srgbClr val="000000">
                    <a:alpha val="100000"/>
                  </a:srgbClr>
                </a:solidFill>
                <a:latin typeface="PingFang SC"/>
                <a:ea typeface="PingFang SC"/>
              </a:rPr>
              <a:t>边继续缓存。</a:t>
            </a:r>
            <a:endParaRPr>
              <a:latin typeface="PingFang SC"/>
              <a:ea typeface="PingFang SC"/>
            </a:endParaRPr>
          </a:p>
          <a:p>
            <a:pPr lvl="1" indent="0">
              <a:buNone/>
            </a:pPr>
            <a:endParaRPr lang="en-US">
              <a:solidFill>
                <a:srgbClr val="000000">
                  <a:alpha val="100000"/>
                </a:srgbClr>
              </a:solidFill>
              <a:latin typeface="PingFang SC"/>
              <a:ea typeface="PingFang SC"/>
            </a:endParaRPr>
          </a:p>
          <a:p>
            <a:pPr marL="285750" lvl="0" indent="-285750">
              <a:buFont typeface="Arial" charset="0"/>
              <a:buChar char="•"/>
            </a:pPr>
            <a:r>
              <a:rPr lang="zh-CN">
                <a:solidFill>
                  <a:srgbClr val="000000">
                    <a:alpha val="100000"/>
                  </a:srgbClr>
                </a:solidFill>
                <a:latin typeface="PingFang SC"/>
                <a:ea typeface="PingFang SC"/>
              </a:rPr>
              <a:t>单独的副本</a:t>
            </a:r>
            <a:r>
              <a:rPr lang="en-US">
                <a:solidFill>
                  <a:srgbClr val="000000">
                    <a:alpha val="100000"/>
                  </a:srgbClr>
                </a:solidFill>
                <a:latin typeface="PingFang SC"/>
                <a:ea typeface="PingFang SC"/>
              </a:rPr>
              <a:t> local buffer </a:t>
            </a:r>
            <a:r>
              <a:rPr lang="zh-CN">
                <a:solidFill>
                  <a:srgbClr val="000000">
                    <a:alpha val="100000"/>
                  </a:srgbClr>
                </a:solidFill>
                <a:latin typeface="PingFang SC"/>
                <a:ea typeface="PingFang SC"/>
              </a:rPr>
              <a:t>配置项</a:t>
            </a:r>
            <a:endParaRPr sz="1800">
              <a:solidFill>
                <a:schemeClr val="tx1">
                  <a:alpha val="100000"/>
                </a:schemeClr>
              </a:solidFill>
              <a:latin typeface="PingFang SC"/>
              <a:ea typeface="PingFang SC"/>
            </a:endParaRPr>
          </a:p>
          <a:p>
            <a:pPr marL="742950" lvl="1" indent="-285750">
              <a:buFont typeface="Arial" charset="0"/>
              <a:buChar char="•"/>
            </a:pPr>
            <a:r>
              <a:rPr lang="zh-CN">
                <a:solidFill>
                  <a:srgbClr val="000000">
                    <a:alpha val="100000"/>
                  </a:srgbClr>
                </a:solidFill>
                <a:latin typeface="PingFang SC"/>
                <a:ea typeface="PingFang SC"/>
              </a:rPr>
              <a:t>前面我们提到了副本</a:t>
            </a:r>
            <a:r>
              <a:rPr lang="en-US">
                <a:solidFill>
                  <a:srgbClr val="000000">
                    <a:alpha val="100000"/>
                  </a:srgbClr>
                </a:solidFill>
                <a:latin typeface="PingFang SC"/>
                <a:ea typeface="PingFang SC"/>
              </a:rPr>
              <a:t> local buffer </a:t>
            </a:r>
            <a:r>
              <a:rPr lang="zh-CN">
                <a:solidFill>
                  <a:srgbClr val="000000">
                    <a:alpha val="100000"/>
                  </a:srgbClr>
                </a:solidFill>
                <a:latin typeface="PingFang SC"/>
                <a:ea typeface="PingFang SC"/>
              </a:rPr>
              <a:t>的大小是继承自</a:t>
            </a:r>
            <a:r>
              <a:rPr lang="en-US">
                <a:solidFill>
                  <a:srgbClr val="000000">
                    <a:alpha val="100000"/>
                  </a:srgbClr>
                </a:solidFill>
                <a:latin typeface="PingFang SC"/>
                <a:ea typeface="PingFang SC"/>
              </a:rPr>
              <a:t> replica client-output-buffer-limit </a:t>
            </a:r>
            <a:r>
              <a:rPr lang="zh-CN">
                <a:solidFill>
                  <a:srgbClr val="000000">
                    <a:alpha val="100000"/>
                  </a:srgbClr>
                </a:solidFill>
                <a:latin typeface="PingFang SC"/>
                <a:ea typeface="PingFang SC"/>
              </a:rPr>
              <a:t>配置项的，在某些运维场景，为副本单独设置一个新的</a:t>
            </a:r>
            <a:r>
              <a:rPr lang="en-US">
                <a:solidFill>
                  <a:srgbClr val="000000">
                    <a:alpha val="100000"/>
                  </a:srgbClr>
                </a:solidFill>
                <a:latin typeface="PingFang SC"/>
                <a:ea typeface="PingFang SC"/>
              </a:rPr>
              <a:t> local buffer </a:t>
            </a:r>
            <a:r>
              <a:rPr lang="zh-CN">
                <a:solidFill>
                  <a:srgbClr val="000000">
                    <a:alpha val="100000"/>
                  </a:srgbClr>
                </a:solidFill>
                <a:latin typeface="PingFang SC"/>
                <a:ea typeface="PingFang SC"/>
              </a:rPr>
              <a:t>配置项可能会更灵活。因为副本节点可能会在任意时刻被提升为主节点，和</a:t>
            </a:r>
            <a:r>
              <a:rPr lang="en-US">
                <a:solidFill>
                  <a:srgbClr val="000000">
                    <a:alpha val="100000"/>
                  </a:srgbClr>
                </a:solidFill>
                <a:latin typeface="PingFang SC"/>
                <a:ea typeface="PingFang SC"/>
              </a:rPr>
              <a:t> client-output-buffer-limit </a:t>
            </a:r>
            <a:r>
              <a:rPr lang="zh-CN">
                <a:solidFill>
                  <a:srgbClr val="000000">
                    <a:alpha val="100000"/>
                  </a:srgbClr>
                </a:solidFill>
                <a:latin typeface="PingFang SC"/>
                <a:ea typeface="PingFang SC"/>
              </a:rPr>
              <a:t>共用一个配置项可能会没那么灵活。</a:t>
            </a:r>
            <a:endParaRPr sz="1800">
              <a:solidFill>
                <a:schemeClr val="tx1">
                  <a:alpha val="100000"/>
                </a:schemeClr>
              </a:solidFill>
              <a:latin typeface="PingFang SC"/>
              <a:ea typeface="PingFang SC"/>
            </a:endParaRP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203" name=""/>
        <p:cNvGrpSpPr/>
        <p:nvPr/>
      </p:nvGrpSpPr>
      <p:grpSpPr>
        <a:xfrm>
          <a:off x="0" y="0"/>
          <a:ext cx="0" cy="0"/>
          <a:chOff x="0" y="0"/>
          <a:chExt cx="0" cy="0"/>
        </a:xfrm>
      </p:grpSpPr>
      <p:sp>
        <p:nvSpPr>
          <p:cNvPr id="204" name="标题 4"/>
          <p:cNvSpPr>
            <a:spLocks noGrp="true"/>
          </p:cNvSpPr>
          <p:nvPr>
            <p:ph type="title" idx="4294967295"/>
          </p:nvPr>
        </p:nvSpPr>
        <p:spPr>
          <a:xfrm>
            <a:off x="638629" y="292556"/>
            <a:ext cx="11073946" cy="615950"/>
          </a:xfrm>
          <a:prstGeom prst="rect">
            <a:avLst/>
          </a:prstGeom>
        </p:spPr>
        <p:txBody>
          <a:bodyPr>
            <a:normAutofit fontScale="90000"/>
          </a:bodyPr>
          <a:lstStyle/>
          <a:p>
            <a:pPr>
              <a:buNone/>
            </a:pPr>
            <a:r>
              <a:rPr lang="en-US">
                <a:latin typeface="PingFang SC"/>
                <a:ea typeface="PingFang SC"/>
              </a:rPr>
              <a:t>Make Valkey Great Together</a:t>
            </a:r>
            <a:endParaRPr lang="zh-CN">
              <a:latin typeface="PingFang SC"/>
              <a:ea typeface="PingFang SC"/>
            </a:endParaRPr>
          </a:p>
        </p:txBody>
      </p:sp>
      <p:sp>
        <p:nvSpPr>
          <p:cNvPr id="205" name=""/>
          <p:cNvSpPr txBox="true"/>
          <p:nvPr/>
        </p:nvSpPr>
        <p:spPr>
          <a:xfrm rot="0" flipH="false" flipV="false">
            <a:off x="638629" y="1212732"/>
            <a:ext cx="10490200" cy="1873250"/>
          </a:xfrm>
          <a:prstGeom prst="rect"/>
        </p:spPr>
        <p:txBody>
          <a:bodyPr>
            <a:spAutoFit/>
          </a:bodyPr>
          <a:p>
            <a:pPr marL="285750" lvl="0" indent="-285750">
              <a:buFont typeface="Arial" charset="0"/>
              <a:buChar char="•"/>
            </a:pPr>
            <a:r>
              <a:rPr lang="en-US">
                <a:solidFill>
                  <a:srgbClr val="000000">
                    <a:alpha val="100000"/>
                  </a:srgbClr>
                </a:solidFill>
                <a:latin typeface="PingFang SC"/>
                <a:ea typeface="PingFang SC"/>
              </a:rPr>
              <a:t>No CLA, only have DCO</a:t>
            </a:r>
            <a:endParaRPr>
              <a:latin typeface="PingFang SC"/>
              <a:ea typeface="PingFang SC"/>
            </a:endParaRPr>
          </a:p>
          <a:p>
            <a:pPr marL="285750" lvl="0" indent="-285750">
              <a:buFont typeface="Arial" charset="0"/>
              <a:buChar char="•"/>
            </a:pPr>
            <a:r>
              <a:rPr lang="en-US">
                <a:solidFill>
                  <a:srgbClr val="000000">
                    <a:alpha val="100000"/>
                  </a:srgbClr>
                </a:solidFill>
                <a:latin typeface="PingFang SC"/>
                <a:ea typeface="PingFang SC"/>
              </a:rPr>
              <a:t>https://valkey.io/</a:t>
            </a:r>
            <a:endParaRPr>
              <a:latin typeface="PingFang SC"/>
              <a:ea typeface="PingFang SC"/>
            </a:endParaRPr>
          </a:p>
          <a:p>
            <a:pPr marL="285750" lvl="0" indent="-285750">
              <a:buFont typeface="Arial" charset="0"/>
              <a:buChar char="•"/>
            </a:pPr>
            <a:r>
              <a:rPr lang="en-US">
                <a:solidFill>
                  <a:srgbClr val="000000">
                    <a:alpha val="100000"/>
                  </a:srgbClr>
                </a:solidFill>
                <a:latin typeface="PingFang SC"/>
                <a:ea typeface="PingFang SC"/>
              </a:rPr>
              <a:t>https://github.com/valkey-io/valkey</a:t>
            </a:r>
            <a:endParaRPr>
              <a:latin typeface="PingFang SC"/>
              <a:ea typeface="PingFang SC"/>
            </a:endParaRPr>
          </a:p>
          <a:p>
            <a:pPr marL="285750" lvl="0" indent="-285750">
              <a:buFont typeface="Arial" charset="0"/>
              <a:buChar char="•"/>
            </a:pPr>
            <a:r>
              <a:rPr lang="en-US">
                <a:solidFill>
                  <a:srgbClr val="000000">
                    <a:alpha val="100000"/>
                  </a:srgbClr>
                </a:solidFill>
                <a:latin typeface="PingFang SC"/>
                <a:ea typeface="PingFang SC"/>
              </a:rPr>
              <a:t>https://github.com/valkey-io/valkey-doc</a:t>
            </a:r>
            <a:endParaRPr>
              <a:latin typeface="PingFang SC"/>
              <a:ea typeface="PingFang SC"/>
            </a:endParaRPr>
          </a:p>
          <a:p>
            <a:pPr marL="285750" lvl="0" indent="-285750">
              <a:buFont typeface="Arial" charset="0"/>
              <a:buChar char="•"/>
            </a:pPr>
            <a:r>
              <a:rPr lang="en-US">
                <a:solidFill>
                  <a:srgbClr val="000000">
                    <a:alpha val="100000"/>
                  </a:srgbClr>
                </a:solidFill>
                <a:latin typeface="PingFang SC"/>
                <a:ea typeface="PingFang SC"/>
              </a:rPr>
              <a:t>https://github.com/valkey-io/valkey/blob/unstable/CONTRIBUTING.md</a:t>
            </a:r>
            <a:endParaRPr>
              <a:latin typeface="PingFang SC"/>
              <a:ea typeface="PingFang SC"/>
            </a:endParaRPr>
          </a:p>
        </p:txBody>
      </p:sp>
      <p:sp>
        <p:nvSpPr>
          <p:cNvPr id="206" name=""/>
          <p:cNvSpPr txBox="true"/>
          <p:nvPr/>
        </p:nvSpPr>
        <p:spPr>
          <a:xfrm rot="0" flipH="false" flipV="false">
            <a:off x="2873602" y="6202773"/>
            <a:ext cx="6584950" cy="450850"/>
          </a:xfrm>
          <a:prstGeom prst="rect">
            <a:avLst/>
          </a:prstGeom>
          <a:ln w="6350">
            <a:prstDash val="solid"/>
          </a:ln>
        </p:spPr>
        <p:txBody>
          <a:bodyPr wrap="none">
            <a:spAutoFit/>
          </a:bodyPr>
          <a:p>
            <a:pPr/>
            <a:r>
              <a:rPr lang="en-US">
                <a:latin typeface="PingFang SC"/>
                <a:ea typeface="PingFang SC"/>
              </a:rPr>
              <a:t>https://github.com/valkey-io/valkey/releases/tag/9.0.0-rc1</a:t>
            </a:r>
            <a:endParaRPr>
              <a:latin typeface="PingFang SC"/>
              <a:ea typeface="PingFang SC"/>
            </a:endParaRPr>
          </a:p>
        </p:txBody>
      </p:sp>
      <p:pic>
        <p:nvPicPr>
          <p:cNvPr id="207" name=""/>
          <p:cNvPicPr>
            <a:picLocks noChangeAspect="true"/>
          </p:cNvPicPr>
          <p:nvPr/>
        </p:nvPicPr>
        <p:blipFill>
          <a:blip r:embed="rId2"/>
          <a:stretch>
            <a:fillRect/>
          </a:stretch>
        </p:blipFill>
        <p:spPr>
          <a:xfrm rot="0" flipH="false" flipV="false">
            <a:off x="791029" y="3202928"/>
            <a:ext cx="10337800" cy="2882900"/>
          </a:xfrm>
          <a:prstGeom prst="rect"/>
          <a:ln w="9525">
            <a:solidFill>
              <a:srgbClr val="2f528f">
                <a:alpha val="100000"/>
              </a:srgbClr>
            </a:solidFill>
            <a:prstDash val="solid"/>
          </a:ln>
        </p:spPr>
      </p:pic>
    </p:spTree>
  </p:cSld>
  <p:clrMapOvr>
    <a:masterClrMapping/>
  </p:clrMapOvr>
</p:sld>
</file>

<file path=ppt/slides/slide69.xml><?xml version="1.0" encoding="utf-8"?>
<p:sld xmlns:a="http://schemas.openxmlformats.org/drawingml/2006/main" xmlns:asvg="http://schemas.microsoft.com/office/drawing/2016/SVG/main" xmlns:p="http://schemas.openxmlformats.org/presentationml/2006/main" xmlns:r="http://schemas.openxmlformats.org/officeDocument/2006/relationships" xmlns:mc="http://schemas.openxmlformats.org/markup-compatibility/2006" mc:Ignorable="asvg">
  <p:cSld>
    <p:spTree>
      <p:nvGrpSpPr>
        <p:cNvPr id="212" name=""/>
        <p:cNvGrpSpPr/>
        <p:nvPr/>
      </p:nvGrpSpPr>
      <p:grpSpPr>
        <a:xfrm>
          <a:off x="0" y="0"/>
          <a:ext cx="0" cy="0"/>
          <a:chOff x="0" y="0"/>
          <a:chExt cx="0" cy="0"/>
        </a:xfrm>
      </p:grpSpPr>
      <p:pic>
        <p:nvPicPr>
          <p:cNvPr id="213" name="Picture 2"/>
          <p:cNvPicPr>
            <a:picLocks noChangeAspect="true" noChangeArrowheads="true"/>
          </p:cNvPicPr>
          <p:nvPr/>
        </p:nvPicPr>
        <p:blipFill rotWithShape="true">
          <a:blip r:embed="rId2">
            <a:extLst>
              <a:ext uri="{28A0092B-C50C-407E-A947-70E740481C1C}"/>
            </a:extLst>
          </a:blip>
          <a:srcRect b="23680"/>
          <a:stretch>
            <a:fillRect/>
          </a:stretch>
        </p:blipFill>
        <p:spPr bwMode="auto">
          <a:xfrm rot="0" flipH="false" flipV="false">
            <a:off x="0" y="0"/>
            <a:ext cx="12191999" cy="6857999"/>
          </a:xfrm>
          <a:prstGeom prst="rect">
            <a:avLst/>
          </a:prstGeom>
          <a:noFill/>
          <a:extLst>
            <a:ext uri="{909E8E84-426E-40DD-AFC4-6F175D3DCCD1}"/>
          </a:extLst>
        </p:spPr>
      </p:pic>
      <p:sp>
        <p:nvSpPr>
          <p:cNvPr id="214" name="Rectangle 14"/>
          <p:cNvSpPr/>
          <p:nvPr/>
        </p:nvSpPr>
        <p:spPr>
          <a:xfrm>
            <a:off x="0" y="1937359"/>
            <a:ext cx="12192000" cy="3640899"/>
          </a:xfrm>
          <a:prstGeom prst="rect">
            <a:avLst/>
          </a:prstGeom>
          <a:solidFill>
            <a:srgbClr val="000000">
              <a:alpha val="6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false" anchor="ctr"/>
          <a:lstStyle/>
          <a:p>
            <a:pPr algn="ctr"/>
            <a:endParaRPr lang="en-US" sz="2400">
              <a:latin typeface="PingFang SC"/>
              <a:ea typeface="PingFang SC"/>
            </a:endParaRPr>
          </a:p>
        </p:txBody>
      </p:sp>
      <p:pic>
        <p:nvPicPr>
          <p:cNvPr id="215" name="Graphic 16"/>
          <p:cNvPicPr>
            <a:picLocks noChangeAspect="true"/>
          </p:cNvPicPr>
          <p:nvPr/>
        </p:nvPicPr>
        <p:blipFill>
          <a:blip r:embed="rId3">
            <a:extLst>
              <a:ext uri="{96DAC541-7B7A-43D3-8B79-37D633B846F1}">
                <asvg:svgBlip r:embed="rId4"/>
              </a:ext>
            </a:extLst>
          </a:blip>
          <a:stretch>
            <a:fillRect/>
          </a:stretch>
        </p:blipFill>
        <p:spPr>
          <a:xfrm>
            <a:off x="9987419" y="5916142"/>
            <a:ext cx="1774172" cy="603973"/>
          </a:xfrm>
          <a:prstGeom prst="rect">
            <a:avLst/>
          </a:prstGeom>
        </p:spPr>
      </p:pic>
      <p:sp>
        <p:nvSpPr>
          <p:cNvPr id="216" name="TextBox 21"/>
          <p:cNvSpPr txBox="true"/>
          <p:nvPr/>
        </p:nvSpPr>
        <p:spPr>
          <a:xfrm>
            <a:off x="456396" y="2322319"/>
            <a:ext cx="10541000" cy="1041400"/>
          </a:xfrm>
          <a:prstGeom prst="rect">
            <a:avLst/>
          </a:prstGeom>
          <a:noFill/>
        </p:spPr>
        <p:txBody>
          <a:bodyPr wrap="none" rtlCol="false">
            <a:spAutoFit/>
          </a:bodyPr>
          <a:lstStyle/>
          <a:p>
            <a:pPr/>
            <a:r>
              <a:rPr lang="en-US" sz="4800" b="true">
                <a:solidFill>
                  <a:schemeClr val="bg1">
                    <a:alpha val="100000"/>
                  </a:schemeClr>
                </a:solidFill>
                <a:latin typeface="PingFang SC"/>
                <a:ea typeface="PingFang SC"/>
              </a:rPr>
              <a:t>Thank you! Enjoy Valkey Keyspace!</a:t>
            </a:r>
            <a:endParaRPr>
              <a:latin typeface="PingFang SC"/>
              <a:ea typeface="PingFang SC"/>
            </a:endParaRPr>
          </a:p>
        </p:txBody>
      </p:sp>
      <p:sp>
        <p:nvSpPr>
          <p:cNvPr id="217" name="TextBox 22"/>
          <p:cNvSpPr txBox="true"/>
          <p:nvPr/>
        </p:nvSpPr>
        <p:spPr>
          <a:xfrm>
            <a:off x="549055" y="4503413"/>
            <a:ext cx="3708400" cy="723900"/>
          </a:xfrm>
          <a:prstGeom prst="rect">
            <a:avLst/>
          </a:prstGeom>
          <a:noFill/>
        </p:spPr>
        <p:txBody>
          <a:bodyPr wrap="none" rtlCol="false">
            <a:spAutoFit/>
          </a:bodyPr>
          <a:lstStyle/>
          <a:p>
            <a:pPr/>
            <a:r>
              <a:rPr lang="en-US" sz="1867" b="true">
                <a:solidFill>
                  <a:schemeClr val="bg1">
                    <a:alpha val="100000"/>
                  </a:schemeClr>
                </a:solidFill>
                <a:latin typeface="PingFang SC"/>
                <a:ea typeface="PingFang SC"/>
              </a:rPr>
              <a:t>binbinzhu(</a:t>
            </a:r>
            <a:r>
              <a:rPr lang="zh-CN" sz="1867" b="true">
                <a:solidFill>
                  <a:schemeClr val="bg1">
                    <a:alpha val="100000"/>
                  </a:schemeClr>
                </a:solidFill>
                <a:latin typeface="PingFang SC"/>
                <a:ea typeface="PingFang SC"/>
              </a:rPr>
              <a:t>朱彬彬</a:t>
            </a:r>
            <a:r>
              <a:rPr lang="en-US" sz="1867" b="true">
                <a:solidFill>
                  <a:schemeClr val="bg1">
                    <a:alpha val="100000"/>
                  </a:schemeClr>
                </a:solidFill>
                <a:latin typeface="PingFang SC"/>
                <a:ea typeface="PingFang SC"/>
              </a:rPr>
              <a:t>) | 2025/12/13
</a:t>
            </a:r>
            <a:r>
              <a:rPr lang="zh-CN" sz="1333" b="true">
                <a:solidFill>
                  <a:schemeClr val="bg1">
                    <a:alpha val="100000"/>
                  </a:schemeClr>
                </a:solidFill>
                <a:latin typeface="PingFang SC"/>
                <a:ea typeface="PingFang SC"/>
              </a:rPr>
              <a:t>腾讯云研发，</a:t>
            </a:r>
            <a:r>
              <a:rPr lang="en-US" sz="1333" b="true">
                <a:solidFill>
                  <a:schemeClr val="bg1">
                    <a:alpha val="100000"/>
                  </a:schemeClr>
                </a:solidFill>
                <a:latin typeface="PingFang SC"/>
                <a:ea typeface="PingFang SC"/>
              </a:rPr>
              <a:t>Valkey TSC Member</a:t>
            </a:r>
            <a:endParaRPr>
              <a:latin typeface="PingFang SC"/>
              <a:ea typeface="PingFang SC"/>
            </a:endParaRPr>
          </a:p>
        </p:txBody>
      </p:sp>
      <p:pic>
        <p:nvPicPr>
          <p:cNvPr id="218" name="Picture 4" descr="Keyspace Beijing 北京"/>
          <p:cNvPicPr>
            <a:picLocks noChangeAspect="true" noChangeArrowheads="true"/>
          </p:cNvPicPr>
          <p:nvPr/>
        </p:nvPicPr>
        <p:blipFill>
          <a:blip r:embed="rId5">
            <a:extLst>
              <a:ext uri="{28A0092B-C50C-407E-A947-70E740481C1C}"/>
            </a:extLst>
          </a:blip>
          <a:srcRect/>
          <a:stretch>
            <a:fillRect/>
          </a:stretch>
        </p:blipFill>
        <p:spPr bwMode="auto">
          <a:xfrm>
            <a:off x="567343" y="733027"/>
            <a:ext cx="4114800" cy="705394"/>
          </a:xfrm>
          <a:prstGeom prst="rect">
            <a:avLst/>
          </a:prstGeom>
          <a:noFill/>
          <a:extLst>
            <a:ext uri="{909E8E84-426E-40DD-AFC4-6F175D3DCCD1}"/>
          </a:extLst>
        </p:spPr>
      </p:pic>
      <p:sp>
        <p:nvSpPr>
          <p:cNvPr id="219" name="TextBox 25"/>
          <p:cNvSpPr txBox="true"/>
          <p:nvPr/>
        </p:nvSpPr>
        <p:spPr>
          <a:xfrm>
            <a:off x="549055" y="6483540"/>
            <a:ext cx="6096000" cy="222250"/>
          </a:xfrm>
          <a:prstGeom prst="rect">
            <a:avLst/>
          </a:prstGeom>
          <a:noFill/>
        </p:spPr>
        <p:txBody>
          <a:bodyPr wrap="none" rtlCol="false">
            <a:spAutoFit/>
          </a:bodyPr>
          <a:lstStyle/>
          <a:p>
            <a:pPr/>
            <a:r>
              <a:rPr sz="667" i="true">
                <a:solidFill>
                  <a:schemeClr val="bg1">
                    <a:alpha val="100000"/>
                  </a:schemeClr>
                </a:solidFill>
                <a:latin typeface="PingFang SC"/>
                <a:ea typeface="PingFang SC"/>
                <a:cs typeface="Futura Medium"/>
              </a:rPr>
              <a:t>Background The Horsehead Nebula and its surroundings. The reflection nebula NGC 2023 in the bottom left corner. / </a:t>
            </a:r>
            <a:r>
              <a:rPr sz="667" i="true">
                <a:solidFill>
                  <a:schemeClr val="bg1">
                    <a:alpha val="100000"/>
                  </a:schemeClr>
                </a:solidFill>
                <a:latin typeface="PingFang SC"/>
                <a:ea typeface="PingFang SC"/>
                <a:cs typeface="Futura Medium"/>
              </a:rPr>
              <a:t>Stephanh</a:t>
            </a:r>
            <a:r>
              <a:rPr sz="667" i="true">
                <a:solidFill>
                  <a:schemeClr val="bg1">
                    <a:alpha val="100000"/>
                  </a:schemeClr>
                </a:solidFill>
                <a:latin typeface="PingFang SC"/>
                <a:ea typeface="PingFang SC"/>
                <a:cs typeface="Futura Medium"/>
              </a:rPr>
              <a:t> / License: CC BY 4.0</a:t>
            </a:r>
            <a:endParaRPr>
              <a:latin typeface="PingFang SC"/>
              <a:ea typeface="PingFang SC"/>
            </a:endParaRPr>
          </a:p>
        </p:txBody>
      </p:sp>
    </p:spTree>
  </p:cSld>
  <p:clrMapOvr>
    <a:masterClrMapping/>
  </p:clrMapOvr>
</p:sld>
</file>

<file path=ppt/theme/theme1.xml><?xml version="1.0" encoding="utf-8"?>
<a:theme xmlns:a="http://schemas.openxmlformats.org/drawingml/2006/main" name="Office 默认主题​">
  <a:themeElements>
    <a:clrScheme name="Tencent">
      <a:dk1>
        <a:srgbClr val="000000"/>
      </a:dk1>
      <a:lt1>
        <a:srgbClr val="FFFFFF"/>
      </a:lt1>
      <a:dk2>
        <a:srgbClr val="485368"/>
      </a:dk2>
      <a:lt2>
        <a:srgbClr val="2972F4"/>
      </a:lt2>
      <a:accent1>
        <a:srgbClr val="00A3F5"/>
      </a:accent1>
      <a:accent2>
        <a:srgbClr val="319B62"/>
      </a:accent2>
      <a:accent3>
        <a:srgbClr val="DE3C36"/>
      </a:accent3>
      <a:accent4>
        <a:srgbClr val="F88825"/>
      </a:accent4>
      <a:accent5>
        <a:srgbClr val="F5C400"/>
      </a:accent5>
      <a:accent6>
        <a:srgbClr val="9A38D7"/>
      </a:accent6>
      <a:hlink>
        <a:srgbClr val="175CEB"/>
      </a:hlink>
      <a:folHlink>
        <a:srgbClr val="81868F"/>
      </a:folHlink>
    </a:clrScheme>
    <a:fontScheme name="Office">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true">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false"/>
        </a:gradFill>
        <a:gradFill rotWithShape="true">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false"/>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false">
              <a:srgbClr val="000000">
                <a:alpha val="63000"/>
              </a:srgbClr>
            </a:outerShdw>
          </a:effectLst>
        </a:effectStyle>
      </a:effectStyleLst>
      <a:bgFillStyleLst>
        <a:solidFill>
          <a:schemeClr val="phClr"/>
        </a:solidFill>
        <a:solidFill>
          <a:schemeClr val="phClr">
            <a:tint val="95000"/>
            <a:satMod val="170000"/>
          </a:schemeClr>
        </a:solidFill>
        <a:gradFill rotWithShape="true">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false"/>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true">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false"/>
        </a:gradFill>
        <a:gradFill rotWithShape="true">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false"/>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false">
              <a:srgbClr val="000000">
                <a:alpha val="63000"/>
              </a:srgbClr>
            </a:outerShdw>
          </a:effectLst>
        </a:effectStyle>
      </a:effectStyleLst>
      <a:bgFillStyleLst>
        <a:solidFill>
          <a:schemeClr val="phClr"/>
        </a:solidFill>
        <a:solidFill>
          <a:schemeClr val="phClr">
            <a:tint val="95000"/>
            <a:satMod val="170000"/>
          </a:schemeClr>
        </a:solidFill>
        <a:gradFill rotWithShape="true">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false"/>
        </a:gradFill>
      </a:bgFillStyleLst>
    </a:fmtScheme>
  </a:themeElements>
</a:theme>
</file>

<file path=ppt/theme/theme3.xml><?xml version="1.0" encoding="utf-8"?>
<a:theme xmlns:thm15="http://schemas.microsoft.com/office/thememl/2012/main" xmlns:a="http://schemas.openxmlformats.org/drawingml/2006/main" xmlns:mc="http://schemas.openxmlformats.org/markup-compatibility/2006" name="Office 主题​​" mc:Ignorable="thm15">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明朝"/>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true">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false"/>
        </a:gradFill>
        <a:gradFill rotWithShape="true">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false"/>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false">
              <a:srgbClr val="000000">
                <a:alpha val="63000"/>
              </a:srgbClr>
            </a:outerShdw>
          </a:effectLst>
        </a:effectStyle>
      </a:effectStyleLst>
      <a:bgFillStyleLst>
        <a:solidFill>
          <a:schemeClr val="phClr"/>
        </a:solidFill>
        <a:solidFill>
          <a:schemeClr val="phClr">
            <a:tint val="95000"/>
            <a:satMod val="170000"/>
          </a:schemeClr>
        </a:solidFill>
        <a:gradFill rotWithShape="true">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false"/>
        </a:gradFill>
      </a:bgFillStyleLst>
    </a:fmtScheme>
  </a:themeElements>
  <a:objectDefaults/>
  <a:extraClrSchemeLst/>
  <a:extLst>
    <a:ext uri="{05A4C25C-085E-4340-85A3-A5531E510DB2}">
      <thm15:themeFamily name="Office Theme" id="{62F939B6-93AF-4DB8-9C6B-D6C7DFDC589F}" vid="{4A3C46E8-61CC-4603-A589-7422A47A8E4A}"/>
    </a:ext>
  </a:extLst>
</a:theme>
</file>

<file path=docProps/app.xml><?xml version="1.0" encoding="utf-8"?>
<Properties xmlns:vt="http://schemas.openxmlformats.org/officeDocument/2006/docPropsVTypes" xmlns="http://schemas.openxmlformats.org/officeDocument/2006/extended-properties">
  <Application>Tencent office</Application>
</Properties>
</file>

<file path=docProps/core.xml><?xml version="1.0" encoding="utf-8"?>
<cp:coreProperties xmlns:xsi="http://www.w3.org/2001/XMLSchema-instance" xmlns:dcmitype="http://purl.org/dc/dcmitype/" xmlns:dcterms="http://purl.org/dc/terms/" xmlns:cp="http://schemas.openxmlformats.org/package/2006/metadata/core-properties" xmlns:dc="http://purl.org/dc/elements/1.1/">
  <dcterms:created xsi:type="dcterms:W3CDTF">2025-12-12T17:15:19Z</dcterms:created>
  <dcterms:modified xsi:type="dcterms:W3CDTF">2025-12-12T17:15:19Z</dcterms:modified>
</cp:coreProperties>
</file>